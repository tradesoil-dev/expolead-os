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7857"/>
    <a:srgbClr val="10B9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500"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271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ExpoLead is not a CRM competitor. It sits alongside whatever CRM the prospect already runs (Salesforce, HubSpot, Zoho, Bigin, Pipedrive, Odoo) and owns only the exhibition layer.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ExpoLead spans Before / During / After. The CRM is the long-term system for Ongoing Sales. They overlap deliberately at After (opportunities and follow-up). No hard wall.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of work is different. A CRM organises around the contact and the deal. ExpoLead organises around the exhibition and everything it generates. It is the operational workspace around the show, not another contact database.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red X vs green tick. A CRM can be configured to do most rows. The differentiation is purpose-built design. Understanding exhibition outcomes is flagged as product direction, not a shipped feature.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is not the CRM. It is business cards, WhatsApp, notebooks, photos, spreadsheets and memory scattered across the team. ExpoLead consolidates the exhibition layer into one structured workspace.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direction is exhibition intelligence: management can read the performance of each show and, over time, decide which exhibitions deserve future investment. Over-time and outcome views are flagged as product direction.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reassurance: no rip-and-replace. ExpoLead owns only the exhibition layer and complements any CRM. Use the three discovery questions to open the conversation without telling the prospect their CRM is inadequate.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02920" y="457200"/>
            <a:ext cx="100584" cy="100584"/>
          </a:xfrm>
          <a:prstGeom prst="roundRect">
            <a:avLst>
              <a:gd name="adj" fmla="val 18182"/>
            </a:avLst>
          </a:prstGeom>
          <a:solidFill>
            <a:srgbClr val="0F172A"/>
          </a:solidFill>
          <a:ln w="16510">
            <a:solidFill>
              <a:srgbClr val="FFFFFF"/>
            </a:solidFill>
            <a:prstDash val="solid"/>
          </a:ln>
        </p:spPr>
        <p:txBody>
          <a:bodyPr/>
          <a:lstStyle/>
          <a:p>
            <a:endParaRPr lang="en-US"/>
          </a:p>
        </p:txBody>
      </p:sp>
      <p:sp>
        <p:nvSpPr>
          <p:cNvPr id="3" name="Shape 1"/>
          <p:cNvSpPr/>
          <p:nvPr/>
        </p:nvSpPr>
        <p:spPr>
          <a:xfrm>
            <a:off x="644652" y="457200"/>
            <a:ext cx="100584" cy="100584"/>
          </a:xfrm>
          <a:prstGeom prst="roundRect">
            <a:avLst>
              <a:gd name="adj" fmla="val 18182"/>
            </a:avLst>
          </a:prstGeom>
          <a:solidFill>
            <a:srgbClr val="0F172A"/>
          </a:solidFill>
          <a:ln w="16510">
            <a:solidFill>
              <a:srgbClr val="FFFFFF"/>
            </a:solidFill>
            <a:prstDash val="solid"/>
          </a:ln>
        </p:spPr>
        <p:txBody>
          <a:bodyPr/>
          <a:lstStyle/>
          <a:p>
            <a:endParaRPr lang="en-US"/>
          </a:p>
        </p:txBody>
      </p:sp>
      <p:sp>
        <p:nvSpPr>
          <p:cNvPr id="4" name="Shape 2"/>
          <p:cNvSpPr/>
          <p:nvPr/>
        </p:nvSpPr>
        <p:spPr>
          <a:xfrm>
            <a:off x="502920" y="598932"/>
            <a:ext cx="100584" cy="100584"/>
          </a:xfrm>
          <a:prstGeom prst="roundRect">
            <a:avLst>
              <a:gd name="adj" fmla="val 18182"/>
            </a:avLst>
          </a:prstGeom>
          <a:solidFill>
            <a:srgbClr val="0F172A"/>
          </a:solidFill>
          <a:ln w="16510">
            <a:solidFill>
              <a:srgbClr val="FFFFFF"/>
            </a:solidFill>
            <a:prstDash val="solid"/>
          </a:ln>
        </p:spPr>
        <p:txBody>
          <a:bodyPr/>
          <a:lstStyle/>
          <a:p>
            <a:endParaRPr lang="en-US"/>
          </a:p>
        </p:txBody>
      </p:sp>
      <p:sp>
        <p:nvSpPr>
          <p:cNvPr id="5" name="Shape 3"/>
          <p:cNvSpPr/>
          <p:nvPr/>
        </p:nvSpPr>
        <p:spPr>
          <a:xfrm>
            <a:off x="644652" y="598932"/>
            <a:ext cx="100584" cy="100584"/>
          </a:xfrm>
          <a:prstGeom prst="roundRect">
            <a:avLst>
              <a:gd name="adj" fmla="val 18182"/>
            </a:avLst>
          </a:prstGeom>
          <a:solidFill>
            <a:srgbClr val="10B981"/>
          </a:solidFill>
          <a:ln w="16510">
            <a:solidFill>
              <a:srgbClr val="10B981"/>
            </a:solidFill>
            <a:prstDash val="solid"/>
          </a:ln>
        </p:spPr>
        <p:txBody>
          <a:bodyPr/>
          <a:lstStyle/>
          <a:p>
            <a:endParaRPr lang="en-US"/>
          </a:p>
        </p:txBody>
      </p:sp>
      <p:sp>
        <p:nvSpPr>
          <p:cNvPr id="6" name="Text 4"/>
          <p:cNvSpPr/>
          <p:nvPr/>
        </p:nvSpPr>
        <p:spPr>
          <a:xfrm>
            <a:off x="886968" y="411480"/>
            <a:ext cx="2011680" cy="329184"/>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Expo</a:t>
            </a:r>
            <a:r>
              <a:rPr lang="en-US" sz="1500" b="1" dirty="0">
                <a:solidFill>
                  <a:srgbClr val="10B981"/>
                </a:solidFill>
                <a:latin typeface="Calibri" pitchFamily="34" charset="0"/>
                <a:ea typeface="Calibri" pitchFamily="34" charset="-122"/>
                <a:cs typeface="Calibri" pitchFamily="34" charset="-120"/>
              </a:rPr>
              <a:t>Lead</a:t>
            </a: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6156655" y="457200"/>
            <a:ext cx="5532120" cy="274320"/>
          </a:xfrm>
          <a:prstGeom prst="rect">
            <a:avLst/>
          </a:prstGeom>
          <a:noFill/>
          <a:ln/>
        </p:spPr>
        <p:txBody>
          <a:bodyPr wrap="square" lIns="0" tIns="0" rIns="0" bIns="0" rtlCol="0" anchor="ctr"/>
          <a:lstStyle/>
          <a:p>
            <a:pPr marL="0" indent="0" algn="r">
              <a:buNone/>
            </a:pPr>
            <a:r>
              <a:rPr lang="en-US" sz="1100" b="1" kern="0" spc="150" dirty="0">
                <a:solidFill>
                  <a:srgbClr val="94A3B8"/>
                </a:solidFill>
                <a:latin typeface="Calibri" pitchFamily="34" charset="0"/>
                <a:ea typeface="Calibri" pitchFamily="34" charset="-122"/>
                <a:cs typeface="Calibri" pitchFamily="34" charset="-120"/>
              </a:rPr>
              <a:t>POSITIONING  ·  FOR TEAMS WHO ALREADY USE A CRM</a:t>
            </a:r>
            <a:endParaRPr lang="en-US" sz="1100" dirty="0"/>
          </a:p>
        </p:txBody>
      </p:sp>
      <p:sp>
        <p:nvSpPr>
          <p:cNvPr id="8" name="Text 6"/>
          <p:cNvSpPr/>
          <p:nvPr/>
        </p:nvSpPr>
        <p:spPr>
          <a:xfrm>
            <a:off x="502920" y="1874520"/>
            <a:ext cx="8229600" cy="274320"/>
          </a:xfrm>
          <a:prstGeom prst="rect">
            <a:avLst/>
          </a:prstGeom>
          <a:noFill/>
          <a:ln/>
        </p:spPr>
        <p:txBody>
          <a:bodyPr wrap="square" lIns="0" tIns="0" rIns="0" bIns="0" rtlCol="0" anchor="ctr"/>
          <a:lstStyle/>
          <a:p>
            <a:pPr marL="0" indent="0" algn="l">
              <a:buNone/>
            </a:pPr>
            <a:r>
              <a:rPr lang="en-US" sz="1100" b="1" kern="0" spc="220" dirty="0">
                <a:solidFill>
                  <a:srgbClr val="34D399"/>
                </a:solidFill>
                <a:latin typeface="Calibri" pitchFamily="34" charset="0"/>
                <a:ea typeface="Calibri" pitchFamily="34" charset="-122"/>
                <a:cs typeface="Calibri" pitchFamily="34" charset="-120"/>
              </a:rPr>
              <a:t>TWO SYSTEMS. TWO DIFFERENT JOBS.</a:t>
            </a:r>
            <a:endParaRPr lang="en-US" sz="1100" dirty="0"/>
          </a:p>
        </p:txBody>
      </p:sp>
      <p:sp>
        <p:nvSpPr>
          <p:cNvPr id="9" name="Text 7"/>
          <p:cNvSpPr/>
          <p:nvPr/>
        </p:nvSpPr>
        <p:spPr>
          <a:xfrm>
            <a:off x="502920" y="2194560"/>
            <a:ext cx="10607040" cy="1737360"/>
          </a:xfrm>
          <a:prstGeom prst="rect">
            <a:avLst/>
          </a:prstGeom>
          <a:noFill/>
          <a:ln/>
        </p:spPr>
        <p:txBody>
          <a:bodyPr wrap="square" lIns="0" tIns="0" rIns="0" bIns="0" rtlCol="0" anchor="t"/>
          <a:lstStyle/>
          <a:p>
            <a:pPr marL="0" indent="0" algn="l">
              <a:lnSpc>
                <a:spcPct val="102000"/>
              </a:lnSpc>
              <a:buNone/>
            </a:pPr>
            <a:r>
              <a:rPr lang="en-US" sz="4000" b="1" dirty="0">
                <a:solidFill>
                  <a:srgbClr val="FFFFFF"/>
                </a:solidFill>
                <a:latin typeface="Calibri" pitchFamily="34" charset="0"/>
                <a:ea typeface="Calibri" pitchFamily="34" charset="-122"/>
                <a:cs typeface="Calibri" pitchFamily="34" charset="-120"/>
              </a:rPr>
              <a:t>Your CRM manages the relationship.</a:t>
            </a:r>
            <a:endParaRPr lang="en-US" sz="4000" dirty="0"/>
          </a:p>
          <a:p>
            <a:pPr marL="0" indent="0" algn="l">
              <a:lnSpc>
                <a:spcPct val="102000"/>
              </a:lnSpc>
              <a:buNone/>
            </a:pPr>
            <a:r>
              <a:rPr lang="en-US" sz="4000" b="1" dirty="0">
                <a:solidFill>
                  <a:srgbClr val="34D399"/>
                </a:solidFill>
                <a:latin typeface="Calibri" pitchFamily="34" charset="0"/>
                <a:ea typeface="Calibri" pitchFamily="34" charset="-122"/>
                <a:cs typeface="Calibri" pitchFamily="34" charset="-120"/>
              </a:rPr>
              <a:t>ExpoLead manages the exhibition journey.</a:t>
            </a:r>
            <a:endParaRPr lang="en-US" sz="4000" dirty="0"/>
          </a:p>
        </p:txBody>
      </p:sp>
      <p:sp>
        <p:nvSpPr>
          <p:cNvPr id="10" name="Text 8"/>
          <p:cNvSpPr/>
          <p:nvPr/>
        </p:nvSpPr>
        <p:spPr>
          <a:xfrm>
            <a:off x="502920" y="3977640"/>
            <a:ext cx="8778240" cy="822960"/>
          </a:xfrm>
          <a:prstGeom prst="rect">
            <a:avLst/>
          </a:prstGeom>
          <a:noFill/>
          <a:ln/>
        </p:spPr>
        <p:txBody>
          <a:bodyPr wrap="square" lIns="0" tIns="0" rIns="0" bIns="0" rtlCol="0" anchor="t"/>
          <a:lstStyle/>
          <a:p>
            <a:pPr marL="0" indent="0" algn="l">
              <a:lnSpc>
                <a:spcPct val="115000"/>
              </a:lnSpc>
              <a:buNone/>
            </a:pPr>
            <a:r>
              <a:rPr lang="en-US" sz="1500" dirty="0">
                <a:solidFill>
                  <a:srgbClr val="CBD5E1"/>
                </a:solidFill>
                <a:latin typeface="Calibri" pitchFamily="34" charset="0"/>
                <a:ea typeface="Calibri" pitchFamily="34" charset="-122"/>
                <a:cs typeface="Calibri" pitchFamily="34" charset="-120"/>
              </a:rPr>
              <a:t>ExpoLead does not replace your CRM. It gives your exhibition team a purpose-built workspace for the part of the commercial journey that happens before, during and immediately after the show.</a:t>
            </a:r>
            <a:endParaRPr lang="en-US" sz="1500" dirty="0"/>
          </a:p>
        </p:txBody>
      </p:sp>
      <p:sp>
        <p:nvSpPr>
          <p:cNvPr id="11" name="Text 9"/>
          <p:cNvSpPr/>
          <p:nvPr/>
        </p:nvSpPr>
        <p:spPr>
          <a:xfrm>
            <a:off x="502920" y="5257800"/>
            <a:ext cx="8229600" cy="256032"/>
          </a:xfrm>
          <a:prstGeom prst="rect">
            <a:avLst/>
          </a:prstGeom>
          <a:noFill/>
          <a:ln/>
        </p:spPr>
        <p:txBody>
          <a:bodyPr wrap="square" lIns="0" tIns="0" rIns="0" bIns="0" rtlCol="0" anchor="ctr"/>
          <a:lstStyle/>
          <a:p>
            <a:pPr marL="0" indent="0" algn="l">
              <a:buNone/>
            </a:pPr>
            <a:r>
              <a:rPr lang="en-US" sz="1050" b="1" kern="0" spc="150" dirty="0">
                <a:solidFill>
                  <a:srgbClr val="34D399"/>
                </a:solidFill>
                <a:latin typeface="Calibri" pitchFamily="34" charset="0"/>
                <a:ea typeface="Calibri" pitchFamily="34" charset="-122"/>
                <a:cs typeface="Calibri" pitchFamily="34" charset="-120"/>
              </a:rPr>
              <a:t>WORKS ALONGSIDE THE CRM YOU ALREADY USE</a:t>
            </a:r>
            <a:endParaRPr lang="en-US" sz="1050" dirty="0"/>
          </a:p>
        </p:txBody>
      </p:sp>
      <p:sp>
        <p:nvSpPr>
          <p:cNvPr id="12" name="Shape 10"/>
          <p:cNvSpPr/>
          <p:nvPr/>
        </p:nvSpPr>
        <p:spPr>
          <a:xfrm>
            <a:off x="502920" y="5577840"/>
            <a:ext cx="1197864" cy="384048"/>
          </a:xfrm>
          <a:prstGeom prst="roundRect">
            <a:avLst>
              <a:gd name="adj" fmla="val 23810"/>
            </a:avLst>
          </a:prstGeom>
          <a:solidFill>
            <a:srgbClr val="1E293B"/>
          </a:solidFill>
          <a:ln w="12700">
            <a:solidFill>
              <a:srgbClr val="334155"/>
            </a:solidFill>
            <a:prstDash val="solid"/>
          </a:ln>
        </p:spPr>
        <p:txBody>
          <a:bodyPr/>
          <a:lstStyle/>
          <a:p>
            <a:endParaRPr lang="en-US"/>
          </a:p>
        </p:txBody>
      </p:sp>
      <p:sp>
        <p:nvSpPr>
          <p:cNvPr id="13" name="Text 11"/>
          <p:cNvSpPr/>
          <p:nvPr/>
        </p:nvSpPr>
        <p:spPr>
          <a:xfrm>
            <a:off x="502920" y="5577840"/>
            <a:ext cx="1197864" cy="384048"/>
          </a:xfrm>
          <a:prstGeom prst="rect">
            <a:avLst/>
          </a:prstGeom>
          <a:noFill/>
          <a:ln/>
        </p:spPr>
        <p:txBody>
          <a:bodyPr wrap="square" lIns="0" tIns="0" rIns="0" bIns="0" rtlCol="0" anchor="ctr"/>
          <a:lstStyle/>
          <a:p>
            <a:pPr marL="0" indent="0" algn="ctr">
              <a:buNone/>
            </a:pPr>
            <a:r>
              <a:rPr lang="en-US" sz="1200" b="1" dirty="0">
                <a:solidFill>
                  <a:srgbClr val="CBD5E1"/>
                </a:solidFill>
                <a:latin typeface="Calibri" pitchFamily="34" charset="0"/>
                <a:ea typeface="Calibri" pitchFamily="34" charset="-122"/>
                <a:cs typeface="Calibri" pitchFamily="34" charset="-120"/>
              </a:rPr>
              <a:t>Salesforce</a:t>
            </a:r>
            <a:endParaRPr lang="en-US" sz="1200" dirty="0"/>
          </a:p>
        </p:txBody>
      </p:sp>
      <p:sp>
        <p:nvSpPr>
          <p:cNvPr id="14" name="Shape 12"/>
          <p:cNvSpPr/>
          <p:nvPr/>
        </p:nvSpPr>
        <p:spPr>
          <a:xfrm>
            <a:off x="1847088" y="5577840"/>
            <a:ext cx="937260" cy="384048"/>
          </a:xfrm>
          <a:prstGeom prst="roundRect">
            <a:avLst>
              <a:gd name="adj" fmla="val 23810"/>
            </a:avLst>
          </a:prstGeom>
          <a:solidFill>
            <a:srgbClr val="1E293B"/>
          </a:solidFill>
          <a:ln w="12700">
            <a:solidFill>
              <a:srgbClr val="334155"/>
            </a:solidFill>
            <a:prstDash val="solid"/>
          </a:ln>
        </p:spPr>
        <p:txBody>
          <a:bodyPr/>
          <a:lstStyle/>
          <a:p>
            <a:endParaRPr lang="en-US"/>
          </a:p>
        </p:txBody>
      </p:sp>
      <p:sp>
        <p:nvSpPr>
          <p:cNvPr id="15" name="Text 13"/>
          <p:cNvSpPr/>
          <p:nvPr/>
        </p:nvSpPr>
        <p:spPr>
          <a:xfrm>
            <a:off x="1847088" y="5577840"/>
            <a:ext cx="937260" cy="384048"/>
          </a:xfrm>
          <a:prstGeom prst="rect">
            <a:avLst/>
          </a:prstGeom>
          <a:noFill/>
          <a:ln/>
        </p:spPr>
        <p:txBody>
          <a:bodyPr wrap="square" lIns="0" tIns="0" rIns="0" bIns="0" rtlCol="0" anchor="ctr"/>
          <a:lstStyle/>
          <a:p>
            <a:pPr marL="0" indent="0" algn="ctr">
              <a:buNone/>
            </a:pPr>
            <a:r>
              <a:rPr lang="en-US" sz="1200" b="1" dirty="0">
                <a:solidFill>
                  <a:srgbClr val="CBD5E1"/>
                </a:solidFill>
                <a:latin typeface="Calibri" pitchFamily="34" charset="0"/>
                <a:ea typeface="Calibri" pitchFamily="34" charset="-122"/>
                <a:cs typeface="Calibri" pitchFamily="34" charset="-120"/>
              </a:rPr>
              <a:t>HubSpot</a:t>
            </a:r>
            <a:endParaRPr lang="en-US" sz="1200" dirty="0"/>
          </a:p>
        </p:txBody>
      </p:sp>
      <p:sp>
        <p:nvSpPr>
          <p:cNvPr id="16" name="Shape 14"/>
          <p:cNvSpPr/>
          <p:nvPr/>
        </p:nvSpPr>
        <p:spPr>
          <a:xfrm>
            <a:off x="2930652" y="5577840"/>
            <a:ext cx="1024128" cy="384048"/>
          </a:xfrm>
          <a:prstGeom prst="roundRect">
            <a:avLst>
              <a:gd name="adj" fmla="val 23810"/>
            </a:avLst>
          </a:prstGeom>
          <a:solidFill>
            <a:srgbClr val="1E293B"/>
          </a:solidFill>
          <a:ln w="12700">
            <a:solidFill>
              <a:srgbClr val="334155"/>
            </a:solidFill>
            <a:prstDash val="solid"/>
          </a:ln>
        </p:spPr>
        <p:txBody>
          <a:bodyPr/>
          <a:lstStyle/>
          <a:p>
            <a:endParaRPr lang="en-US"/>
          </a:p>
        </p:txBody>
      </p:sp>
      <p:sp>
        <p:nvSpPr>
          <p:cNvPr id="17" name="Text 15"/>
          <p:cNvSpPr/>
          <p:nvPr/>
        </p:nvSpPr>
        <p:spPr>
          <a:xfrm>
            <a:off x="2930652" y="5577840"/>
            <a:ext cx="1024128" cy="384048"/>
          </a:xfrm>
          <a:prstGeom prst="rect">
            <a:avLst/>
          </a:prstGeom>
          <a:noFill/>
          <a:ln/>
        </p:spPr>
        <p:txBody>
          <a:bodyPr wrap="square" lIns="0" tIns="0" rIns="0" bIns="0" rtlCol="0" anchor="ctr"/>
          <a:lstStyle/>
          <a:p>
            <a:pPr marL="0" indent="0" algn="ctr">
              <a:buNone/>
            </a:pPr>
            <a:r>
              <a:rPr lang="en-US" sz="1200" b="1" dirty="0">
                <a:solidFill>
                  <a:srgbClr val="CBD5E1"/>
                </a:solidFill>
                <a:latin typeface="Calibri" pitchFamily="34" charset="0"/>
                <a:ea typeface="Calibri" pitchFamily="34" charset="-122"/>
                <a:cs typeface="Calibri" pitchFamily="34" charset="-120"/>
              </a:rPr>
              <a:t>Zoho CRM</a:t>
            </a:r>
            <a:endParaRPr lang="en-US" sz="1200" dirty="0"/>
          </a:p>
        </p:txBody>
      </p:sp>
      <p:sp>
        <p:nvSpPr>
          <p:cNvPr id="18" name="Shape 16"/>
          <p:cNvSpPr/>
          <p:nvPr/>
        </p:nvSpPr>
        <p:spPr>
          <a:xfrm>
            <a:off x="4101084" y="5577840"/>
            <a:ext cx="763524" cy="384048"/>
          </a:xfrm>
          <a:prstGeom prst="roundRect">
            <a:avLst>
              <a:gd name="adj" fmla="val 23810"/>
            </a:avLst>
          </a:prstGeom>
          <a:solidFill>
            <a:srgbClr val="1E293B"/>
          </a:solidFill>
          <a:ln w="12700">
            <a:solidFill>
              <a:srgbClr val="334155"/>
            </a:solidFill>
            <a:prstDash val="solid"/>
          </a:ln>
        </p:spPr>
        <p:txBody>
          <a:bodyPr/>
          <a:lstStyle/>
          <a:p>
            <a:endParaRPr lang="en-US"/>
          </a:p>
        </p:txBody>
      </p:sp>
      <p:sp>
        <p:nvSpPr>
          <p:cNvPr id="19" name="Text 17"/>
          <p:cNvSpPr/>
          <p:nvPr/>
        </p:nvSpPr>
        <p:spPr>
          <a:xfrm>
            <a:off x="4101084" y="5577840"/>
            <a:ext cx="763524" cy="384048"/>
          </a:xfrm>
          <a:prstGeom prst="rect">
            <a:avLst/>
          </a:prstGeom>
          <a:noFill/>
          <a:ln/>
        </p:spPr>
        <p:txBody>
          <a:bodyPr wrap="square" lIns="0" tIns="0" rIns="0" bIns="0" rtlCol="0" anchor="ctr"/>
          <a:lstStyle/>
          <a:p>
            <a:pPr marL="0" indent="0" algn="ctr">
              <a:buNone/>
            </a:pPr>
            <a:r>
              <a:rPr lang="en-US" sz="1200" b="1" dirty="0">
                <a:solidFill>
                  <a:srgbClr val="CBD5E1"/>
                </a:solidFill>
                <a:latin typeface="Calibri" pitchFamily="34" charset="0"/>
                <a:ea typeface="Calibri" pitchFamily="34" charset="-122"/>
                <a:cs typeface="Calibri" pitchFamily="34" charset="-120"/>
              </a:rPr>
              <a:t>Bigin</a:t>
            </a:r>
            <a:endParaRPr lang="en-US" sz="1200" dirty="0"/>
          </a:p>
        </p:txBody>
      </p:sp>
      <p:sp>
        <p:nvSpPr>
          <p:cNvPr id="20" name="Shape 18"/>
          <p:cNvSpPr/>
          <p:nvPr/>
        </p:nvSpPr>
        <p:spPr>
          <a:xfrm>
            <a:off x="5010912" y="5577840"/>
            <a:ext cx="1110996" cy="384048"/>
          </a:xfrm>
          <a:prstGeom prst="roundRect">
            <a:avLst>
              <a:gd name="adj" fmla="val 23810"/>
            </a:avLst>
          </a:prstGeom>
          <a:solidFill>
            <a:srgbClr val="1E293B"/>
          </a:solidFill>
          <a:ln w="12700">
            <a:solidFill>
              <a:srgbClr val="334155"/>
            </a:solidFill>
            <a:prstDash val="solid"/>
          </a:ln>
        </p:spPr>
        <p:txBody>
          <a:bodyPr/>
          <a:lstStyle/>
          <a:p>
            <a:endParaRPr lang="en-US"/>
          </a:p>
        </p:txBody>
      </p:sp>
      <p:sp>
        <p:nvSpPr>
          <p:cNvPr id="21" name="Text 19"/>
          <p:cNvSpPr/>
          <p:nvPr/>
        </p:nvSpPr>
        <p:spPr>
          <a:xfrm>
            <a:off x="5010912" y="5577840"/>
            <a:ext cx="1110996" cy="384048"/>
          </a:xfrm>
          <a:prstGeom prst="rect">
            <a:avLst/>
          </a:prstGeom>
          <a:noFill/>
          <a:ln/>
        </p:spPr>
        <p:txBody>
          <a:bodyPr wrap="square" lIns="0" tIns="0" rIns="0" bIns="0" rtlCol="0" anchor="ctr"/>
          <a:lstStyle/>
          <a:p>
            <a:pPr marL="0" indent="0" algn="ctr">
              <a:buNone/>
            </a:pPr>
            <a:r>
              <a:rPr lang="en-US" sz="1200" b="1" dirty="0">
                <a:solidFill>
                  <a:srgbClr val="CBD5E1"/>
                </a:solidFill>
                <a:latin typeface="Calibri" pitchFamily="34" charset="0"/>
                <a:ea typeface="Calibri" pitchFamily="34" charset="-122"/>
                <a:cs typeface="Calibri" pitchFamily="34" charset="-120"/>
              </a:rPr>
              <a:t>Pipedrive</a:t>
            </a:r>
            <a:endParaRPr lang="en-US" sz="1200" dirty="0"/>
          </a:p>
        </p:txBody>
      </p:sp>
      <p:sp>
        <p:nvSpPr>
          <p:cNvPr id="22" name="Shape 20"/>
          <p:cNvSpPr/>
          <p:nvPr/>
        </p:nvSpPr>
        <p:spPr>
          <a:xfrm>
            <a:off x="6268212" y="5577840"/>
            <a:ext cx="676656" cy="384048"/>
          </a:xfrm>
          <a:prstGeom prst="roundRect">
            <a:avLst>
              <a:gd name="adj" fmla="val 23810"/>
            </a:avLst>
          </a:prstGeom>
          <a:solidFill>
            <a:srgbClr val="1E293B"/>
          </a:solidFill>
          <a:ln w="12700">
            <a:solidFill>
              <a:srgbClr val="334155"/>
            </a:solidFill>
            <a:prstDash val="solid"/>
          </a:ln>
        </p:spPr>
        <p:txBody>
          <a:bodyPr/>
          <a:lstStyle/>
          <a:p>
            <a:endParaRPr lang="en-US"/>
          </a:p>
        </p:txBody>
      </p:sp>
      <p:sp>
        <p:nvSpPr>
          <p:cNvPr id="23" name="Text 21"/>
          <p:cNvSpPr/>
          <p:nvPr/>
        </p:nvSpPr>
        <p:spPr>
          <a:xfrm>
            <a:off x="6268212" y="5577840"/>
            <a:ext cx="676656" cy="384048"/>
          </a:xfrm>
          <a:prstGeom prst="rect">
            <a:avLst/>
          </a:prstGeom>
          <a:noFill/>
          <a:ln/>
        </p:spPr>
        <p:txBody>
          <a:bodyPr wrap="square" lIns="0" tIns="0" rIns="0" bIns="0" rtlCol="0" anchor="ctr"/>
          <a:lstStyle/>
          <a:p>
            <a:pPr marL="0" indent="0" algn="ctr">
              <a:buNone/>
            </a:pPr>
            <a:r>
              <a:rPr lang="en-US" sz="1200" b="1" dirty="0">
                <a:solidFill>
                  <a:srgbClr val="CBD5E1"/>
                </a:solidFill>
                <a:latin typeface="Calibri" pitchFamily="34" charset="0"/>
                <a:ea typeface="Calibri" pitchFamily="34" charset="-122"/>
                <a:cs typeface="Calibri" pitchFamily="34" charset="-120"/>
              </a:rPr>
              <a:t>Odoo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11480"/>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3" name="Shape 1"/>
          <p:cNvSpPr/>
          <p:nvPr/>
        </p:nvSpPr>
        <p:spPr>
          <a:xfrm>
            <a:off x="644652" y="411480"/>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4" name="Shape 2"/>
          <p:cNvSpPr/>
          <p:nvPr/>
        </p:nvSpPr>
        <p:spPr>
          <a:xfrm>
            <a:off x="502920" y="553212"/>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5" name="Shape 3"/>
          <p:cNvSpPr/>
          <p:nvPr/>
        </p:nvSpPr>
        <p:spPr>
          <a:xfrm>
            <a:off x="644652" y="553212"/>
            <a:ext cx="100584" cy="100584"/>
          </a:xfrm>
          <a:prstGeom prst="roundRect">
            <a:avLst>
              <a:gd name="adj" fmla="val 18182"/>
            </a:avLst>
          </a:prstGeom>
          <a:solidFill>
            <a:srgbClr val="10B981"/>
          </a:solidFill>
          <a:ln w="16510">
            <a:solidFill>
              <a:srgbClr val="10B981"/>
            </a:solidFill>
            <a:prstDash val="solid"/>
          </a:ln>
        </p:spPr>
        <p:txBody>
          <a:bodyPr/>
          <a:lstStyle/>
          <a:p>
            <a:endParaRPr lang="en-US"/>
          </a:p>
        </p:txBody>
      </p:sp>
      <p:sp>
        <p:nvSpPr>
          <p:cNvPr id="6" name="Text 4"/>
          <p:cNvSpPr/>
          <p:nvPr/>
        </p:nvSpPr>
        <p:spPr>
          <a:xfrm>
            <a:off x="886968" y="365760"/>
            <a:ext cx="2011680" cy="329184"/>
          </a:xfrm>
          <a:prstGeom prst="rect">
            <a:avLst/>
          </a:prstGeom>
          <a:noFill/>
          <a:ln/>
        </p:spPr>
        <p:txBody>
          <a:bodyPr wrap="square" lIns="0" tIns="0" rIns="0" bIns="0" rtlCol="0" anchor="ctr"/>
          <a:lstStyle/>
          <a:p>
            <a:pPr marL="0" indent="0" algn="l">
              <a:buNone/>
            </a:pPr>
            <a:r>
              <a:rPr lang="en-US" sz="1500" b="1" dirty="0">
                <a:solidFill>
                  <a:srgbClr val="0F172A"/>
                </a:solidFill>
                <a:latin typeface="Calibri" pitchFamily="34" charset="0"/>
                <a:ea typeface="Calibri" pitchFamily="34" charset="-122"/>
                <a:cs typeface="Calibri" pitchFamily="34" charset="-120"/>
              </a:rPr>
              <a:t>Expo</a:t>
            </a:r>
            <a:r>
              <a:rPr lang="en-US" sz="1500" b="1" dirty="0">
                <a:solidFill>
                  <a:srgbClr val="10B981"/>
                </a:solidFill>
                <a:latin typeface="Calibri" pitchFamily="34" charset="0"/>
                <a:ea typeface="Calibri" pitchFamily="34" charset="-122"/>
                <a:cs typeface="Calibri" pitchFamily="34" charset="-120"/>
              </a:rPr>
              <a:t>Lead</a:t>
            </a: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051560"/>
            <a:ext cx="8229600" cy="274320"/>
          </a:xfrm>
          <a:prstGeom prst="rect">
            <a:avLst/>
          </a:prstGeom>
          <a:noFill/>
          <a:ln/>
        </p:spPr>
        <p:txBody>
          <a:bodyPr wrap="square" lIns="0" tIns="0" rIns="0" bIns="0" rtlCol="0" anchor="ctr"/>
          <a:lstStyle/>
          <a:p>
            <a:pPr marL="0" indent="0" algn="l">
              <a:buNone/>
            </a:pPr>
            <a:r>
              <a:rPr lang="en-US" sz="1100" b="1" kern="0" spc="220" dirty="0">
                <a:solidFill>
                  <a:srgbClr val="059669"/>
                </a:solidFill>
                <a:latin typeface="Calibri" pitchFamily="34" charset="0"/>
                <a:ea typeface="Calibri" pitchFamily="34" charset="-122"/>
                <a:cs typeface="Calibri" pitchFamily="34" charset="-120"/>
              </a:rPr>
              <a:t>THE COMMERCIAL WORKFLOW</a:t>
            </a:r>
            <a:endParaRPr lang="en-US" sz="1100" dirty="0"/>
          </a:p>
        </p:txBody>
      </p:sp>
      <p:sp>
        <p:nvSpPr>
          <p:cNvPr id="8" name="Text 6"/>
          <p:cNvSpPr/>
          <p:nvPr/>
        </p:nvSpPr>
        <p:spPr>
          <a:xfrm>
            <a:off x="502920" y="1325880"/>
            <a:ext cx="10972800" cy="548640"/>
          </a:xfrm>
          <a:prstGeom prst="rect">
            <a:avLst/>
          </a:prstGeom>
          <a:noFill/>
          <a:ln/>
        </p:spPr>
        <p:txBody>
          <a:bodyPr wrap="square" lIns="0" tIns="0" rIns="0" bIns="0" rtlCol="0" anchor="t"/>
          <a:lstStyle/>
          <a:p>
            <a:pPr marL="0" indent="0" algn="l">
              <a:buNone/>
            </a:pPr>
            <a:r>
              <a:rPr lang="en-US" sz="2800" b="1" dirty="0">
                <a:solidFill>
                  <a:srgbClr val="0F172A"/>
                </a:solidFill>
                <a:latin typeface="Calibri" pitchFamily="34" charset="0"/>
                <a:ea typeface="Calibri" pitchFamily="34" charset="-122"/>
                <a:cs typeface="Calibri" pitchFamily="34" charset="-120"/>
              </a:rPr>
              <a:t>Where ExpoLead sits, and where your CRM takes over</a:t>
            </a:r>
            <a:endParaRPr lang="en-US" sz="2800" dirty="0"/>
          </a:p>
        </p:txBody>
      </p:sp>
      <p:sp>
        <p:nvSpPr>
          <p:cNvPr id="9" name="Shape 7"/>
          <p:cNvSpPr/>
          <p:nvPr/>
        </p:nvSpPr>
        <p:spPr>
          <a:xfrm>
            <a:off x="502920" y="2148840"/>
            <a:ext cx="8339099" cy="310896"/>
          </a:xfrm>
          <a:prstGeom prst="roundRect">
            <a:avLst>
              <a:gd name="adj" fmla="val 20588"/>
            </a:avLst>
          </a:prstGeom>
          <a:solidFill>
            <a:srgbClr val="10B981"/>
          </a:solidFill>
          <a:ln/>
        </p:spPr>
        <p:txBody>
          <a:bodyPr/>
          <a:lstStyle/>
          <a:p>
            <a:endParaRPr lang="en-US" dirty="0">
              <a:solidFill>
                <a:schemeClr val="bg1"/>
              </a:solidFill>
            </a:endParaRPr>
          </a:p>
        </p:txBody>
      </p:sp>
      <p:sp>
        <p:nvSpPr>
          <p:cNvPr id="10" name="Text 8"/>
          <p:cNvSpPr/>
          <p:nvPr/>
        </p:nvSpPr>
        <p:spPr>
          <a:xfrm>
            <a:off x="612648" y="2148840"/>
            <a:ext cx="7936763" cy="310896"/>
          </a:xfrm>
          <a:prstGeom prst="rect">
            <a:avLst/>
          </a:prstGeom>
          <a:noFill/>
          <a:ln/>
        </p:spPr>
        <p:txBody>
          <a:bodyPr wrap="square" lIns="0" tIns="0" rIns="0" bIns="0" rtlCol="0" anchor="ctr"/>
          <a:lstStyle/>
          <a:p>
            <a:pPr marL="0" indent="0" algn="l">
              <a:buNone/>
            </a:pPr>
            <a:r>
              <a:rPr lang="en-US" sz="1050" b="1" kern="0" spc="120" dirty="0">
                <a:solidFill>
                  <a:schemeClr val="bg1"/>
                </a:solidFill>
                <a:latin typeface="Calibri" pitchFamily="34" charset="0"/>
                <a:ea typeface="Calibri" pitchFamily="34" charset="-122"/>
                <a:cs typeface="Calibri" pitchFamily="34" charset="-120"/>
              </a:rPr>
              <a:t>EXPOLEAD OS  ·  THE EXHIBITION LAYER</a:t>
            </a:r>
            <a:endParaRPr lang="en-US" sz="1050" dirty="0">
              <a:solidFill>
                <a:schemeClr val="bg1"/>
              </a:solidFill>
            </a:endParaRPr>
          </a:p>
        </p:txBody>
      </p:sp>
      <p:sp>
        <p:nvSpPr>
          <p:cNvPr id="11" name="Shape 9"/>
          <p:cNvSpPr/>
          <p:nvPr/>
        </p:nvSpPr>
        <p:spPr>
          <a:xfrm>
            <a:off x="6196432" y="2532888"/>
            <a:ext cx="5492344" cy="310896"/>
          </a:xfrm>
          <a:prstGeom prst="roundRect">
            <a:avLst>
              <a:gd name="adj" fmla="val 20588"/>
            </a:avLst>
          </a:prstGeom>
          <a:solidFill>
            <a:schemeClr val="bg1">
              <a:lumMod val="95000"/>
            </a:schemeClr>
          </a:solidFill>
          <a:ln/>
        </p:spPr>
        <p:txBody>
          <a:bodyPr/>
          <a:lstStyle/>
          <a:p>
            <a:endParaRPr lang="en-US"/>
          </a:p>
        </p:txBody>
      </p:sp>
      <p:sp>
        <p:nvSpPr>
          <p:cNvPr id="12" name="Text 10"/>
          <p:cNvSpPr/>
          <p:nvPr/>
        </p:nvSpPr>
        <p:spPr>
          <a:xfrm>
            <a:off x="6306160" y="2532888"/>
            <a:ext cx="5291176" cy="310896"/>
          </a:xfrm>
          <a:prstGeom prst="rect">
            <a:avLst/>
          </a:prstGeom>
          <a:noFill/>
          <a:ln/>
        </p:spPr>
        <p:txBody>
          <a:bodyPr wrap="square" lIns="0" tIns="0" rIns="0" bIns="0" rtlCol="0" anchor="ctr"/>
          <a:lstStyle/>
          <a:p>
            <a:pPr marL="0" indent="0" algn="l">
              <a:buNone/>
            </a:pPr>
            <a:r>
              <a:rPr lang="en-US" sz="1050" b="1" kern="0" spc="120" dirty="0">
                <a:solidFill>
                  <a:srgbClr val="475569"/>
                </a:solidFill>
                <a:latin typeface="Calibri" pitchFamily="34" charset="0"/>
                <a:ea typeface="Calibri" pitchFamily="34" charset="-122"/>
                <a:cs typeface="Calibri" pitchFamily="34" charset="-120"/>
              </a:rPr>
              <a:t>YOUR CRM  ·  THE RELATIONSHIP LAYER</a:t>
            </a:r>
            <a:endParaRPr lang="en-US" sz="1050" dirty="0"/>
          </a:p>
        </p:txBody>
      </p:sp>
      <p:sp>
        <p:nvSpPr>
          <p:cNvPr id="13" name="Shape 11"/>
          <p:cNvSpPr/>
          <p:nvPr/>
        </p:nvSpPr>
        <p:spPr>
          <a:xfrm>
            <a:off x="502920" y="2971800"/>
            <a:ext cx="2645588" cy="3063240"/>
          </a:xfrm>
          <a:prstGeom prst="roundRect">
            <a:avLst>
              <a:gd name="adj" fmla="val 3111"/>
            </a:avLst>
          </a:prstGeom>
          <a:solidFill>
            <a:schemeClr val="bg1">
              <a:lumMod val="95000"/>
            </a:schemeClr>
          </a:solidFill>
          <a:ln w="15240">
            <a:solidFill>
              <a:srgbClr val="D1FAE5"/>
            </a:solidFill>
            <a:prstDash val="solid"/>
          </a:ln>
          <a:effectLst>
            <a:outerShdw blurRad="76200" dist="25400" dir="5400000" algn="bl" rotWithShape="0">
              <a:srgbClr val="101018">
                <a:alpha val="6000"/>
              </a:srgbClr>
            </a:outerShdw>
          </a:effectLst>
        </p:spPr>
        <p:txBody>
          <a:bodyPr/>
          <a:lstStyle/>
          <a:p>
            <a:endParaRPr lang="en-US"/>
          </a:p>
        </p:txBody>
      </p:sp>
      <p:sp>
        <p:nvSpPr>
          <p:cNvPr id="14" name="Text 12"/>
          <p:cNvSpPr/>
          <p:nvPr/>
        </p:nvSpPr>
        <p:spPr>
          <a:xfrm>
            <a:off x="704088" y="3118104"/>
            <a:ext cx="914400" cy="219456"/>
          </a:xfrm>
          <a:prstGeom prst="rect">
            <a:avLst/>
          </a:prstGeom>
          <a:noFill/>
          <a:ln/>
        </p:spPr>
        <p:txBody>
          <a:bodyPr wrap="square" lIns="0" tIns="0" rIns="0" bIns="0" rtlCol="0" anchor="ctr"/>
          <a:lstStyle/>
          <a:p>
            <a:pPr marL="0" indent="0">
              <a:buNone/>
            </a:pPr>
            <a:r>
              <a:rPr lang="en-US" sz="1100" b="1" kern="0" spc="100" dirty="0">
                <a:solidFill>
                  <a:srgbClr val="00B050"/>
                </a:solidFill>
                <a:latin typeface="Calibri" pitchFamily="34" charset="0"/>
                <a:ea typeface="Calibri" pitchFamily="34" charset="-122"/>
                <a:cs typeface="Calibri" pitchFamily="34" charset="-120"/>
              </a:rPr>
              <a:t>01</a:t>
            </a:r>
            <a:endParaRPr lang="en-US" sz="1100" dirty="0">
              <a:solidFill>
                <a:srgbClr val="00B050"/>
              </a:solidFill>
            </a:endParaRPr>
          </a:p>
        </p:txBody>
      </p:sp>
      <p:sp>
        <p:nvSpPr>
          <p:cNvPr id="15" name="Text 13"/>
          <p:cNvSpPr/>
          <p:nvPr/>
        </p:nvSpPr>
        <p:spPr>
          <a:xfrm>
            <a:off x="704088" y="3337560"/>
            <a:ext cx="2279828" cy="32918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Before expo</a:t>
            </a:r>
            <a:endParaRPr lang="en-US" sz="1600" dirty="0"/>
          </a:p>
        </p:txBody>
      </p:sp>
      <p:sp>
        <p:nvSpPr>
          <p:cNvPr id="16" name="Text 14"/>
          <p:cNvSpPr/>
          <p:nvPr/>
        </p:nvSpPr>
        <p:spPr>
          <a:xfrm>
            <a:off x="704088" y="3685032"/>
            <a:ext cx="2279828" cy="237744"/>
          </a:xfrm>
          <a:prstGeom prst="rect">
            <a:avLst/>
          </a:prstGeom>
          <a:noFill/>
          <a:ln/>
        </p:spPr>
        <p:txBody>
          <a:bodyPr wrap="square" lIns="0" tIns="0" rIns="0" bIns="0" rtlCol="0" anchor="ctr"/>
          <a:lstStyle/>
          <a:p>
            <a:pPr marL="0" indent="0">
              <a:buNone/>
            </a:pPr>
            <a:r>
              <a:rPr lang="en-US" sz="1050" b="1" kern="0" spc="100" dirty="0">
                <a:solidFill>
                  <a:srgbClr val="059669"/>
                </a:solidFill>
                <a:latin typeface="Calibri" pitchFamily="34" charset="0"/>
                <a:ea typeface="Calibri" pitchFamily="34" charset="-122"/>
                <a:cs typeface="Calibri" pitchFamily="34" charset="-120"/>
              </a:rPr>
              <a:t>PLAN</a:t>
            </a:r>
            <a:endParaRPr lang="en-US" sz="1050" dirty="0"/>
          </a:p>
        </p:txBody>
      </p:sp>
      <p:sp>
        <p:nvSpPr>
          <p:cNvPr id="17" name="Text 15"/>
          <p:cNvSpPr/>
          <p:nvPr/>
        </p:nvSpPr>
        <p:spPr>
          <a:xfrm>
            <a:off x="704088" y="4023360"/>
            <a:ext cx="2261540" cy="1874520"/>
          </a:xfrm>
          <a:prstGeom prst="rect">
            <a:avLst/>
          </a:prstGeom>
          <a:noFill/>
          <a:ln/>
        </p:spPr>
        <p:txBody>
          <a:bodyPr wrap="square" lIns="0" tIns="0" rIns="0" bIns="0" rtlCol="0" anchor="t"/>
          <a:lstStyle/>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Set targets</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Identify companies</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Prioritise booths</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Prepare objectives</a:t>
            </a:r>
            <a:endParaRPr lang="en-US" sz="1150" dirty="0"/>
          </a:p>
        </p:txBody>
      </p:sp>
      <p:sp>
        <p:nvSpPr>
          <p:cNvPr id="18" name="Shape 16"/>
          <p:cNvSpPr/>
          <p:nvPr/>
        </p:nvSpPr>
        <p:spPr>
          <a:xfrm>
            <a:off x="3349676" y="2971800"/>
            <a:ext cx="2645588" cy="3063240"/>
          </a:xfrm>
          <a:prstGeom prst="roundRect">
            <a:avLst>
              <a:gd name="adj" fmla="val 3111"/>
            </a:avLst>
          </a:prstGeom>
          <a:solidFill>
            <a:schemeClr val="bg1">
              <a:lumMod val="95000"/>
            </a:schemeClr>
          </a:solidFill>
          <a:ln w="15240">
            <a:solidFill>
              <a:srgbClr val="D1FAE5"/>
            </a:solidFill>
            <a:prstDash val="solid"/>
          </a:ln>
          <a:effectLst>
            <a:outerShdw blurRad="76200" dist="25400" dir="5400000" algn="bl" rotWithShape="0">
              <a:srgbClr val="101018">
                <a:alpha val="6000"/>
              </a:srgbClr>
            </a:outerShdw>
          </a:effectLst>
        </p:spPr>
        <p:txBody>
          <a:bodyPr/>
          <a:lstStyle/>
          <a:p>
            <a:endParaRPr lang="en-US"/>
          </a:p>
        </p:txBody>
      </p:sp>
      <p:sp>
        <p:nvSpPr>
          <p:cNvPr id="19" name="Text 17"/>
          <p:cNvSpPr/>
          <p:nvPr/>
        </p:nvSpPr>
        <p:spPr>
          <a:xfrm>
            <a:off x="3550844" y="3118104"/>
            <a:ext cx="914400" cy="219456"/>
          </a:xfrm>
          <a:prstGeom prst="rect">
            <a:avLst/>
          </a:prstGeom>
          <a:noFill/>
          <a:ln/>
        </p:spPr>
        <p:txBody>
          <a:bodyPr wrap="square" lIns="0" tIns="0" rIns="0" bIns="0" rtlCol="0" anchor="ctr"/>
          <a:lstStyle/>
          <a:p>
            <a:pPr marL="0" indent="0">
              <a:buNone/>
            </a:pPr>
            <a:r>
              <a:rPr lang="en-US" sz="1100" b="1" kern="0" spc="100" dirty="0">
                <a:solidFill>
                  <a:srgbClr val="00B050"/>
                </a:solidFill>
                <a:latin typeface="Calibri" pitchFamily="34" charset="0"/>
                <a:ea typeface="Calibri" pitchFamily="34" charset="-122"/>
                <a:cs typeface="Calibri" pitchFamily="34" charset="-120"/>
              </a:rPr>
              <a:t>02</a:t>
            </a:r>
            <a:endParaRPr lang="en-US" sz="1100" dirty="0">
              <a:solidFill>
                <a:srgbClr val="00B050"/>
              </a:solidFill>
            </a:endParaRPr>
          </a:p>
        </p:txBody>
      </p:sp>
      <p:sp>
        <p:nvSpPr>
          <p:cNvPr id="20" name="Text 18"/>
          <p:cNvSpPr/>
          <p:nvPr/>
        </p:nvSpPr>
        <p:spPr>
          <a:xfrm>
            <a:off x="3550844" y="3337560"/>
            <a:ext cx="2279828" cy="32918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During expo</a:t>
            </a:r>
            <a:endParaRPr lang="en-US" sz="1600" dirty="0"/>
          </a:p>
        </p:txBody>
      </p:sp>
      <p:sp>
        <p:nvSpPr>
          <p:cNvPr id="21" name="Text 19"/>
          <p:cNvSpPr/>
          <p:nvPr/>
        </p:nvSpPr>
        <p:spPr>
          <a:xfrm>
            <a:off x="3550844" y="3685032"/>
            <a:ext cx="2279828" cy="237744"/>
          </a:xfrm>
          <a:prstGeom prst="rect">
            <a:avLst/>
          </a:prstGeom>
          <a:noFill/>
          <a:ln/>
        </p:spPr>
        <p:txBody>
          <a:bodyPr wrap="square" lIns="0" tIns="0" rIns="0" bIns="0" rtlCol="0" anchor="ctr"/>
          <a:lstStyle/>
          <a:p>
            <a:pPr marL="0" indent="0">
              <a:buNone/>
            </a:pPr>
            <a:r>
              <a:rPr lang="en-US" sz="1050" b="1" kern="0" spc="100" dirty="0">
                <a:solidFill>
                  <a:srgbClr val="059669"/>
                </a:solidFill>
                <a:latin typeface="Calibri" pitchFamily="34" charset="0"/>
                <a:ea typeface="Calibri" pitchFamily="34" charset="-122"/>
                <a:cs typeface="Calibri" pitchFamily="34" charset="-120"/>
              </a:rPr>
              <a:t>CAPTURE</a:t>
            </a:r>
            <a:endParaRPr lang="en-US" sz="1050" dirty="0"/>
          </a:p>
        </p:txBody>
      </p:sp>
      <p:sp>
        <p:nvSpPr>
          <p:cNvPr id="22" name="Text 20"/>
          <p:cNvSpPr/>
          <p:nvPr/>
        </p:nvSpPr>
        <p:spPr>
          <a:xfrm>
            <a:off x="3550844" y="4023360"/>
            <a:ext cx="2261540" cy="1874520"/>
          </a:xfrm>
          <a:prstGeom prst="rect">
            <a:avLst/>
          </a:prstGeom>
          <a:noFill/>
          <a:ln/>
        </p:spPr>
        <p:txBody>
          <a:bodyPr wrap="square" lIns="0" tIns="0" rIns="0" bIns="0" rtlCol="0" anchor="t"/>
          <a:lstStyle/>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Record conversations</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Identify opportunities</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Set priorities</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Note next actions</a:t>
            </a:r>
            <a:endParaRPr lang="en-US" sz="1150" dirty="0"/>
          </a:p>
        </p:txBody>
      </p:sp>
      <p:sp>
        <p:nvSpPr>
          <p:cNvPr id="23" name="Shape 21"/>
          <p:cNvSpPr/>
          <p:nvPr/>
        </p:nvSpPr>
        <p:spPr>
          <a:xfrm>
            <a:off x="6196432" y="2971800"/>
            <a:ext cx="2645588" cy="3063240"/>
          </a:xfrm>
          <a:prstGeom prst="roundRect">
            <a:avLst>
              <a:gd name="adj" fmla="val 3111"/>
            </a:avLst>
          </a:prstGeom>
          <a:solidFill>
            <a:schemeClr val="bg1">
              <a:lumMod val="95000"/>
            </a:schemeClr>
          </a:solidFill>
          <a:ln w="15240">
            <a:solidFill>
              <a:srgbClr val="D1FAE5"/>
            </a:solidFill>
            <a:prstDash val="solid"/>
          </a:ln>
          <a:effectLst>
            <a:outerShdw blurRad="76200" dist="25400" dir="5400000" algn="bl" rotWithShape="0">
              <a:srgbClr val="101018">
                <a:alpha val="6000"/>
              </a:srgbClr>
            </a:outerShdw>
          </a:effectLst>
        </p:spPr>
        <p:txBody>
          <a:bodyPr/>
          <a:lstStyle/>
          <a:p>
            <a:endParaRPr lang="en-US"/>
          </a:p>
        </p:txBody>
      </p:sp>
      <p:sp>
        <p:nvSpPr>
          <p:cNvPr id="24" name="Text 22"/>
          <p:cNvSpPr/>
          <p:nvPr/>
        </p:nvSpPr>
        <p:spPr>
          <a:xfrm>
            <a:off x="6397600" y="3118104"/>
            <a:ext cx="914400" cy="219456"/>
          </a:xfrm>
          <a:prstGeom prst="rect">
            <a:avLst/>
          </a:prstGeom>
          <a:noFill/>
          <a:ln/>
        </p:spPr>
        <p:txBody>
          <a:bodyPr wrap="square" lIns="0" tIns="0" rIns="0" bIns="0" rtlCol="0" anchor="ctr"/>
          <a:lstStyle/>
          <a:p>
            <a:pPr marL="0" indent="0">
              <a:buNone/>
            </a:pPr>
            <a:r>
              <a:rPr lang="en-US" sz="1100" b="1" kern="0" spc="100" dirty="0">
                <a:solidFill>
                  <a:srgbClr val="00B050"/>
                </a:solidFill>
                <a:latin typeface="Calibri" pitchFamily="34" charset="0"/>
                <a:ea typeface="Calibri" pitchFamily="34" charset="-122"/>
                <a:cs typeface="Calibri" pitchFamily="34" charset="-120"/>
              </a:rPr>
              <a:t>03</a:t>
            </a:r>
            <a:endParaRPr lang="en-US" sz="1100" dirty="0">
              <a:solidFill>
                <a:srgbClr val="00B050"/>
              </a:solidFill>
            </a:endParaRPr>
          </a:p>
        </p:txBody>
      </p:sp>
      <p:sp>
        <p:nvSpPr>
          <p:cNvPr id="25" name="Text 23"/>
          <p:cNvSpPr/>
          <p:nvPr/>
        </p:nvSpPr>
        <p:spPr>
          <a:xfrm>
            <a:off x="6397600" y="3337560"/>
            <a:ext cx="2279828" cy="32918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After expo</a:t>
            </a:r>
            <a:endParaRPr lang="en-US" sz="1600" dirty="0"/>
          </a:p>
        </p:txBody>
      </p:sp>
      <p:sp>
        <p:nvSpPr>
          <p:cNvPr id="26" name="Text 24"/>
          <p:cNvSpPr/>
          <p:nvPr/>
        </p:nvSpPr>
        <p:spPr>
          <a:xfrm>
            <a:off x="6397600" y="3685032"/>
            <a:ext cx="2279828" cy="237744"/>
          </a:xfrm>
          <a:prstGeom prst="rect">
            <a:avLst/>
          </a:prstGeom>
          <a:noFill/>
          <a:ln/>
        </p:spPr>
        <p:txBody>
          <a:bodyPr wrap="square" lIns="0" tIns="0" rIns="0" bIns="0" rtlCol="0" anchor="ctr"/>
          <a:lstStyle/>
          <a:p>
            <a:pPr marL="0" indent="0">
              <a:buNone/>
            </a:pPr>
            <a:r>
              <a:rPr lang="en-US" sz="1050" b="1" kern="0" spc="100" dirty="0">
                <a:solidFill>
                  <a:srgbClr val="059669"/>
                </a:solidFill>
                <a:latin typeface="Calibri" pitchFamily="34" charset="0"/>
                <a:ea typeface="Calibri" pitchFamily="34" charset="-122"/>
                <a:cs typeface="Calibri" pitchFamily="34" charset="-120"/>
              </a:rPr>
              <a:t>CONVERT</a:t>
            </a:r>
            <a:endParaRPr lang="en-US" sz="1050" dirty="0"/>
          </a:p>
        </p:txBody>
      </p:sp>
      <p:sp>
        <p:nvSpPr>
          <p:cNvPr id="27" name="Text 25"/>
          <p:cNvSpPr/>
          <p:nvPr/>
        </p:nvSpPr>
        <p:spPr>
          <a:xfrm>
            <a:off x="6397600" y="4023360"/>
            <a:ext cx="2261540" cy="1874520"/>
          </a:xfrm>
          <a:prstGeom prst="rect">
            <a:avLst/>
          </a:prstGeom>
          <a:noFill/>
          <a:ln/>
        </p:spPr>
        <p:txBody>
          <a:bodyPr wrap="square" lIns="0" tIns="0" rIns="0" bIns="0" rtlCol="0" anchor="t"/>
          <a:lstStyle/>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Follow up</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Track commitments</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Progress opportunities</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Read exhibition outcomes</a:t>
            </a:r>
            <a:endParaRPr lang="en-US" sz="1150" dirty="0"/>
          </a:p>
        </p:txBody>
      </p:sp>
      <p:sp>
        <p:nvSpPr>
          <p:cNvPr id="28" name="Shape 26"/>
          <p:cNvSpPr/>
          <p:nvPr/>
        </p:nvSpPr>
        <p:spPr>
          <a:xfrm>
            <a:off x="9043187" y="2971800"/>
            <a:ext cx="2645588" cy="3063240"/>
          </a:xfrm>
          <a:prstGeom prst="roundRect">
            <a:avLst>
              <a:gd name="adj" fmla="val 3111"/>
            </a:avLst>
          </a:prstGeom>
          <a:solidFill>
            <a:schemeClr val="bg1">
              <a:lumMod val="95000"/>
            </a:schemeClr>
          </a:solidFill>
          <a:ln w="15240">
            <a:solidFill>
              <a:srgbClr val="E2E8F0"/>
            </a:solidFill>
            <a:prstDash val="solid"/>
          </a:ln>
          <a:effectLst>
            <a:outerShdw blurRad="76200" dist="25400" dir="5400000" algn="bl" rotWithShape="0">
              <a:srgbClr val="101018">
                <a:alpha val="6000"/>
              </a:srgbClr>
            </a:outerShdw>
          </a:effectLst>
        </p:spPr>
        <p:txBody>
          <a:bodyPr/>
          <a:lstStyle/>
          <a:p>
            <a:endParaRPr lang="en-US"/>
          </a:p>
        </p:txBody>
      </p:sp>
      <p:sp>
        <p:nvSpPr>
          <p:cNvPr id="29" name="Text 27"/>
          <p:cNvSpPr/>
          <p:nvPr/>
        </p:nvSpPr>
        <p:spPr>
          <a:xfrm>
            <a:off x="9244355" y="3118104"/>
            <a:ext cx="914400" cy="219456"/>
          </a:xfrm>
          <a:prstGeom prst="rect">
            <a:avLst/>
          </a:prstGeom>
          <a:noFill/>
          <a:ln/>
        </p:spPr>
        <p:txBody>
          <a:bodyPr wrap="square" lIns="0" tIns="0" rIns="0" bIns="0" rtlCol="0" anchor="ctr"/>
          <a:lstStyle/>
          <a:p>
            <a:pPr marL="0" indent="0">
              <a:buNone/>
            </a:pPr>
            <a:r>
              <a:rPr lang="en-US" sz="1100" b="1" kern="0" spc="100" dirty="0">
                <a:solidFill>
                  <a:srgbClr val="00B050"/>
                </a:solidFill>
                <a:latin typeface="Calibri" pitchFamily="34" charset="0"/>
                <a:ea typeface="Calibri" pitchFamily="34" charset="-122"/>
                <a:cs typeface="Calibri" pitchFamily="34" charset="-120"/>
              </a:rPr>
              <a:t>04</a:t>
            </a:r>
            <a:endParaRPr lang="en-US" sz="1100" dirty="0">
              <a:solidFill>
                <a:srgbClr val="00B050"/>
              </a:solidFill>
            </a:endParaRPr>
          </a:p>
        </p:txBody>
      </p:sp>
      <p:sp>
        <p:nvSpPr>
          <p:cNvPr id="30" name="Text 28"/>
          <p:cNvSpPr/>
          <p:nvPr/>
        </p:nvSpPr>
        <p:spPr>
          <a:xfrm>
            <a:off x="9244355" y="3337560"/>
            <a:ext cx="2279828" cy="32918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Ongoing sales</a:t>
            </a:r>
            <a:endParaRPr lang="en-US" sz="1600" dirty="0"/>
          </a:p>
        </p:txBody>
      </p:sp>
      <p:sp>
        <p:nvSpPr>
          <p:cNvPr id="31" name="Text 29"/>
          <p:cNvSpPr/>
          <p:nvPr/>
        </p:nvSpPr>
        <p:spPr>
          <a:xfrm>
            <a:off x="9244355" y="3685032"/>
            <a:ext cx="2279828" cy="237744"/>
          </a:xfrm>
          <a:prstGeom prst="rect">
            <a:avLst/>
          </a:prstGeom>
          <a:noFill/>
          <a:ln/>
        </p:spPr>
        <p:txBody>
          <a:bodyPr wrap="square" lIns="0" tIns="0" rIns="0" bIns="0" rtlCol="0" anchor="ctr"/>
          <a:lstStyle/>
          <a:p>
            <a:pPr marL="0" indent="0">
              <a:buNone/>
            </a:pPr>
            <a:r>
              <a:rPr lang="en-US" sz="1050" b="1" kern="0" spc="100" dirty="0">
                <a:solidFill>
                  <a:srgbClr val="64748B"/>
                </a:solidFill>
                <a:latin typeface="Calibri" pitchFamily="34" charset="0"/>
                <a:ea typeface="Calibri" pitchFamily="34" charset="-122"/>
                <a:cs typeface="Calibri" pitchFamily="34" charset="-120"/>
              </a:rPr>
              <a:t>MANAGE · CRM</a:t>
            </a:r>
            <a:endParaRPr lang="en-US" sz="1050" dirty="0"/>
          </a:p>
        </p:txBody>
      </p:sp>
      <p:sp>
        <p:nvSpPr>
          <p:cNvPr id="32" name="Text 30"/>
          <p:cNvSpPr/>
          <p:nvPr/>
        </p:nvSpPr>
        <p:spPr>
          <a:xfrm>
            <a:off x="9244355" y="4023360"/>
            <a:ext cx="2261540" cy="1874520"/>
          </a:xfrm>
          <a:prstGeom prst="rect">
            <a:avLst/>
          </a:prstGeom>
          <a:noFill/>
          <a:ln/>
        </p:spPr>
        <p:txBody>
          <a:bodyPr wrap="square" lIns="0" tIns="0" rIns="0" bIns="0" rtlCol="0" anchor="t"/>
          <a:lstStyle/>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Contacts &amp; accounts</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Deals &amp; pipeline</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Activities</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Customer relationships</a:t>
            </a:r>
            <a:endParaRPr lang="en-US" sz="1150" dirty="0"/>
          </a:p>
          <a:p>
            <a:pPr marL="139700" indent="-139700" algn="l">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Revenue</a:t>
            </a:r>
            <a:endParaRPr lang="en-US" sz="1150" dirty="0"/>
          </a:p>
        </p:txBody>
      </p:sp>
      <p:sp>
        <p:nvSpPr>
          <p:cNvPr id="33" name="Shape 31"/>
          <p:cNvSpPr/>
          <p:nvPr/>
        </p:nvSpPr>
        <p:spPr>
          <a:xfrm>
            <a:off x="6397600" y="5385816"/>
            <a:ext cx="2243252" cy="539496"/>
          </a:xfrm>
          <a:prstGeom prst="roundRect">
            <a:avLst>
              <a:gd name="adj" fmla="val 26667"/>
            </a:avLst>
          </a:prstGeom>
          <a:solidFill>
            <a:srgbClr val="10B981"/>
          </a:solidFill>
          <a:ln w="12700">
            <a:solidFill>
              <a:srgbClr val="34D399"/>
            </a:solidFill>
            <a:prstDash val="dash"/>
          </a:ln>
        </p:spPr>
        <p:txBody>
          <a:bodyPr/>
          <a:lstStyle/>
          <a:p>
            <a:endParaRPr lang="en-US"/>
          </a:p>
        </p:txBody>
      </p:sp>
      <p:sp>
        <p:nvSpPr>
          <p:cNvPr id="34" name="Text 32"/>
          <p:cNvSpPr/>
          <p:nvPr/>
        </p:nvSpPr>
        <p:spPr>
          <a:xfrm>
            <a:off x="6607539" y="5470700"/>
            <a:ext cx="1823374" cy="393192"/>
          </a:xfrm>
          <a:prstGeom prst="rect">
            <a:avLst/>
          </a:prstGeom>
          <a:noFill/>
          <a:ln/>
        </p:spPr>
        <p:txBody>
          <a:bodyPr wrap="square" lIns="0" tIns="0" rIns="0" bIns="0" rtlCol="0" anchor="ctr"/>
          <a:lstStyle/>
          <a:p>
            <a:pPr marL="0" indent="0" algn="ctr">
              <a:buNone/>
            </a:pPr>
            <a:r>
              <a:rPr lang="en-US" sz="850" b="1" dirty="0">
                <a:solidFill>
                  <a:schemeClr val="bg1"/>
                </a:solidFill>
                <a:latin typeface="Calibri" pitchFamily="34" charset="0"/>
                <a:ea typeface="Calibri" pitchFamily="34" charset="-122"/>
                <a:cs typeface="Calibri" pitchFamily="34" charset="-120"/>
              </a:rPr>
              <a:t>SHARED GROUND · OPPORTUNITIES &amp; FOLLOW-UP</a:t>
            </a:r>
            <a:endParaRPr lang="en-US" sz="850" dirty="0">
              <a:solidFill>
                <a:schemeClr val="bg1"/>
              </a:solidFill>
            </a:endParaRPr>
          </a:p>
        </p:txBody>
      </p:sp>
      <p:sp>
        <p:nvSpPr>
          <p:cNvPr id="35" name="Text 33"/>
          <p:cNvSpPr/>
          <p:nvPr/>
        </p:nvSpPr>
        <p:spPr>
          <a:xfrm>
            <a:off x="502920" y="6355080"/>
            <a:ext cx="10972800" cy="320040"/>
          </a:xfrm>
          <a:prstGeom prst="rect">
            <a:avLst/>
          </a:prstGeom>
          <a:noFill/>
          <a:ln/>
        </p:spPr>
        <p:txBody>
          <a:bodyPr wrap="square" lIns="0" tIns="0" rIns="0" bIns="0" rtlCol="0" anchor="ctr"/>
          <a:lstStyle/>
          <a:p>
            <a:pPr marL="0" indent="0" algn="l">
              <a:buNone/>
            </a:pPr>
            <a:r>
              <a:rPr lang="en-US" sz="1100" i="1" dirty="0">
                <a:solidFill>
                  <a:srgbClr val="64748B"/>
                </a:solidFill>
                <a:latin typeface="Calibri" pitchFamily="34" charset="0"/>
                <a:ea typeface="Calibri" pitchFamily="34" charset="-122"/>
                <a:cs typeface="Calibri" pitchFamily="34" charset="-120"/>
              </a:rPr>
              <a:t>Some overlap is intentional. Both systems touch opportunities and follow-up. The difference is which job each was built to do.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11480"/>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3" name="Shape 1"/>
          <p:cNvSpPr/>
          <p:nvPr/>
        </p:nvSpPr>
        <p:spPr>
          <a:xfrm>
            <a:off x="644652" y="411480"/>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4" name="Shape 2"/>
          <p:cNvSpPr/>
          <p:nvPr/>
        </p:nvSpPr>
        <p:spPr>
          <a:xfrm>
            <a:off x="502920" y="553212"/>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5" name="Shape 3"/>
          <p:cNvSpPr/>
          <p:nvPr/>
        </p:nvSpPr>
        <p:spPr>
          <a:xfrm>
            <a:off x="644652" y="553212"/>
            <a:ext cx="100584" cy="100584"/>
          </a:xfrm>
          <a:prstGeom prst="roundRect">
            <a:avLst>
              <a:gd name="adj" fmla="val 18182"/>
            </a:avLst>
          </a:prstGeom>
          <a:solidFill>
            <a:srgbClr val="10B981"/>
          </a:solidFill>
          <a:ln w="16510">
            <a:solidFill>
              <a:srgbClr val="10B981"/>
            </a:solidFill>
            <a:prstDash val="solid"/>
          </a:ln>
        </p:spPr>
        <p:txBody>
          <a:bodyPr/>
          <a:lstStyle/>
          <a:p>
            <a:endParaRPr lang="en-US"/>
          </a:p>
        </p:txBody>
      </p:sp>
      <p:sp>
        <p:nvSpPr>
          <p:cNvPr id="6" name="Text 4"/>
          <p:cNvSpPr/>
          <p:nvPr/>
        </p:nvSpPr>
        <p:spPr>
          <a:xfrm>
            <a:off x="886968" y="365760"/>
            <a:ext cx="2011680" cy="329184"/>
          </a:xfrm>
          <a:prstGeom prst="rect">
            <a:avLst/>
          </a:prstGeom>
          <a:noFill/>
          <a:ln/>
        </p:spPr>
        <p:txBody>
          <a:bodyPr wrap="square" lIns="0" tIns="0" rIns="0" bIns="0" rtlCol="0" anchor="ctr"/>
          <a:lstStyle/>
          <a:p>
            <a:pPr marL="0" indent="0" algn="l">
              <a:buNone/>
            </a:pPr>
            <a:r>
              <a:rPr lang="en-US" sz="1500" b="1" dirty="0">
                <a:solidFill>
                  <a:srgbClr val="0F172A"/>
                </a:solidFill>
                <a:latin typeface="Calibri" pitchFamily="34" charset="0"/>
                <a:ea typeface="Calibri" pitchFamily="34" charset="-122"/>
                <a:cs typeface="Calibri" pitchFamily="34" charset="-120"/>
              </a:rPr>
              <a:t>Expo</a:t>
            </a:r>
            <a:r>
              <a:rPr lang="en-US" sz="1500" b="1" dirty="0">
                <a:solidFill>
                  <a:srgbClr val="10B981"/>
                </a:solidFill>
                <a:latin typeface="Calibri" pitchFamily="34" charset="0"/>
                <a:ea typeface="Calibri" pitchFamily="34" charset="-122"/>
                <a:cs typeface="Calibri" pitchFamily="34" charset="-120"/>
              </a:rPr>
              <a:t>Lead</a:t>
            </a: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051560"/>
            <a:ext cx="8229600" cy="274320"/>
          </a:xfrm>
          <a:prstGeom prst="rect">
            <a:avLst/>
          </a:prstGeom>
          <a:noFill/>
          <a:ln/>
        </p:spPr>
        <p:txBody>
          <a:bodyPr wrap="square" lIns="0" tIns="0" rIns="0" bIns="0" rtlCol="0" anchor="ctr"/>
          <a:lstStyle/>
          <a:p>
            <a:pPr marL="0" indent="0" algn="l">
              <a:buNone/>
            </a:pPr>
            <a:r>
              <a:rPr lang="en-US" sz="1100" b="1" kern="0" spc="220" dirty="0">
                <a:solidFill>
                  <a:srgbClr val="059669"/>
                </a:solidFill>
                <a:latin typeface="Calibri" pitchFamily="34" charset="0"/>
                <a:ea typeface="Calibri" pitchFamily="34" charset="-122"/>
                <a:cs typeface="Calibri" pitchFamily="34" charset="-120"/>
              </a:rPr>
              <a:t>THE CONCEPTUAL DIFFERENCE</a:t>
            </a:r>
            <a:endParaRPr lang="en-US" sz="1100" dirty="0"/>
          </a:p>
        </p:txBody>
      </p:sp>
      <p:sp>
        <p:nvSpPr>
          <p:cNvPr id="8" name="Text 6"/>
          <p:cNvSpPr/>
          <p:nvPr/>
        </p:nvSpPr>
        <p:spPr>
          <a:xfrm>
            <a:off x="502920" y="1325880"/>
            <a:ext cx="10972800" cy="548640"/>
          </a:xfrm>
          <a:prstGeom prst="rect">
            <a:avLst/>
          </a:prstGeom>
          <a:noFill/>
          <a:ln/>
        </p:spPr>
        <p:txBody>
          <a:bodyPr wrap="square" lIns="0" tIns="0" rIns="0" bIns="0" rtlCol="0" anchor="t"/>
          <a:lstStyle/>
          <a:p>
            <a:pPr marL="0" indent="0" algn="l">
              <a:buNone/>
            </a:pPr>
            <a:r>
              <a:rPr lang="en-US" sz="2600" b="1" dirty="0">
                <a:solidFill>
                  <a:srgbClr val="0F172A"/>
                </a:solidFill>
                <a:latin typeface="Calibri" pitchFamily="34" charset="0"/>
                <a:ea typeface="Calibri" pitchFamily="34" charset="-122"/>
                <a:cs typeface="Calibri" pitchFamily="34" charset="-120"/>
              </a:rPr>
              <a:t>A CRM is built around records. ExpoLead is built around the exhibition.</a:t>
            </a:r>
            <a:endParaRPr lang="en-US" sz="2600" dirty="0"/>
          </a:p>
        </p:txBody>
      </p:sp>
      <p:sp>
        <p:nvSpPr>
          <p:cNvPr id="9" name="Shape 7"/>
          <p:cNvSpPr/>
          <p:nvPr/>
        </p:nvSpPr>
        <p:spPr>
          <a:xfrm>
            <a:off x="502920" y="2103120"/>
            <a:ext cx="11185855" cy="1051560"/>
          </a:xfrm>
          <a:prstGeom prst="roundRect">
            <a:avLst>
              <a:gd name="adj" fmla="val 8696"/>
            </a:avLst>
          </a:prstGeom>
          <a:solidFill>
            <a:srgbClr val="0F172A"/>
          </a:solidFill>
          <a:ln/>
        </p:spPr>
        <p:txBody>
          <a:bodyPr/>
          <a:lstStyle/>
          <a:p>
            <a:endParaRPr lang="en-US"/>
          </a:p>
        </p:txBody>
      </p:sp>
      <p:sp>
        <p:nvSpPr>
          <p:cNvPr id="10" name="Text 8"/>
          <p:cNvSpPr/>
          <p:nvPr/>
        </p:nvSpPr>
        <p:spPr>
          <a:xfrm>
            <a:off x="822960" y="2103120"/>
            <a:ext cx="10545775" cy="1051560"/>
          </a:xfrm>
          <a:prstGeom prst="rect">
            <a:avLst/>
          </a:prstGeom>
          <a:noFill/>
          <a:ln/>
        </p:spPr>
        <p:txBody>
          <a:bodyPr wrap="square" lIns="0" tIns="0" rIns="0" bIns="0" rtlCol="0" anchor="ctr"/>
          <a:lstStyle/>
          <a:p>
            <a:pPr marL="0" indent="0" algn="l">
              <a:lnSpc>
                <a:spcPct val="115000"/>
              </a:lnSpc>
              <a:buNone/>
            </a:pPr>
            <a:r>
              <a:rPr lang="en-US" sz="1400" b="1" dirty="0">
                <a:solidFill>
                  <a:srgbClr val="FFFFFF"/>
                </a:solidFill>
                <a:latin typeface="Calibri" pitchFamily="34" charset="0"/>
                <a:ea typeface="Calibri" pitchFamily="34" charset="-122"/>
                <a:cs typeface="Calibri" pitchFamily="34" charset="-120"/>
              </a:rPr>
              <a:t>CRM systems are excellent at managing structured customer and sales data over time. </a:t>
            </a:r>
            <a:r>
              <a:rPr lang="en-US" sz="1400" dirty="0">
                <a:solidFill>
                  <a:srgbClr val="CBD5E1"/>
                </a:solidFill>
                <a:latin typeface="Calibri" pitchFamily="34" charset="0"/>
                <a:ea typeface="Calibri" pitchFamily="34" charset="-122"/>
                <a:cs typeface="Calibri" pitchFamily="34" charset="-120"/>
              </a:rPr>
              <a:t>ExpoLead is purpose-built for the high-volume, fast-moving environment of exhibitions, helping teams organise what they want to achieve before the show, capture what happens on the floor, and turn conversations into structured opportunities and actions immediately afterwards.</a:t>
            </a:r>
            <a:endParaRPr lang="en-US" sz="1400" dirty="0"/>
          </a:p>
        </p:txBody>
      </p:sp>
      <p:sp>
        <p:nvSpPr>
          <p:cNvPr id="11" name="Shape 9"/>
          <p:cNvSpPr/>
          <p:nvPr/>
        </p:nvSpPr>
        <p:spPr>
          <a:xfrm>
            <a:off x="502920" y="3520440"/>
            <a:ext cx="11185855" cy="1097280"/>
          </a:xfrm>
          <a:prstGeom prst="roundRect">
            <a:avLst>
              <a:gd name="adj" fmla="val 8333"/>
            </a:avLst>
          </a:prstGeom>
          <a:solidFill>
            <a:schemeClr val="bg1">
              <a:lumMod val="95000"/>
            </a:schemeClr>
          </a:solidFill>
          <a:ln w="12700">
            <a:solidFill>
              <a:srgbClr val="E2E8F0"/>
            </a:solidFill>
            <a:prstDash val="solid"/>
          </a:ln>
        </p:spPr>
        <p:txBody>
          <a:bodyPr/>
          <a:lstStyle/>
          <a:p>
            <a:endParaRPr lang="en-US"/>
          </a:p>
        </p:txBody>
      </p:sp>
      <p:sp>
        <p:nvSpPr>
          <p:cNvPr id="12" name="Text 10"/>
          <p:cNvSpPr/>
          <p:nvPr/>
        </p:nvSpPr>
        <p:spPr>
          <a:xfrm>
            <a:off x="777240" y="3657600"/>
            <a:ext cx="7315200" cy="256032"/>
          </a:xfrm>
          <a:prstGeom prst="rect">
            <a:avLst/>
          </a:prstGeom>
          <a:noFill/>
          <a:ln/>
        </p:spPr>
        <p:txBody>
          <a:bodyPr wrap="square" lIns="0" tIns="0" rIns="0" bIns="0" rtlCol="0" anchor="ctr"/>
          <a:lstStyle/>
          <a:p>
            <a:pPr marL="0" indent="0">
              <a:buNone/>
            </a:pPr>
            <a:r>
              <a:rPr lang="en-US" sz="1100" b="1" kern="0" spc="120" dirty="0">
                <a:solidFill>
                  <a:srgbClr val="64748B"/>
                </a:solidFill>
                <a:latin typeface="Calibri" pitchFamily="34" charset="0"/>
                <a:ea typeface="Calibri" pitchFamily="34" charset="-122"/>
                <a:cs typeface="Calibri" pitchFamily="34" charset="-120"/>
              </a:rPr>
              <a:t>CRM IS PRIMARILY RECORD-CENTRIC</a:t>
            </a:r>
            <a:endParaRPr lang="en-US" sz="1100" dirty="0"/>
          </a:p>
        </p:txBody>
      </p:sp>
      <p:sp>
        <p:nvSpPr>
          <p:cNvPr id="13" name="Shape 11"/>
          <p:cNvSpPr/>
          <p:nvPr/>
        </p:nvSpPr>
        <p:spPr>
          <a:xfrm>
            <a:off x="777240" y="4041648"/>
            <a:ext cx="627278" cy="310896"/>
          </a:xfrm>
          <a:prstGeom prst="roundRect">
            <a:avLst>
              <a:gd name="adj" fmla="val 17647"/>
            </a:avLst>
          </a:prstGeom>
          <a:solidFill>
            <a:srgbClr val="FFFFFF"/>
          </a:solidFill>
          <a:ln w="12700">
            <a:solidFill>
              <a:srgbClr val="E2E8F0"/>
            </a:solidFill>
            <a:prstDash val="solid"/>
          </a:ln>
        </p:spPr>
        <p:txBody>
          <a:bodyPr/>
          <a:lstStyle/>
          <a:p>
            <a:endParaRPr lang="en-US"/>
          </a:p>
        </p:txBody>
      </p:sp>
      <p:sp>
        <p:nvSpPr>
          <p:cNvPr id="14" name="Text 12"/>
          <p:cNvSpPr/>
          <p:nvPr/>
        </p:nvSpPr>
        <p:spPr>
          <a:xfrm>
            <a:off x="777240" y="4041648"/>
            <a:ext cx="627278" cy="310896"/>
          </a:xfrm>
          <a:prstGeom prst="rect">
            <a:avLst/>
          </a:prstGeom>
          <a:noFill/>
          <a:ln/>
        </p:spPr>
        <p:txBody>
          <a:bodyPr wrap="square" lIns="0" tIns="0" rIns="0" bIns="0" rtlCol="0" anchor="ctr"/>
          <a:lstStyle/>
          <a:p>
            <a:pPr marL="0" indent="0" algn="ctr">
              <a:buNone/>
            </a:pPr>
            <a:r>
              <a:rPr lang="en-US" sz="1050" b="1" dirty="0">
                <a:solidFill>
                  <a:srgbClr val="334155"/>
                </a:solidFill>
                <a:latin typeface="Calibri" pitchFamily="34" charset="0"/>
                <a:ea typeface="Calibri" pitchFamily="34" charset="-122"/>
                <a:cs typeface="Calibri" pitchFamily="34" charset="-120"/>
              </a:rPr>
              <a:t>Contact</a:t>
            </a:r>
            <a:endParaRPr lang="en-US" sz="1050" dirty="0"/>
          </a:p>
        </p:txBody>
      </p:sp>
      <p:sp>
        <p:nvSpPr>
          <p:cNvPr id="15" name="Text 13"/>
          <p:cNvSpPr/>
          <p:nvPr/>
        </p:nvSpPr>
        <p:spPr>
          <a:xfrm>
            <a:off x="1404518" y="4041648"/>
            <a:ext cx="274320" cy="310896"/>
          </a:xfrm>
          <a:prstGeom prst="rect">
            <a:avLst/>
          </a:prstGeom>
          <a:noFill/>
          <a:ln/>
        </p:spPr>
        <p:txBody>
          <a:bodyPr wrap="square" lIns="0" tIns="0" rIns="0" bIns="0" rtlCol="0" anchor="ctr"/>
          <a:lstStyle/>
          <a:p>
            <a:pPr marL="0" indent="0" algn="ctr">
              <a:buNone/>
            </a:pPr>
            <a:r>
              <a:rPr lang="en-US" sz="1300" b="1" dirty="0">
                <a:solidFill>
                  <a:srgbClr val="E2E8F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1678838" y="4041648"/>
            <a:ext cx="627278" cy="310896"/>
          </a:xfrm>
          <a:prstGeom prst="roundRect">
            <a:avLst>
              <a:gd name="adj" fmla="val 17647"/>
            </a:avLst>
          </a:prstGeom>
          <a:solidFill>
            <a:srgbClr val="FFFFFF"/>
          </a:solidFill>
          <a:ln w="12700">
            <a:solidFill>
              <a:srgbClr val="E2E8F0"/>
            </a:solidFill>
            <a:prstDash val="solid"/>
          </a:ln>
        </p:spPr>
        <p:txBody>
          <a:bodyPr/>
          <a:lstStyle/>
          <a:p>
            <a:endParaRPr lang="en-US"/>
          </a:p>
        </p:txBody>
      </p:sp>
      <p:sp>
        <p:nvSpPr>
          <p:cNvPr id="17" name="Text 15"/>
          <p:cNvSpPr/>
          <p:nvPr/>
        </p:nvSpPr>
        <p:spPr>
          <a:xfrm>
            <a:off x="1678838" y="4041648"/>
            <a:ext cx="627278" cy="310896"/>
          </a:xfrm>
          <a:prstGeom prst="rect">
            <a:avLst/>
          </a:prstGeom>
          <a:noFill/>
          <a:ln/>
        </p:spPr>
        <p:txBody>
          <a:bodyPr wrap="square" lIns="0" tIns="0" rIns="0" bIns="0" rtlCol="0" anchor="ctr"/>
          <a:lstStyle/>
          <a:p>
            <a:pPr marL="0" indent="0" algn="ctr">
              <a:buNone/>
            </a:pPr>
            <a:r>
              <a:rPr lang="en-US" sz="1050" b="1" dirty="0">
                <a:solidFill>
                  <a:srgbClr val="334155"/>
                </a:solidFill>
                <a:latin typeface="Calibri" pitchFamily="34" charset="0"/>
                <a:ea typeface="Calibri" pitchFamily="34" charset="-122"/>
                <a:cs typeface="Calibri" pitchFamily="34" charset="-120"/>
              </a:rPr>
              <a:t>Company</a:t>
            </a:r>
            <a:endParaRPr lang="en-US" sz="1050" dirty="0"/>
          </a:p>
        </p:txBody>
      </p:sp>
      <p:sp>
        <p:nvSpPr>
          <p:cNvPr id="18" name="Text 16"/>
          <p:cNvSpPr/>
          <p:nvPr/>
        </p:nvSpPr>
        <p:spPr>
          <a:xfrm>
            <a:off x="2306117" y="4041648"/>
            <a:ext cx="274320" cy="310896"/>
          </a:xfrm>
          <a:prstGeom prst="rect">
            <a:avLst/>
          </a:prstGeom>
          <a:noFill/>
          <a:ln/>
        </p:spPr>
        <p:txBody>
          <a:bodyPr wrap="square" lIns="0" tIns="0" rIns="0" bIns="0" rtlCol="0" anchor="ctr"/>
          <a:lstStyle/>
          <a:p>
            <a:pPr marL="0" indent="0" algn="ctr">
              <a:buNone/>
            </a:pPr>
            <a:r>
              <a:rPr lang="en-US" sz="1300" b="1" dirty="0">
                <a:solidFill>
                  <a:srgbClr val="E2E8F0"/>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2580437" y="4041648"/>
            <a:ext cx="413309" cy="310896"/>
          </a:xfrm>
          <a:prstGeom prst="roundRect">
            <a:avLst>
              <a:gd name="adj" fmla="val 17647"/>
            </a:avLst>
          </a:prstGeom>
          <a:solidFill>
            <a:srgbClr val="FFFFFF"/>
          </a:solidFill>
          <a:ln w="12700">
            <a:solidFill>
              <a:srgbClr val="E2E8F0"/>
            </a:solidFill>
            <a:prstDash val="solid"/>
          </a:ln>
        </p:spPr>
        <p:txBody>
          <a:bodyPr/>
          <a:lstStyle/>
          <a:p>
            <a:endParaRPr lang="en-US"/>
          </a:p>
        </p:txBody>
      </p:sp>
      <p:sp>
        <p:nvSpPr>
          <p:cNvPr id="20" name="Text 18"/>
          <p:cNvSpPr/>
          <p:nvPr/>
        </p:nvSpPr>
        <p:spPr>
          <a:xfrm>
            <a:off x="2580437" y="4041648"/>
            <a:ext cx="413309" cy="310896"/>
          </a:xfrm>
          <a:prstGeom prst="rect">
            <a:avLst/>
          </a:prstGeom>
          <a:noFill/>
          <a:ln/>
        </p:spPr>
        <p:txBody>
          <a:bodyPr wrap="square" lIns="0" tIns="0" rIns="0" bIns="0" rtlCol="0" anchor="ctr"/>
          <a:lstStyle/>
          <a:p>
            <a:pPr marL="0" indent="0" algn="ctr">
              <a:buNone/>
            </a:pPr>
            <a:r>
              <a:rPr lang="en-US" sz="1050" b="1" dirty="0">
                <a:solidFill>
                  <a:srgbClr val="334155"/>
                </a:solidFill>
                <a:latin typeface="Calibri" pitchFamily="34" charset="0"/>
                <a:ea typeface="Calibri" pitchFamily="34" charset="-122"/>
                <a:cs typeface="Calibri" pitchFamily="34" charset="-120"/>
              </a:rPr>
              <a:t>Deal</a:t>
            </a:r>
            <a:endParaRPr lang="en-US" sz="1050" dirty="0"/>
          </a:p>
        </p:txBody>
      </p:sp>
      <p:sp>
        <p:nvSpPr>
          <p:cNvPr id="21" name="Text 19"/>
          <p:cNvSpPr/>
          <p:nvPr/>
        </p:nvSpPr>
        <p:spPr>
          <a:xfrm>
            <a:off x="2993746" y="4041648"/>
            <a:ext cx="274320" cy="310896"/>
          </a:xfrm>
          <a:prstGeom prst="rect">
            <a:avLst/>
          </a:prstGeom>
          <a:noFill/>
          <a:ln/>
        </p:spPr>
        <p:txBody>
          <a:bodyPr wrap="square" lIns="0" tIns="0" rIns="0" bIns="0" rtlCol="0" anchor="ctr"/>
          <a:lstStyle/>
          <a:p>
            <a:pPr marL="0" indent="0" algn="ctr">
              <a:buNone/>
            </a:pPr>
            <a:r>
              <a:rPr lang="en-US" sz="1300" b="1" dirty="0">
                <a:solidFill>
                  <a:srgbClr val="E2E8F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3268066" y="4041648"/>
            <a:ext cx="698602" cy="310896"/>
          </a:xfrm>
          <a:prstGeom prst="roundRect">
            <a:avLst>
              <a:gd name="adj" fmla="val 17647"/>
            </a:avLst>
          </a:prstGeom>
          <a:solidFill>
            <a:srgbClr val="FFFFFF"/>
          </a:solidFill>
          <a:ln w="12700">
            <a:solidFill>
              <a:srgbClr val="E2E8F0"/>
            </a:solidFill>
            <a:prstDash val="solid"/>
          </a:ln>
        </p:spPr>
        <p:txBody>
          <a:bodyPr/>
          <a:lstStyle/>
          <a:p>
            <a:endParaRPr lang="en-US"/>
          </a:p>
        </p:txBody>
      </p:sp>
      <p:sp>
        <p:nvSpPr>
          <p:cNvPr id="23" name="Text 21"/>
          <p:cNvSpPr/>
          <p:nvPr/>
        </p:nvSpPr>
        <p:spPr>
          <a:xfrm>
            <a:off x="3268066" y="4041648"/>
            <a:ext cx="698602" cy="310896"/>
          </a:xfrm>
          <a:prstGeom prst="rect">
            <a:avLst/>
          </a:prstGeom>
          <a:noFill/>
          <a:ln/>
        </p:spPr>
        <p:txBody>
          <a:bodyPr wrap="square" lIns="0" tIns="0" rIns="0" bIns="0" rtlCol="0" anchor="ctr"/>
          <a:lstStyle/>
          <a:p>
            <a:pPr marL="0" indent="0" algn="ctr">
              <a:buNone/>
            </a:pPr>
            <a:r>
              <a:rPr lang="en-US" sz="1050" b="1" dirty="0">
                <a:solidFill>
                  <a:srgbClr val="334155"/>
                </a:solidFill>
                <a:latin typeface="Calibri" pitchFamily="34" charset="0"/>
                <a:ea typeface="Calibri" pitchFamily="34" charset="-122"/>
                <a:cs typeface="Calibri" pitchFamily="34" charset="-120"/>
              </a:rPr>
              <a:t>Activity</a:t>
            </a:r>
            <a:endParaRPr lang="en-US" sz="1050" dirty="0"/>
          </a:p>
        </p:txBody>
      </p:sp>
      <p:sp>
        <p:nvSpPr>
          <p:cNvPr id="24" name="Text 22"/>
          <p:cNvSpPr/>
          <p:nvPr/>
        </p:nvSpPr>
        <p:spPr>
          <a:xfrm>
            <a:off x="3966667" y="4041648"/>
            <a:ext cx="274320" cy="310896"/>
          </a:xfrm>
          <a:prstGeom prst="rect">
            <a:avLst/>
          </a:prstGeom>
          <a:noFill/>
          <a:ln/>
        </p:spPr>
        <p:txBody>
          <a:bodyPr wrap="square" lIns="0" tIns="0" rIns="0" bIns="0" rtlCol="0" anchor="ctr"/>
          <a:lstStyle/>
          <a:p>
            <a:pPr marL="0" indent="0" algn="ctr">
              <a:buNone/>
            </a:pPr>
            <a:r>
              <a:rPr lang="en-US" sz="1300" b="1" dirty="0">
                <a:solidFill>
                  <a:srgbClr val="E2E8F0"/>
                </a:solidFill>
                <a:latin typeface="Calibri" pitchFamily="34" charset="0"/>
                <a:ea typeface="Calibri" pitchFamily="34" charset="-122"/>
                <a:cs typeface="Calibri" pitchFamily="34" charset="-120"/>
              </a:rPr>
              <a:t>›</a:t>
            </a:r>
            <a:endParaRPr lang="en-US" sz="1300" dirty="0"/>
          </a:p>
        </p:txBody>
      </p:sp>
      <p:sp>
        <p:nvSpPr>
          <p:cNvPr id="25" name="Shape 23"/>
          <p:cNvSpPr/>
          <p:nvPr/>
        </p:nvSpPr>
        <p:spPr>
          <a:xfrm>
            <a:off x="4240987" y="4041648"/>
            <a:ext cx="698602" cy="310896"/>
          </a:xfrm>
          <a:prstGeom prst="roundRect">
            <a:avLst>
              <a:gd name="adj" fmla="val 17647"/>
            </a:avLst>
          </a:prstGeom>
          <a:solidFill>
            <a:srgbClr val="FFFFFF"/>
          </a:solidFill>
          <a:ln w="12700">
            <a:solidFill>
              <a:srgbClr val="E2E8F0"/>
            </a:solidFill>
            <a:prstDash val="solid"/>
          </a:ln>
        </p:spPr>
        <p:txBody>
          <a:bodyPr/>
          <a:lstStyle/>
          <a:p>
            <a:endParaRPr lang="en-US"/>
          </a:p>
        </p:txBody>
      </p:sp>
      <p:sp>
        <p:nvSpPr>
          <p:cNvPr id="26" name="Text 24"/>
          <p:cNvSpPr/>
          <p:nvPr/>
        </p:nvSpPr>
        <p:spPr>
          <a:xfrm>
            <a:off x="4240987" y="4041648"/>
            <a:ext cx="698602" cy="310896"/>
          </a:xfrm>
          <a:prstGeom prst="rect">
            <a:avLst/>
          </a:prstGeom>
          <a:noFill/>
          <a:ln/>
        </p:spPr>
        <p:txBody>
          <a:bodyPr wrap="square" lIns="0" tIns="0" rIns="0" bIns="0" rtlCol="0" anchor="ctr"/>
          <a:lstStyle/>
          <a:p>
            <a:pPr marL="0" indent="0" algn="ctr">
              <a:buNone/>
            </a:pPr>
            <a:r>
              <a:rPr lang="en-US" sz="1050" b="1" dirty="0">
                <a:solidFill>
                  <a:srgbClr val="334155"/>
                </a:solidFill>
                <a:latin typeface="Calibri" pitchFamily="34" charset="0"/>
                <a:ea typeface="Calibri" pitchFamily="34" charset="-122"/>
                <a:cs typeface="Calibri" pitchFamily="34" charset="-120"/>
              </a:rPr>
              <a:t>Pipeline</a:t>
            </a:r>
            <a:endParaRPr lang="en-US" sz="1050" dirty="0"/>
          </a:p>
        </p:txBody>
      </p:sp>
      <p:sp>
        <p:nvSpPr>
          <p:cNvPr id="27" name="Shape 25"/>
          <p:cNvSpPr/>
          <p:nvPr/>
        </p:nvSpPr>
        <p:spPr>
          <a:xfrm>
            <a:off x="502920" y="4800600"/>
            <a:ext cx="11185855" cy="1508760"/>
          </a:xfrm>
          <a:prstGeom prst="roundRect">
            <a:avLst>
              <a:gd name="adj" fmla="val 6061"/>
            </a:avLst>
          </a:prstGeom>
          <a:solidFill>
            <a:srgbClr val="10B981"/>
          </a:solidFill>
          <a:ln w="12700">
            <a:solidFill>
              <a:srgbClr val="D1FAE5"/>
            </a:solidFill>
            <a:prstDash val="solid"/>
          </a:ln>
        </p:spPr>
        <p:txBody>
          <a:bodyPr/>
          <a:lstStyle/>
          <a:p>
            <a:endParaRPr lang="en-US"/>
          </a:p>
        </p:txBody>
      </p:sp>
      <p:sp>
        <p:nvSpPr>
          <p:cNvPr id="28" name="Text 26"/>
          <p:cNvSpPr/>
          <p:nvPr/>
        </p:nvSpPr>
        <p:spPr>
          <a:xfrm>
            <a:off x="777240" y="4937760"/>
            <a:ext cx="7315200" cy="256032"/>
          </a:xfrm>
          <a:prstGeom prst="rect">
            <a:avLst/>
          </a:prstGeom>
          <a:noFill/>
          <a:ln/>
        </p:spPr>
        <p:txBody>
          <a:bodyPr wrap="square" lIns="0" tIns="0" rIns="0" bIns="0" rtlCol="0" anchor="ctr"/>
          <a:lstStyle/>
          <a:p>
            <a:pPr marL="0" indent="0">
              <a:buNone/>
            </a:pPr>
            <a:r>
              <a:rPr lang="en-US" sz="1100" b="1" kern="0" spc="120" dirty="0">
                <a:solidFill>
                  <a:schemeClr val="bg1"/>
                </a:solidFill>
                <a:latin typeface="Calibri" pitchFamily="34" charset="0"/>
                <a:ea typeface="Calibri" pitchFamily="34" charset="-122"/>
                <a:cs typeface="Calibri" pitchFamily="34" charset="-120"/>
              </a:rPr>
              <a:t>EXPOLEAD IS EXHIBITION-CENTRIC</a:t>
            </a:r>
            <a:endParaRPr lang="en-US" sz="1100" dirty="0">
              <a:solidFill>
                <a:schemeClr val="bg1"/>
              </a:solidFill>
            </a:endParaRPr>
          </a:p>
        </p:txBody>
      </p:sp>
      <p:sp>
        <p:nvSpPr>
          <p:cNvPr id="29" name="Shape 27"/>
          <p:cNvSpPr/>
          <p:nvPr/>
        </p:nvSpPr>
        <p:spPr>
          <a:xfrm>
            <a:off x="777240" y="5303520"/>
            <a:ext cx="841248" cy="310896"/>
          </a:xfrm>
          <a:prstGeom prst="roundRect">
            <a:avLst>
              <a:gd name="adj" fmla="val 17647"/>
            </a:avLst>
          </a:prstGeom>
          <a:solidFill>
            <a:srgbClr val="FFFFFF"/>
          </a:solidFill>
          <a:ln w="12700">
            <a:solidFill>
              <a:srgbClr val="D1FAE5"/>
            </a:solidFill>
            <a:prstDash val="solid"/>
          </a:ln>
        </p:spPr>
        <p:txBody>
          <a:bodyPr/>
          <a:lstStyle/>
          <a:p>
            <a:endParaRPr lang="en-US"/>
          </a:p>
        </p:txBody>
      </p:sp>
      <p:sp>
        <p:nvSpPr>
          <p:cNvPr id="30" name="Text 28"/>
          <p:cNvSpPr/>
          <p:nvPr/>
        </p:nvSpPr>
        <p:spPr>
          <a:xfrm>
            <a:off x="777240" y="5303520"/>
            <a:ext cx="841248" cy="310896"/>
          </a:xfrm>
          <a:prstGeom prst="rect">
            <a:avLst/>
          </a:prstGeom>
          <a:noFill/>
          <a:ln/>
        </p:spPr>
        <p:txBody>
          <a:bodyPr wrap="square" lIns="0" tIns="0" rIns="0" bIns="0" rtlCol="0" anchor="ctr"/>
          <a:lstStyle/>
          <a:p>
            <a:pPr marL="0" indent="0" algn="ctr">
              <a:buNone/>
            </a:pPr>
            <a:r>
              <a:rPr lang="en-US" sz="1050" b="1" dirty="0">
                <a:solidFill>
                  <a:srgbClr val="047857"/>
                </a:solidFill>
                <a:latin typeface="Calibri" pitchFamily="34" charset="0"/>
                <a:ea typeface="Calibri" pitchFamily="34" charset="-122"/>
                <a:cs typeface="Calibri" pitchFamily="34" charset="-120"/>
              </a:rPr>
              <a:t>Exhibition</a:t>
            </a:r>
            <a:endParaRPr lang="en-US" sz="1050" dirty="0"/>
          </a:p>
        </p:txBody>
      </p:sp>
      <p:sp>
        <p:nvSpPr>
          <p:cNvPr id="31" name="Text 29"/>
          <p:cNvSpPr/>
          <p:nvPr/>
        </p:nvSpPr>
        <p:spPr>
          <a:xfrm>
            <a:off x="1618488" y="5303520"/>
            <a:ext cx="274320" cy="310896"/>
          </a:xfrm>
          <a:prstGeom prst="rect">
            <a:avLst/>
          </a:prstGeom>
          <a:noFill/>
          <a:ln/>
        </p:spPr>
        <p:txBody>
          <a:bodyPr wrap="square" lIns="0" tIns="0" rIns="0" bIns="0" rtlCol="0" anchor="ctr"/>
          <a:lstStyle/>
          <a:p>
            <a:pPr marL="0" indent="0" algn="ctr">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32" name="Shape 30"/>
          <p:cNvSpPr/>
          <p:nvPr/>
        </p:nvSpPr>
        <p:spPr>
          <a:xfrm>
            <a:off x="1892808" y="5303520"/>
            <a:ext cx="555955" cy="310896"/>
          </a:xfrm>
          <a:prstGeom prst="roundRect">
            <a:avLst>
              <a:gd name="adj" fmla="val 17647"/>
            </a:avLst>
          </a:prstGeom>
          <a:solidFill>
            <a:srgbClr val="FFFFFF"/>
          </a:solidFill>
          <a:ln w="12700">
            <a:solidFill>
              <a:srgbClr val="D1FAE5"/>
            </a:solidFill>
            <a:prstDash val="solid"/>
          </a:ln>
        </p:spPr>
        <p:txBody>
          <a:bodyPr/>
          <a:lstStyle/>
          <a:p>
            <a:endParaRPr lang="en-US"/>
          </a:p>
        </p:txBody>
      </p:sp>
      <p:sp>
        <p:nvSpPr>
          <p:cNvPr id="33" name="Text 31"/>
          <p:cNvSpPr/>
          <p:nvPr/>
        </p:nvSpPr>
        <p:spPr>
          <a:xfrm>
            <a:off x="1892808" y="5303520"/>
            <a:ext cx="555955" cy="310896"/>
          </a:xfrm>
          <a:prstGeom prst="rect">
            <a:avLst/>
          </a:prstGeom>
          <a:noFill/>
          <a:ln/>
        </p:spPr>
        <p:txBody>
          <a:bodyPr wrap="square" lIns="0" tIns="0" rIns="0" bIns="0" rtlCol="0" anchor="ctr"/>
          <a:lstStyle/>
          <a:p>
            <a:pPr marL="0" indent="0" algn="ctr">
              <a:buNone/>
            </a:pPr>
            <a:r>
              <a:rPr lang="en-US" sz="1050" b="1" dirty="0">
                <a:solidFill>
                  <a:srgbClr val="047857"/>
                </a:solidFill>
                <a:latin typeface="Calibri" pitchFamily="34" charset="0"/>
                <a:ea typeface="Calibri" pitchFamily="34" charset="-122"/>
                <a:cs typeface="Calibri" pitchFamily="34" charset="-120"/>
              </a:rPr>
              <a:t>Target</a:t>
            </a:r>
            <a:endParaRPr lang="en-US" sz="1050" dirty="0"/>
          </a:p>
        </p:txBody>
      </p:sp>
      <p:sp>
        <p:nvSpPr>
          <p:cNvPr id="34" name="Text 32"/>
          <p:cNvSpPr/>
          <p:nvPr/>
        </p:nvSpPr>
        <p:spPr>
          <a:xfrm>
            <a:off x="2448763" y="5303520"/>
            <a:ext cx="274320" cy="310896"/>
          </a:xfrm>
          <a:prstGeom prst="rect">
            <a:avLst/>
          </a:prstGeom>
          <a:noFill/>
          <a:ln/>
        </p:spPr>
        <p:txBody>
          <a:bodyPr wrap="square" lIns="0" tIns="0" rIns="0" bIns="0" rtlCol="0" anchor="ctr"/>
          <a:lstStyle/>
          <a:p>
            <a:pPr marL="0" indent="0" algn="ctr">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35" name="Shape 33"/>
          <p:cNvSpPr/>
          <p:nvPr/>
        </p:nvSpPr>
        <p:spPr>
          <a:xfrm>
            <a:off x="2723083" y="5303520"/>
            <a:ext cx="484632" cy="310896"/>
          </a:xfrm>
          <a:prstGeom prst="roundRect">
            <a:avLst>
              <a:gd name="adj" fmla="val 17647"/>
            </a:avLst>
          </a:prstGeom>
          <a:solidFill>
            <a:srgbClr val="FFFFFF"/>
          </a:solidFill>
          <a:ln w="12700">
            <a:solidFill>
              <a:srgbClr val="D1FAE5"/>
            </a:solidFill>
            <a:prstDash val="solid"/>
          </a:ln>
        </p:spPr>
        <p:txBody>
          <a:bodyPr/>
          <a:lstStyle/>
          <a:p>
            <a:endParaRPr lang="en-US"/>
          </a:p>
        </p:txBody>
      </p:sp>
      <p:sp>
        <p:nvSpPr>
          <p:cNvPr id="36" name="Text 34"/>
          <p:cNvSpPr/>
          <p:nvPr/>
        </p:nvSpPr>
        <p:spPr>
          <a:xfrm>
            <a:off x="2723083" y="5303520"/>
            <a:ext cx="484632" cy="310896"/>
          </a:xfrm>
          <a:prstGeom prst="rect">
            <a:avLst/>
          </a:prstGeom>
          <a:noFill/>
          <a:ln/>
        </p:spPr>
        <p:txBody>
          <a:bodyPr wrap="square" lIns="0" tIns="0" rIns="0" bIns="0" rtlCol="0" anchor="ctr"/>
          <a:lstStyle/>
          <a:p>
            <a:pPr marL="0" indent="0" algn="ctr">
              <a:buNone/>
            </a:pPr>
            <a:r>
              <a:rPr lang="en-US" sz="1050" b="1" dirty="0">
                <a:solidFill>
                  <a:srgbClr val="047857"/>
                </a:solidFill>
                <a:latin typeface="Calibri" pitchFamily="34" charset="0"/>
                <a:ea typeface="Calibri" pitchFamily="34" charset="-122"/>
                <a:cs typeface="Calibri" pitchFamily="34" charset="-120"/>
              </a:rPr>
              <a:t>Booth</a:t>
            </a:r>
            <a:endParaRPr lang="en-US" sz="1050" dirty="0"/>
          </a:p>
        </p:txBody>
      </p:sp>
      <p:sp>
        <p:nvSpPr>
          <p:cNvPr id="37" name="Text 35"/>
          <p:cNvSpPr/>
          <p:nvPr/>
        </p:nvSpPr>
        <p:spPr>
          <a:xfrm>
            <a:off x="3207715" y="5303520"/>
            <a:ext cx="274320" cy="310896"/>
          </a:xfrm>
          <a:prstGeom prst="rect">
            <a:avLst/>
          </a:prstGeom>
          <a:noFill/>
          <a:ln/>
        </p:spPr>
        <p:txBody>
          <a:bodyPr wrap="square" lIns="0" tIns="0" rIns="0" bIns="0" rtlCol="0" anchor="ctr"/>
          <a:lstStyle/>
          <a:p>
            <a:pPr marL="0" indent="0" algn="ctr">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38" name="Shape 36"/>
          <p:cNvSpPr/>
          <p:nvPr/>
        </p:nvSpPr>
        <p:spPr>
          <a:xfrm>
            <a:off x="3482035" y="5303520"/>
            <a:ext cx="555955" cy="310896"/>
          </a:xfrm>
          <a:prstGeom prst="roundRect">
            <a:avLst>
              <a:gd name="adj" fmla="val 17647"/>
            </a:avLst>
          </a:prstGeom>
          <a:solidFill>
            <a:srgbClr val="FFFFFF"/>
          </a:solidFill>
          <a:ln w="12700">
            <a:solidFill>
              <a:srgbClr val="D1FAE5"/>
            </a:solidFill>
            <a:prstDash val="solid"/>
          </a:ln>
        </p:spPr>
        <p:txBody>
          <a:bodyPr/>
          <a:lstStyle/>
          <a:p>
            <a:endParaRPr lang="en-US"/>
          </a:p>
        </p:txBody>
      </p:sp>
      <p:sp>
        <p:nvSpPr>
          <p:cNvPr id="39" name="Text 37"/>
          <p:cNvSpPr/>
          <p:nvPr/>
        </p:nvSpPr>
        <p:spPr>
          <a:xfrm>
            <a:off x="3482035" y="5303520"/>
            <a:ext cx="555955" cy="310896"/>
          </a:xfrm>
          <a:prstGeom prst="rect">
            <a:avLst/>
          </a:prstGeom>
          <a:noFill/>
          <a:ln/>
        </p:spPr>
        <p:txBody>
          <a:bodyPr wrap="square" lIns="0" tIns="0" rIns="0" bIns="0" rtlCol="0" anchor="ctr"/>
          <a:lstStyle/>
          <a:p>
            <a:pPr marL="0" indent="0" algn="ctr">
              <a:buNone/>
            </a:pPr>
            <a:r>
              <a:rPr lang="en-US" sz="1050" b="1" dirty="0">
                <a:solidFill>
                  <a:srgbClr val="047857"/>
                </a:solidFill>
                <a:latin typeface="Calibri" pitchFamily="34" charset="0"/>
                <a:ea typeface="Calibri" pitchFamily="34" charset="-122"/>
                <a:cs typeface="Calibri" pitchFamily="34" charset="-120"/>
              </a:rPr>
              <a:t>Person</a:t>
            </a:r>
            <a:endParaRPr lang="en-US" sz="1050" dirty="0"/>
          </a:p>
        </p:txBody>
      </p:sp>
      <p:sp>
        <p:nvSpPr>
          <p:cNvPr id="40" name="Text 38"/>
          <p:cNvSpPr/>
          <p:nvPr/>
        </p:nvSpPr>
        <p:spPr>
          <a:xfrm>
            <a:off x="4037990" y="5303520"/>
            <a:ext cx="274320" cy="310896"/>
          </a:xfrm>
          <a:prstGeom prst="rect">
            <a:avLst/>
          </a:prstGeom>
          <a:noFill/>
          <a:ln/>
        </p:spPr>
        <p:txBody>
          <a:bodyPr wrap="square" lIns="0" tIns="0" rIns="0" bIns="0" rtlCol="0" anchor="ctr"/>
          <a:lstStyle/>
          <a:p>
            <a:pPr marL="0" indent="0" algn="ctr">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41" name="Shape 39"/>
          <p:cNvSpPr/>
          <p:nvPr/>
        </p:nvSpPr>
        <p:spPr>
          <a:xfrm>
            <a:off x="4312310" y="5303520"/>
            <a:ext cx="983894" cy="310896"/>
          </a:xfrm>
          <a:prstGeom prst="roundRect">
            <a:avLst>
              <a:gd name="adj" fmla="val 17647"/>
            </a:avLst>
          </a:prstGeom>
          <a:solidFill>
            <a:srgbClr val="FFFFFF"/>
          </a:solidFill>
          <a:ln w="12700">
            <a:solidFill>
              <a:srgbClr val="D1FAE5"/>
            </a:solidFill>
            <a:prstDash val="solid"/>
          </a:ln>
        </p:spPr>
        <p:txBody>
          <a:bodyPr/>
          <a:lstStyle/>
          <a:p>
            <a:endParaRPr lang="en-US"/>
          </a:p>
        </p:txBody>
      </p:sp>
      <p:sp>
        <p:nvSpPr>
          <p:cNvPr id="42" name="Text 40"/>
          <p:cNvSpPr/>
          <p:nvPr/>
        </p:nvSpPr>
        <p:spPr>
          <a:xfrm>
            <a:off x="4312310" y="5303520"/>
            <a:ext cx="983894" cy="310896"/>
          </a:xfrm>
          <a:prstGeom prst="rect">
            <a:avLst/>
          </a:prstGeom>
          <a:noFill/>
          <a:ln/>
        </p:spPr>
        <p:txBody>
          <a:bodyPr wrap="square" lIns="0" tIns="0" rIns="0" bIns="0" rtlCol="0" anchor="ctr"/>
          <a:lstStyle/>
          <a:p>
            <a:pPr marL="0" indent="0" algn="ctr">
              <a:buNone/>
            </a:pPr>
            <a:r>
              <a:rPr lang="en-US" sz="1050" b="1" dirty="0">
                <a:solidFill>
                  <a:srgbClr val="047857"/>
                </a:solidFill>
                <a:latin typeface="Calibri" pitchFamily="34" charset="0"/>
                <a:ea typeface="Calibri" pitchFamily="34" charset="-122"/>
                <a:cs typeface="Calibri" pitchFamily="34" charset="-120"/>
              </a:rPr>
              <a:t>Conversation</a:t>
            </a:r>
            <a:endParaRPr lang="en-US" sz="1050" dirty="0"/>
          </a:p>
        </p:txBody>
      </p:sp>
      <p:sp>
        <p:nvSpPr>
          <p:cNvPr id="43" name="Text 41"/>
          <p:cNvSpPr/>
          <p:nvPr/>
        </p:nvSpPr>
        <p:spPr>
          <a:xfrm>
            <a:off x="5296205" y="5303520"/>
            <a:ext cx="274320" cy="310896"/>
          </a:xfrm>
          <a:prstGeom prst="rect">
            <a:avLst/>
          </a:prstGeom>
          <a:noFill/>
          <a:ln/>
        </p:spPr>
        <p:txBody>
          <a:bodyPr wrap="square" lIns="0" tIns="0" rIns="0" bIns="0" rtlCol="0" anchor="ctr"/>
          <a:lstStyle/>
          <a:p>
            <a:pPr marL="0" indent="0" algn="ctr">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44" name="Shape 42"/>
          <p:cNvSpPr/>
          <p:nvPr/>
        </p:nvSpPr>
        <p:spPr>
          <a:xfrm>
            <a:off x="5570525" y="5303520"/>
            <a:ext cx="1126541" cy="310896"/>
          </a:xfrm>
          <a:prstGeom prst="roundRect">
            <a:avLst>
              <a:gd name="adj" fmla="val 17647"/>
            </a:avLst>
          </a:prstGeom>
          <a:solidFill>
            <a:srgbClr val="FFFFFF"/>
          </a:solidFill>
          <a:ln w="12700">
            <a:solidFill>
              <a:srgbClr val="D1FAE5"/>
            </a:solidFill>
            <a:prstDash val="solid"/>
          </a:ln>
        </p:spPr>
        <p:txBody>
          <a:bodyPr/>
          <a:lstStyle/>
          <a:p>
            <a:endParaRPr lang="en-US"/>
          </a:p>
        </p:txBody>
      </p:sp>
      <p:sp>
        <p:nvSpPr>
          <p:cNvPr id="45" name="Text 43"/>
          <p:cNvSpPr/>
          <p:nvPr/>
        </p:nvSpPr>
        <p:spPr>
          <a:xfrm>
            <a:off x="5570525" y="5303520"/>
            <a:ext cx="1126541" cy="310896"/>
          </a:xfrm>
          <a:prstGeom prst="rect">
            <a:avLst/>
          </a:prstGeom>
          <a:noFill/>
          <a:ln/>
        </p:spPr>
        <p:txBody>
          <a:bodyPr wrap="square" lIns="0" tIns="0" rIns="0" bIns="0" rtlCol="0" anchor="ctr"/>
          <a:lstStyle/>
          <a:p>
            <a:pPr marL="0" indent="0" algn="ctr">
              <a:buNone/>
            </a:pPr>
            <a:r>
              <a:rPr lang="en-US" sz="1050" b="1" dirty="0">
                <a:solidFill>
                  <a:srgbClr val="047857"/>
                </a:solidFill>
                <a:latin typeface="Calibri" pitchFamily="34" charset="0"/>
                <a:ea typeface="Calibri" pitchFamily="34" charset="-122"/>
                <a:cs typeface="Calibri" pitchFamily="34" charset="-120"/>
              </a:rPr>
              <a:t>Product / need</a:t>
            </a:r>
            <a:endParaRPr lang="en-US" sz="1050" dirty="0"/>
          </a:p>
        </p:txBody>
      </p:sp>
      <p:sp>
        <p:nvSpPr>
          <p:cNvPr id="46" name="Shape 44"/>
          <p:cNvSpPr/>
          <p:nvPr/>
        </p:nvSpPr>
        <p:spPr>
          <a:xfrm>
            <a:off x="777240" y="5742432"/>
            <a:ext cx="912571" cy="310896"/>
          </a:xfrm>
          <a:prstGeom prst="roundRect">
            <a:avLst>
              <a:gd name="adj" fmla="val 17647"/>
            </a:avLst>
          </a:prstGeom>
          <a:solidFill>
            <a:srgbClr val="FFFFFF"/>
          </a:solidFill>
          <a:ln w="12700">
            <a:solidFill>
              <a:srgbClr val="D1FAE5"/>
            </a:solidFill>
            <a:prstDash val="solid"/>
          </a:ln>
        </p:spPr>
        <p:txBody>
          <a:bodyPr/>
          <a:lstStyle/>
          <a:p>
            <a:endParaRPr lang="en-US"/>
          </a:p>
        </p:txBody>
      </p:sp>
      <p:sp>
        <p:nvSpPr>
          <p:cNvPr id="47" name="Text 45"/>
          <p:cNvSpPr/>
          <p:nvPr/>
        </p:nvSpPr>
        <p:spPr>
          <a:xfrm>
            <a:off x="777240" y="5742432"/>
            <a:ext cx="912571" cy="310896"/>
          </a:xfrm>
          <a:prstGeom prst="rect">
            <a:avLst/>
          </a:prstGeom>
          <a:noFill/>
          <a:ln/>
        </p:spPr>
        <p:txBody>
          <a:bodyPr wrap="square" lIns="0" tIns="0" rIns="0" bIns="0" rtlCol="0" anchor="ctr"/>
          <a:lstStyle/>
          <a:p>
            <a:pPr marL="0" indent="0" algn="ctr">
              <a:buNone/>
            </a:pPr>
            <a:r>
              <a:rPr lang="en-US" sz="1050" b="1" dirty="0">
                <a:solidFill>
                  <a:srgbClr val="047857"/>
                </a:solidFill>
                <a:latin typeface="Calibri" pitchFamily="34" charset="0"/>
                <a:ea typeface="Calibri" pitchFamily="34" charset="-122"/>
                <a:cs typeface="Calibri" pitchFamily="34" charset="-120"/>
              </a:rPr>
              <a:t>Opportunity</a:t>
            </a:r>
            <a:endParaRPr lang="en-US" sz="1050" dirty="0"/>
          </a:p>
        </p:txBody>
      </p:sp>
      <p:sp>
        <p:nvSpPr>
          <p:cNvPr id="48" name="Text 46"/>
          <p:cNvSpPr/>
          <p:nvPr/>
        </p:nvSpPr>
        <p:spPr>
          <a:xfrm>
            <a:off x="1689811" y="5742432"/>
            <a:ext cx="274320" cy="310896"/>
          </a:xfrm>
          <a:prstGeom prst="rect">
            <a:avLst/>
          </a:prstGeom>
          <a:noFill/>
          <a:ln/>
        </p:spPr>
        <p:txBody>
          <a:bodyPr wrap="square" lIns="0" tIns="0" rIns="0" bIns="0" rtlCol="0" anchor="ctr"/>
          <a:lstStyle/>
          <a:p>
            <a:pPr marL="0" indent="0" algn="ctr">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49" name="Shape 47"/>
          <p:cNvSpPr/>
          <p:nvPr/>
        </p:nvSpPr>
        <p:spPr>
          <a:xfrm>
            <a:off x="1964131" y="5742432"/>
            <a:ext cx="841248" cy="310896"/>
          </a:xfrm>
          <a:prstGeom prst="roundRect">
            <a:avLst>
              <a:gd name="adj" fmla="val 17647"/>
            </a:avLst>
          </a:prstGeom>
          <a:solidFill>
            <a:srgbClr val="FFFFFF"/>
          </a:solidFill>
          <a:ln w="12700">
            <a:solidFill>
              <a:srgbClr val="D1FAE5"/>
            </a:solidFill>
            <a:prstDash val="solid"/>
          </a:ln>
        </p:spPr>
        <p:txBody>
          <a:bodyPr/>
          <a:lstStyle/>
          <a:p>
            <a:endParaRPr lang="en-US"/>
          </a:p>
        </p:txBody>
      </p:sp>
      <p:sp>
        <p:nvSpPr>
          <p:cNvPr id="50" name="Text 48"/>
          <p:cNvSpPr/>
          <p:nvPr/>
        </p:nvSpPr>
        <p:spPr>
          <a:xfrm>
            <a:off x="1964131" y="5742432"/>
            <a:ext cx="841248" cy="310896"/>
          </a:xfrm>
          <a:prstGeom prst="rect">
            <a:avLst/>
          </a:prstGeom>
          <a:noFill/>
          <a:ln/>
        </p:spPr>
        <p:txBody>
          <a:bodyPr wrap="square" lIns="0" tIns="0" rIns="0" bIns="0" rtlCol="0" anchor="ctr"/>
          <a:lstStyle/>
          <a:p>
            <a:pPr marL="0" indent="0" algn="ctr">
              <a:buNone/>
            </a:pPr>
            <a:r>
              <a:rPr lang="en-US" sz="1050" b="1" dirty="0">
                <a:solidFill>
                  <a:srgbClr val="047857"/>
                </a:solidFill>
                <a:latin typeface="Calibri" pitchFamily="34" charset="0"/>
                <a:ea typeface="Calibri" pitchFamily="34" charset="-122"/>
                <a:cs typeface="Calibri" pitchFamily="34" charset="-120"/>
              </a:rPr>
              <a:t>Commitment</a:t>
            </a:r>
            <a:endParaRPr lang="en-US" sz="1050" dirty="0"/>
          </a:p>
        </p:txBody>
      </p:sp>
      <p:sp>
        <p:nvSpPr>
          <p:cNvPr id="51" name="Text 49"/>
          <p:cNvSpPr/>
          <p:nvPr/>
        </p:nvSpPr>
        <p:spPr>
          <a:xfrm>
            <a:off x="2805379" y="5742432"/>
            <a:ext cx="274320" cy="310896"/>
          </a:xfrm>
          <a:prstGeom prst="rect">
            <a:avLst/>
          </a:prstGeom>
          <a:noFill/>
          <a:ln/>
        </p:spPr>
        <p:txBody>
          <a:bodyPr wrap="square" lIns="0" tIns="0" rIns="0" bIns="0" rtlCol="0" anchor="ctr"/>
          <a:lstStyle/>
          <a:p>
            <a:pPr marL="0" indent="0" algn="ctr">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52" name="Shape 50"/>
          <p:cNvSpPr/>
          <p:nvPr/>
        </p:nvSpPr>
        <p:spPr>
          <a:xfrm>
            <a:off x="3079699" y="5742432"/>
            <a:ext cx="769925" cy="310896"/>
          </a:xfrm>
          <a:prstGeom prst="roundRect">
            <a:avLst>
              <a:gd name="adj" fmla="val 17647"/>
            </a:avLst>
          </a:prstGeom>
          <a:solidFill>
            <a:srgbClr val="FFFFFF"/>
          </a:solidFill>
          <a:ln w="12700">
            <a:solidFill>
              <a:srgbClr val="D1FAE5"/>
            </a:solidFill>
            <a:prstDash val="solid"/>
          </a:ln>
        </p:spPr>
        <p:txBody>
          <a:bodyPr/>
          <a:lstStyle/>
          <a:p>
            <a:endParaRPr lang="en-US"/>
          </a:p>
        </p:txBody>
      </p:sp>
      <p:sp>
        <p:nvSpPr>
          <p:cNvPr id="53" name="Text 51"/>
          <p:cNvSpPr/>
          <p:nvPr/>
        </p:nvSpPr>
        <p:spPr>
          <a:xfrm>
            <a:off x="3079699" y="5742432"/>
            <a:ext cx="769925" cy="310896"/>
          </a:xfrm>
          <a:prstGeom prst="rect">
            <a:avLst/>
          </a:prstGeom>
          <a:noFill/>
          <a:ln/>
        </p:spPr>
        <p:txBody>
          <a:bodyPr wrap="square" lIns="0" tIns="0" rIns="0" bIns="0" rtlCol="0" anchor="ctr"/>
          <a:lstStyle/>
          <a:p>
            <a:pPr marL="0" indent="0" algn="ctr">
              <a:buNone/>
            </a:pPr>
            <a:r>
              <a:rPr lang="en-US" sz="1050" b="1" dirty="0">
                <a:solidFill>
                  <a:srgbClr val="047857"/>
                </a:solidFill>
                <a:latin typeface="Calibri" pitchFamily="34" charset="0"/>
                <a:ea typeface="Calibri" pitchFamily="34" charset="-122"/>
                <a:cs typeface="Calibri" pitchFamily="34" charset="-120"/>
              </a:rPr>
              <a:t>Follow-up</a:t>
            </a:r>
            <a:endParaRPr lang="en-US" sz="1050" dirty="0"/>
          </a:p>
        </p:txBody>
      </p:sp>
      <p:sp>
        <p:nvSpPr>
          <p:cNvPr id="54" name="Text 52"/>
          <p:cNvSpPr/>
          <p:nvPr/>
        </p:nvSpPr>
        <p:spPr>
          <a:xfrm>
            <a:off x="3849624" y="5742432"/>
            <a:ext cx="274320" cy="310896"/>
          </a:xfrm>
          <a:prstGeom prst="rect">
            <a:avLst/>
          </a:prstGeom>
          <a:noFill/>
          <a:ln/>
        </p:spPr>
        <p:txBody>
          <a:bodyPr wrap="square" lIns="0" tIns="0" rIns="0" bIns="0" rtlCol="0" anchor="ctr"/>
          <a:lstStyle/>
          <a:p>
            <a:pPr marL="0" indent="0" algn="ctr">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55" name="Shape 53"/>
          <p:cNvSpPr/>
          <p:nvPr/>
        </p:nvSpPr>
        <p:spPr>
          <a:xfrm>
            <a:off x="4123944" y="5742432"/>
            <a:ext cx="627278" cy="310896"/>
          </a:xfrm>
          <a:prstGeom prst="roundRect">
            <a:avLst>
              <a:gd name="adj" fmla="val 17647"/>
            </a:avLst>
          </a:prstGeom>
          <a:solidFill>
            <a:srgbClr val="FFFFFF"/>
          </a:solidFill>
          <a:ln w="12700">
            <a:solidFill>
              <a:srgbClr val="D1FAE5"/>
            </a:solidFill>
            <a:prstDash val="solid"/>
          </a:ln>
        </p:spPr>
        <p:txBody>
          <a:bodyPr/>
          <a:lstStyle/>
          <a:p>
            <a:endParaRPr lang="en-US"/>
          </a:p>
        </p:txBody>
      </p:sp>
      <p:sp>
        <p:nvSpPr>
          <p:cNvPr id="56" name="Text 54"/>
          <p:cNvSpPr/>
          <p:nvPr/>
        </p:nvSpPr>
        <p:spPr>
          <a:xfrm>
            <a:off x="4123944" y="5742432"/>
            <a:ext cx="627278" cy="310896"/>
          </a:xfrm>
          <a:prstGeom prst="rect">
            <a:avLst/>
          </a:prstGeom>
          <a:noFill/>
          <a:ln/>
        </p:spPr>
        <p:txBody>
          <a:bodyPr wrap="square" lIns="0" tIns="0" rIns="0" bIns="0" rtlCol="0" anchor="ctr"/>
          <a:lstStyle/>
          <a:p>
            <a:pPr marL="0" indent="0" algn="ctr">
              <a:buNone/>
            </a:pPr>
            <a:r>
              <a:rPr lang="en-US" sz="1050" b="1" dirty="0">
                <a:solidFill>
                  <a:srgbClr val="047857"/>
                </a:solidFill>
                <a:latin typeface="Calibri" pitchFamily="34" charset="0"/>
                <a:ea typeface="Calibri" pitchFamily="34" charset="-122"/>
                <a:cs typeface="Calibri" pitchFamily="34" charset="-120"/>
              </a:rPr>
              <a:t>Outcome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3" name="Shape 1"/>
          <p:cNvSpPr/>
          <p:nvPr/>
        </p:nvSpPr>
        <p:spPr>
          <a:xfrm>
            <a:off x="644652" y="365760"/>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4" name="Shape 2"/>
          <p:cNvSpPr/>
          <p:nvPr/>
        </p:nvSpPr>
        <p:spPr>
          <a:xfrm>
            <a:off x="502920" y="507492"/>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5" name="Shape 3"/>
          <p:cNvSpPr/>
          <p:nvPr/>
        </p:nvSpPr>
        <p:spPr>
          <a:xfrm>
            <a:off x="644652" y="507492"/>
            <a:ext cx="100584" cy="100584"/>
          </a:xfrm>
          <a:prstGeom prst="roundRect">
            <a:avLst>
              <a:gd name="adj" fmla="val 18182"/>
            </a:avLst>
          </a:prstGeom>
          <a:solidFill>
            <a:srgbClr val="10B981"/>
          </a:solidFill>
          <a:ln w="16510">
            <a:solidFill>
              <a:srgbClr val="10B981"/>
            </a:solidFill>
            <a:prstDash val="solid"/>
          </a:ln>
        </p:spPr>
        <p:txBody>
          <a:bodyPr/>
          <a:lstStyle/>
          <a:p>
            <a:endParaRPr lang="en-US"/>
          </a:p>
        </p:txBody>
      </p:sp>
      <p:sp>
        <p:nvSpPr>
          <p:cNvPr id="6" name="Text 4"/>
          <p:cNvSpPr/>
          <p:nvPr/>
        </p:nvSpPr>
        <p:spPr>
          <a:xfrm>
            <a:off x="886968" y="320040"/>
            <a:ext cx="2011680" cy="329184"/>
          </a:xfrm>
          <a:prstGeom prst="rect">
            <a:avLst/>
          </a:prstGeom>
          <a:noFill/>
          <a:ln/>
        </p:spPr>
        <p:txBody>
          <a:bodyPr wrap="square" lIns="0" tIns="0" rIns="0" bIns="0" rtlCol="0" anchor="ctr"/>
          <a:lstStyle/>
          <a:p>
            <a:pPr marL="0" indent="0" algn="l">
              <a:buNone/>
            </a:pPr>
            <a:r>
              <a:rPr lang="en-US" sz="1500" b="1" dirty="0">
                <a:solidFill>
                  <a:srgbClr val="0F172A"/>
                </a:solidFill>
                <a:latin typeface="Calibri" pitchFamily="34" charset="0"/>
                <a:ea typeface="Calibri" pitchFamily="34" charset="-122"/>
                <a:cs typeface="Calibri" pitchFamily="34" charset="-120"/>
              </a:rPr>
              <a:t>Expo</a:t>
            </a:r>
            <a:r>
              <a:rPr lang="en-US" sz="1500" b="1" dirty="0">
                <a:solidFill>
                  <a:srgbClr val="10B981"/>
                </a:solidFill>
                <a:latin typeface="Calibri" pitchFamily="34" charset="0"/>
                <a:ea typeface="Calibri" pitchFamily="34" charset="-122"/>
                <a:cs typeface="Calibri" pitchFamily="34" charset="-120"/>
              </a:rPr>
              <a:t>Lead</a:t>
            </a: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960120"/>
            <a:ext cx="8229600" cy="274320"/>
          </a:xfrm>
          <a:prstGeom prst="rect">
            <a:avLst/>
          </a:prstGeom>
          <a:noFill/>
          <a:ln/>
        </p:spPr>
        <p:txBody>
          <a:bodyPr wrap="square" lIns="0" tIns="0" rIns="0" bIns="0" rtlCol="0" anchor="ctr"/>
          <a:lstStyle/>
          <a:p>
            <a:pPr marL="0" indent="0" algn="l">
              <a:buNone/>
            </a:pPr>
            <a:r>
              <a:rPr lang="en-US" sz="1100" b="1" kern="0" spc="220" dirty="0">
                <a:solidFill>
                  <a:srgbClr val="059669"/>
                </a:solidFill>
                <a:latin typeface="Calibri" pitchFamily="34" charset="0"/>
                <a:ea typeface="Calibri" pitchFamily="34" charset="-122"/>
                <a:cs typeface="Calibri" pitchFamily="34" charset="-120"/>
              </a:rPr>
              <a:t>THE HONEST QUESTION</a:t>
            </a:r>
            <a:endParaRPr lang="en-US" sz="1100" dirty="0"/>
          </a:p>
        </p:txBody>
      </p:sp>
      <p:sp>
        <p:nvSpPr>
          <p:cNvPr id="8" name="Text 6"/>
          <p:cNvSpPr/>
          <p:nvPr/>
        </p:nvSpPr>
        <p:spPr>
          <a:xfrm>
            <a:off x="502920" y="1216152"/>
            <a:ext cx="8961120" cy="502920"/>
          </a:xfrm>
          <a:prstGeom prst="rect">
            <a:avLst/>
          </a:prstGeom>
          <a:noFill/>
          <a:ln/>
        </p:spPr>
        <p:txBody>
          <a:bodyPr wrap="square" lIns="0" tIns="0" rIns="0" bIns="0" rtlCol="0" anchor="t"/>
          <a:lstStyle/>
          <a:p>
            <a:pPr marL="0" indent="0" algn="l">
              <a:buNone/>
            </a:pPr>
            <a:r>
              <a:rPr lang="en-US" sz="2600" b="1" dirty="0">
                <a:solidFill>
                  <a:srgbClr val="0F172A"/>
                </a:solidFill>
                <a:latin typeface="Calibri" pitchFamily="34" charset="0"/>
                <a:ea typeface="Calibri" pitchFamily="34" charset="-122"/>
                <a:cs typeface="Calibri" pitchFamily="34" charset="-120"/>
              </a:rPr>
              <a:t>“Can’t we just use our CRM at the exhibition?”</a:t>
            </a:r>
            <a:endParaRPr lang="en-US" sz="2600" dirty="0"/>
          </a:p>
        </p:txBody>
      </p:sp>
      <p:sp>
        <p:nvSpPr>
          <p:cNvPr id="9" name="Shape 7"/>
          <p:cNvSpPr/>
          <p:nvPr/>
        </p:nvSpPr>
        <p:spPr>
          <a:xfrm>
            <a:off x="7391095" y="1280160"/>
            <a:ext cx="4297680" cy="548640"/>
          </a:xfrm>
          <a:prstGeom prst="roundRect">
            <a:avLst>
              <a:gd name="adj" fmla="val 16667"/>
            </a:avLst>
          </a:prstGeom>
          <a:solidFill>
            <a:srgbClr val="10B981"/>
          </a:solidFill>
          <a:ln w="12700">
            <a:solidFill>
              <a:srgbClr val="D1FAE5"/>
            </a:solidFill>
            <a:prstDash val="solid"/>
          </a:ln>
        </p:spPr>
        <p:txBody>
          <a:bodyPr/>
          <a:lstStyle/>
          <a:p>
            <a:endParaRPr lang="en-US"/>
          </a:p>
        </p:txBody>
      </p:sp>
      <p:sp>
        <p:nvSpPr>
          <p:cNvPr id="10" name="Text 8"/>
          <p:cNvSpPr/>
          <p:nvPr/>
        </p:nvSpPr>
        <p:spPr>
          <a:xfrm>
            <a:off x="7528255" y="1280160"/>
            <a:ext cx="4114800" cy="548640"/>
          </a:xfrm>
          <a:prstGeom prst="rect">
            <a:avLst/>
          </a:prstGeom>
          <a:noFill/>
          <a:ln/>
        </p:spPr>
        <p:txBody>
          <a:bodyPr wrap="square" lIns="0" tIns="0" rIns="0" bIns="0" rtlCol="0" anchor="ctr"/>
          <a:lstStyle/>
          <a:p>
            <a:pPr marL="0" indent="0" algn="l">
              <a:lnSpc>
                <a:spcPct val="100000"/>
              </a:lnSpc>
              <a:buNone/>
            </a:pPr>
            <a:r>
              <a:rPr lang="en-US" sz="1150" b="1" dirty="0">
                <a:solidFill>
                  <a:schemeClr val="bg1"/>
                </a:solidFill>
                <a:latin typeface="Calibri" pitchFamily="34" charset="0"/>
                <a:ea typeface="Calibri" pitchFamily="34" charset="-122"/>
                <a:cs typeface="Calibri" pitchFamily="34" charset="-120"/>
              </a:rPr>
              <a:t>Yes, you can.  </a:t>
            </a:r>
            <a:r>
              <a:rPr lang="en-US" sz="1150" dirty="0">
                <a:solidFill>
                  <a:schemeClr val="bg1"/>
                </a:solidFill>
                <a:latin typeface="Calibri" pitchFamily="34" charset="0"/>
                <a:ea typeface="Calibri" pitchFamily="34" charset="-122"/>
                <a:cs typeface="Calibri" pitchFamily="34" charset="-120"/>
              </a:rPr>
              <a:t>The question is whether</a:t>
            </a:r>
            <a:endParaRPr lang="en-US" sz="1150" dirty="0">
              <a:solidFill>
                <a:schemeClr val="bg1"/>
              </a:solidFill>
            </a:endParaRPr>
          </a:p>
          <a:p>
            <a:pPr marL="0" indent="0" algn="l">
              <a:lnSpc>
                <a:spcPct val="100000"/>
              </a:lnSpc>
              <a:buNone/>
            </a:pPr>
            <a:r>
              <a:rPr lang="en-US" sz="1150" dirty="0">
                <a:solidFill>
                  <a:schemeClr val="bg1"/>
                </a:solidFill>
                <a:latin typeface="Calibri" pitchFamily="34" charset="0"/>
                <a:ea typeface="Calibri" pitchFamily="34" charset="-122"/>
                <a:cs typeface="Calibri" pitchFamily="34" charset="-120"/>
              </a:rPr>
              <a:t>it was designed for that job.</a:t>
            </a:r>
            <a:endParaRPr lang="en-US" sz="1150" dirty="0">
              <a:solidFill>
                <a:schemeClr val="bg1"/>
              </a:solidFill>
            </a:endParaRPr>
          </a:p>
        </p:txBody>
      </p:sp>
      <p:sp>
        <p:nvSpPr>
          <p:cNvPr id="11" name="Text 9"/>
          <p:cNvSpPr/>
          <p:nvPr/>
        </p:nvSpPr>
        <p:spPr>
          <a:xfrm>
            <a:off x="594360" y="1979766"/>
            <a:ext cx="4389120" cy="310896"/>
          </a:xfrm>
          <a:prstGeom prst="rect">
            <a:avLst/>
          </a:prstGeom>
          <a:noFill/>
          <a:ln/>
        </p:spPr>
        <p:txBody>
          <a:bodyPr wrap="square" lIns="0" tIns="0" rIns="0" bIns="0" rtlCol="0" anchor="ctr"/>
          <a:lstStyle/>
          <a:p>
            <a:pPr marL="0" indent="0" algn="l">
              <a:buNone/>
            </a:pPr>
            <a:r>
              <a:rPr lang="en-US" sz="1050" b="1" kern="0" spc="100" dirty="0">
                <a:solidFill>
                  <a:srgbClr val="94A3B8"/>
                </a:solidFill>
                <a:latin typeface="Calibri" pitchFamily="34" charset="0"/>
                <a:ea typeface="Calibri" pitchFamily="34" charset="-122"/>
                <a:cs typeface="Calibri" pitchFamily="34" charset="-120"/>
              </a:rPr>
              <a:t>EXHIBITION ACTIVITY</a:t>
            </a:r>
            <a:endParaRPr lang="en-US" sz="1050" dirty="0"/>
          </a:p>
        </p:txBody>
      </p:sp>
      <p:sp>
        <p:nvSpPr>
          <p:cNvPr id="12" name="Text 10"/>
          <p:cNvSpPr/>
          <p:nvPr/>
        </p:nvSpPr>
        <p:spPr>
          <a:xfrm>
            <a:off x="5074920" y="1979766"/>
            <a:ext cx="2926080" cy="310896"/>
          </a:xfrm>
          <a:prstGeom prst="rect">
            <a:avLst/>
          </a:prstGeom>
          <a:noFill/>
          <a:ln/>
        </p:spPr>
        <p:txBody>
          <a:bodyPr wrap="square" lIns="0" tIns="0" rIns="0" bIns="0" rtlCol="0" anchor="ctr"/>
          <a:lstStyle/>
          <a:p>
            <a:pPr marL="0" indent="0" algn="l">
              <a:buNone/>
            </a:pPr>
            <a:r>
              <a:rPr lang="en-US" sz="1050" b="1" kern="0" spc="100" dirty="0">
                <a:solidFill>
                  <a:srgbClr val="94A3B8"/>
                </a:solidFill>
                <a:latin typeface="Calibri" pitchFamily="34" charset="0"/>
                <a:ea typeface="Calibri" pitchFamily="34" charset="-122"/>
                <a:cs typeface="Calibri" pitchFamily="34" charset="-120"/>
              </a:rPr>
              <a:t>GENERAL CRM</a:t>
            </a:r>
            <a:endParaRPr lang="en-US" sz="1050" dirty="0"/>
          </a:p>
        </p:txBody>
      </p:sp>
      <p:sp>
        <p:nvSpPr>
          <p:cNvPr id="13" name="Text 11"/>
          <p:cNvSpPr/>
          <p:nvPr/>
        </p:nvSpPr>
        <p:spPr>
          <a:xfrm>
            <a:off x="8092440" y="1979766"/>
            <a:ext cx="3596335" cy="310896"/>
          </a:xfrm>
          <a:prstGeom prst="rect">
            <a:avLst/>
          </a:prstGeom>
          <a:noFill/>
          <a:ln/>
        </p:spPr>
        <p:txBody>
          <a:bodyPr wrap="square" lIns="0" tIns="0" rIns="0" bIns="0" rtlCol="0" anchor="ctr"/>
          <a:lstStyle/>
          <a:p>
            <a:pPr marL="0" indent="0" algn="l">
              <a:buNone/>
            </a:pPr>
            <a:r>
              <a:rPr lang="en-US" sz="1050" b="1" kern="0" spc="100" dirty="0">
                <a:solidFill>
                  <a:srgbClr val="059669"/>
                </a:solidFill>
                <a:latin typeface="Calibri" pitchFamily="34" charset="0"/>
                <a:ea typeface="Calibri" pitchFamily="34" charset="-122"/>
                <a:cs typeface="Calibri" pitchFamily="34" charset="-120"/>
              </a:rPr>
              <a:t>EXPOLEAD OS</a:t>
            </a:r>
            <a:endParaRPr lang="en-US" sz="1050" dirty="0"/>
          </a:p>
        </p:txBody>
      </p:sp>
      <p:sp>
        <p:nvSpPr>
          <p:cNvPr id="14" name="Shape 12"/>
          <p:cNvSpPr/>
          <p:nvPr/>
        </p:nvSpPr>
        <p:spPr>
          <a:xfrm>
            <a:off x="502920" y="2290662"/>
            <a:ext cx="11185855" cy="313710"/>
          </a:xfrm>
          <a:prstGeom prst="rect">
            <a:avLst/>
          </a:prstGeom>
          <a:solidFill>
            <a:schemeClr val="bg1">
              <a:lumMod val="95000"/>
            </a:schemeClr>
          </a:solidFill>
          <a:ln/>
        </p:spPr>
        <p:txBody>
          <a:bodyPr/>
          <a:lstStyle/>
          <a:p>
            <a:endParaRPr lang="en-US"/>
          </a:p>
        </p:txBody>
      </p:sp>
      <p:sp>
        <p:nvSpPr>
          <p:cNvPr id="15" name="Shape 13"/>
          <p:cNvSpPr/>
          <p:nvPr/>
        </p:nvSpPr>
        <p:spPr>
          <a:xfrm>
            <a:off x="502920" y="2290662"/>
            <a:ext cx="11185855" cy="0"/>
          </a:xfrm>
          <a:prstGeom prst="line">
            <a:avLst/>
          </a:prstGeom>
          <a:noFill/>
          <a:ln w="9525">
            <a:solidFill>
              <a:srgbClr val="F1F5F9"/>
            </a:solidFill>
            <a:prstDash val="solid"/>
          </a:ln>
        </p:spPr>
        <p:txBody>
          <a:bodyPr/>
          <a:lstStyle/>
          <a:p>
            <a:endParaRPr lang="en-US"/>
          </a:p>
        </p:txBody>
      </p:sp>
      <p:sp>
        <p:nvSpPr>
          <p:cNvPr id="16" name="Text 14"/>
          <p:cNvSpPr/>
          <p:nvPr/>
        </p:nvSpPr>
        <p:spPr>
          <a:xfrm>
            <a:off x="594360" y="2290662"/>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Store companies &amp; contacts</a:t>
            </a:r>
            <a:endParaRPr lang="en-US" sz="1100" dirty="0"/>
          </a:p>
        </p:txBody>
      </p:sp>
      <p:sp>
        <p:nvSpPr>
          <p:cNvPr id="17" name="Text 15"/>
          <p:cNvSpPr/>
          <p:nvPr/>
        </p:nvSpPr>
        <p:spPr>
          <a:xfrm>
            <a:off x="5074920" y="2290662"/>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Core capability</a:t>
            </a:r>
            <a:endParaRPr lang="en-US" sz="1050" dirty="0"/>
          </a:p>
        </p:txBody>
      </p:sp>
      <p:sp>
        <p:nvSpPr>
          <p:cNvPr id="18" name="Shape 16"/>
          <p:cNvSpPr/>
          <p:nvPr/>
        </p:nvSpPr>
        <p:spPr>
          <a:xfrm>
            <a:off x="8092440" y="2340954"/>
            <a:ext cx="994867" cy="213126"/>
          </a:xfrm>
          <a:prstGeom prst="roundRect">
            <a:avLst>
              <a:gd name="adj" fmla="val 25743"/>
            </a:avLst>
          </a:prstGeom>
          <a:solidFill>
            <a:schemeClr val="bg1"/>
          </a:solidFill>
          <a:ln w="12700">
            <a:solidFill>
              <a:srgbClr val="E2E8F0"/>
            </a:solidFill>
            <a:prstDash val="solid"/>
          </a:ln>
        </p:spPr>
        <p:txBody>
          <a:bodyPr/>
          <a:lstStyle/>
          <a:p>
            <a:endParaRPr lang="en-US"/>
          </a:p>
        </p:txBody>
      </p:sp>
      <p:sp>
        <p:nvSpPr>
          <p:cNvPr id="19" name="Text 17"/>
          <p:cNvSpPr/>
          <p:nvPr/>
        </p:nvSpPr>
        <p:spPr>
          <a:xfrm>
            <a:off x="8092440" y="2340954"/>
            <a:ext cx="994867" cy="213126"/>
          </a:xfrm>
          <a:prstGeom prst="rect">
            <a:avLst/>
          </a:prstGeom>
          <a:noFill/>
          <a:ln/>
        </p:spPr>
        <p:txBody>
          <a:bodyPr wrap="square" lIns="0" tIns="0" rIns="0" bIns="0" rtlCol="0" anchor="ctr"/>
          <a:lstStyle/>
          <a:p>
            <a:pPr marL="0" indent="0" algn="ctr">
              <a:buNone/>
            </a:pPr>
            <a:r>
              <a:rPr lang="en-US" sz="1000" b="1" dirty="0">
                <a:solidFill>
                  <a:srgbClr val="475569"/>
                </a:solidFill>
                <a:latin typeface="Calibri" pitchFamily="34" charset="0"/>
                <a:ea typeface="Calibri" pitchFamily="34" charset="-122"/>
                <a:cs typeface="Calibri" pitchFamily="34" charset="-120"/>
              </a:rPr>
              <a:t>Supported</a:t>
            </a:r>
            <a:endParaRPr lang="en-US" sz="1000" dirty="0"/>
          </a:p>
        </p:txBody>
      </p:sp>
      <p:sp>
        <p:nvSpPr>
          <p:cNvPr id="20" name="Shape 18"/>
          <p:cNvSpPr/>
          <p:nvPr/>
        </p:nvSpPr>
        <p:spPr>
          <a:xfrm>
            <a:off x="502920" y="2604372"/>
            <a:ext cx="11185855" cy="0"/>
          </a:xfrm>
          <a:prstGeom prst="line">
            <a:avLst/>
          </a:prstGeom>
          <a:noFill/>
          <a:ln w="9525">
            <a:solidFill>
              <a:srgbClr val="F1F5F9"/>
            </a:solidFill>
            <a:prstDash val="solid"/>
          </a:ln>
        </p:spPr>
        <p:txBody>
          <a:bodyPr/>
          <a:lstStyle/>
          <a:p>
            <a:endParaRPr lang="en-US"/>
          </a:p>
        </p:txBody>
      </p:sp>
      <p:sp>
        <p:nvSpPr>
          <p:cNvPr id="21" name="Text 19"/>
          <p:cNvSpPr/>
          <p:nvPr/>
        </p:nvSpPr>
        <p:spPr>
          <a:xfrm>
            <a:off x="594360" y="2604372"/>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Long-term customer relationships</a:t>
            </a:r>
            <a:endParaRPr lang="en-US" sz="1100" dirty="0"/>
          </a:p>
        </p:txBody>
      </p:sp>
      <p:sp>
        <p:nvSpPr>
          <p:cNvPr id="22" name="Text 20"/>
          <p:cNvSpPr/>
          <p:nvPr/>
        </p:nvSpPr>
        <p:spPr>
          <a:xfrm>
            <a:off x="5074920" y="2604372"/>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Core capability</a:t>
            </a:r>
            <a:endParaRPr lang="en-US" sz="1050" dirty="0"/>
          </a:p>
        </p:txBody>
      </p:sp>
      <p:sp>
        <p:nvSpPr>
          <p:cNvPr id="23" name="Shape 21"/>
          <p:cNvSpPr/>
          <p:nvPr/>
        </p:nvSpPr>
        <p:spPr>
          <a:xfrm>
            <a:off x="8092440" y="2654664"/>
            <a:ext cx="2044598" cy="213126"/>
          </a:xfrm>
          <a:prstGeom prst="roundRect">
            <a:avLst>
              <a:gd name="adj" fmla="val 25743"/>
            </a:avLst>
          </a:prstGeom>
          <a:solidFill>
            <a:srgbClr val="F8FAFC"/>
          </a:solidFill>
          <a:ln w="12700">
            <a:solidFill>
              <a:srgbClr val="E2E8F0"/>
            </a:solidFill>
            <a:prstDash val="solid"/>
          </a:ln>
        </p:spPr>
        <p:txBody>
          <a:bodyPr/>
          <a:lstStyle/>
          <a:p>
            <a:endParaRPr lang="en-US"/>
          </a:p>
        </p:txBody>
      </p:sp>
      <p:sp>
        <p:nvSpPr>
          <p:cNvPr id="24" name="Text 22"/>
          <p:cNvSpPr/>
          <p:nvPr/>
        </p:nvSpPr>
        <p:spPr>
          <a:xfrm>
            <a:off x="8092440" y="2654664"/>
            <a:ext cx="2044598" cy="213126"/>
          </a:xfrm>
          <a:prstGeom prst="rect">
            <a:avLst/>
          </a:prstGeom>
          <a:noFill/>
          <a:ln/>
        </p:spPr>
        <p:txBody>
          <a:bodyPr wrap="square" lIns="0" tIns="0" rIns="0" bIns="0" rtlCol="0" anchor="ctr"/>
          <a:lstStyle/>
          <a:p>
            <a:pPr marL="0" indent="0" algn="ctr">
              <a:buNone/>
            </a:pPr>
            <a:r>
              <a:rPr lang="en-US" sz="1000" b="1" dirty="0">
                <a:solidFill>
                  <a:srgbClr val="475569"/>
                </a:solidFill>
                <a:latin typeface="Calibri" pitchFamily="34" charset="0"/>
                <a:ea typeface="Calibri" pitchFamily="34" charset="-122"/>
                <a:cs typeface="Calibri" pitchFamily="34" charset="-120"/>
              </a:rPr>
              <a:t>Not its primary purpose</a:t>
            </a:r>
            <a:endParaRPr lang="en-US" sz="1000" dirty="0"/>
          </a:p>
        </p:txBody>
      </p:sp>
      <p:sp>
        <p:nvSpPr>
          <p:cNvPr id="25" name="Shape 23"/>
          <p:cNvSpPr/>
          <p:nvPr/>
        </p:nvSpPr>
        <p:spPr>
          <a:xfrm>
            <a:off x="502920" y="2918081"/>
            <a:ext cx="11185855" cy="313710"/>
          </a:xfrm>
          <a:prstGeom prst="rect">
            <a:avLst/>
          </a:prstGeom>
          <a:solidFill>
            <a:schemeClr val="bg1">
              <a:lumMod val="95000"/>
            </a:schemeClr>
          </a:solidFill>
          <a:ln/>
        </p:spPr>
        <p:txBody>
          <a:bodyPr/>
          <a:lstStyle/>
          <a:p>
            <a:endParaRPr lang="en-US"/>
          </a:p>
        </p:txBody>
      </p:sp>
      <p:sp>
        <p:nvSpPr>
          <p:cNvPr id="26" name="Shape 24"/>
          <p:cNvSpPr/>
          <p:nvPr/>
        </p:nvSpPr>
        <p:spPr>
          <a:xfrm>
            <a:off x="502920" y="2918081"/>
            <a:ext cx="11185855" cy="0"/>
          </a:xfrm>
          <a:prstGeom prst="line">
            <a:avLst/>
          </a:prstGeom>
          <a:noFill/>
          <a:ln w="9525">
            <a:solidFill>
              <a:srgbClr val="F1F5F9"/>
            </a:solidFill>
            <a:prstDash val="solid"/>
          </a:ln>
        </p:spPr>
        <p:txBody>
          <a:bodyPr/>
          <a:lstStyle/>
          <a:p>
            <a:endParaRPr lang="en-US"/>
          </a:p>
        </p:txBody>
      </p:sp>
      <p:sp>
        <p:nvSpPr>
          <p:cNvPr id="27" name="Text 25"/>
          <p:cNvSpPr/>
          <p:nvPr/>
        </p:nvSpPr>
        <p:spPr>
          <a:xfrm>
            <a:off x="594360" y="2918081"/>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Sales / deal pipeline</a:t>
            </a:r>
            <a:endParaRPr lang="en-US" sz="1100" dirty="0"/>
          </a:p>
        </p:txBody>
      </p:sp>
      <p:sp>
        <p:nvSpPr>
          <p:cNvPr id="28" name="Text 26"/>
          <p:cNvSpPr/>
          <p:nvPr/>
        </p:nvSpPr>
        <p:spPr>
          <a:xfrm>
            <a:off x="5074920" y="2918081"/>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Core capability</a:t>
            </a:r>
            <a:endParaRPr lang="en-US" sz="1050" dirty="0"/>
          </a:p>
        </p:txBody>
      </p:sp>
      <p:sp>
        <p:nvSpPr>
          <p:cNvPr id="29" name="Shape 27"/>
          <p:cNvSpPr/>
          <p:nvPr/>
        </p:nvSpPr>
        <p:spPr>
          <a:xfrm>
            <a:off x="8092440" y="2968373"/>
            <a:ext cx="2719426" cy="213126"/>
          </a:xfrm>
          <a:prstGeom prst="roundRect">
            <a:avLst>
              <a:gd name="adj" fmla="val 25743"/>
            </a:avLst>
          </a:prstGeom>
          <a:solidFill>
            <a:srgbClr val="F8FAFC"/>
          </a:solidFill>
          <a:ln w="12700">
            <a:solidFill>
              <a:srgbClr val="E2E8F0"/>
            </a:solidFill>
            <a:prstDash val="solid"/>
          </a:ln>
        </p:spPr>
        <p:txBody>
          <a:bodyPr/>
          <a:lstStyle/>
          <a:p>
            <a:endParaRPr lang="en-US" dirty="0"/>
          </a:p>
        </p:txBody>
      </p:sp>
      <p:sp>
        <p:nvSpPr>
          <p:cNvPr id="30" name="Text 28"/>
          <p:cNvSpPr/>
          <p:nvPr/>
        </p:nvSpPr>
        <p:spPr>
          <a:xfrm>
            <a:off x="8092440" y="2968373"/>
            <a:ext cx="2719426" cy="213126"/>
          </a:xfrm>
          <a:prstGeom prst="rect">
            <a:avLst/>
          </a:prstGeom>
          <a:noFill/>
          <a:ln/>
        </p:spPr>
        <p:txBody>
          <a:bodyPr wrap="square" lIns="0" tIns="0" rIns="0" bIns="0" rtlCol="0" anchor="ctr"/>
          <a:lstStyle/>
          <a:p>
            <a:pPr marL="0" indent="0" algn="ctr">
              <a:buNone/>
            </a:pPr>
            <a:r>
              <a:rPr lang="en-US" sz="1000" b="1" dirty="0">
                <a:solidFill>
                  <a:srgbClr val="475569"/>
                </a:solidFill>
                <a:latin typeface="Calibri" pitchFamily="34" charset="0"/>
                <a:ea typeface="Calibri" pitchFamily="34" charset="-122"/>
                <a:cs typeface="Calibri" pitchFamily="34" charset="-120"/>
              </a:rPr>
              <a:t>Supports the opportunity journey</a:t>
            </a:r>
            <a:endParaRPr lang="en-US" sz="1000" dirty="0"/>
          </a:p>
        </p:txBody>
      </p:sp>
      <p:sp>
        <p:nvSpPr>
          <p:cNvPr id="31" name="Shape 29"/>
          <p:cNvSpPr/>
          <p:nvPr/>
        </p:nvSpPr>
        <p:spPr>
          <a:xfrm>
            <a:off x="502920" y="3231791"/>
            <a:ext cx="11185855" cy="0"/>
          </a:xfrm>
          <a:prstGeom prst="line">
            <a:avLst/>
          </a:prstGeom>
          <a:noFill/>
          <a:ln w="9525">
            <a:solidFill>
              <a:srgbClr val="F1F5F9"/>
            </a:solidFill>
            <a:prstDash val="solid"/>
          </a:ln>
        </p:spPr>
        <p:txBody>
          <a:bodyPr/>
          <a:lstStyle/>
          <a:p>
            <a:endParaRPr lang="en-US"/>
          </a:p>
        </p:txBody>
      </p:sp>
      <p:sp>
        <p:nvSpPr>
          <p:cNvPr id="32" name="Text 30"/>
          <p:cNvSpPr/>
          <p:nvPr/>
        </p:nvSpPr>
        <p:spPr>
          <a:xfrm>
            <a:off x="594360" y="3231791"/>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Plan companies &amp; booths to visit</a:t>
            </a:r>
            <a:endParaRPr lang="en-US" sz="1100" dirty="0"/>
          </a:p>
        </p:txBody>
      </p:sp>
      <p:sp>
        <p:nvSpPr>
          <p:cNvPr id="33" name="Text 31"/>
          <p:cNvSpPr/>
          <p:nvPr/>
        </p:nvSpPr>
        <p:spPr>
          <a:xfrm>
            <a:off x="5074920" y="3231791"/>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Possible via configuration</a:t>
            </a:r>
            <a:endParaRPr lang="en-US" sz="1050" dirty="0"/>
          </a:p>
        </p:txBody>
      </p:sp>
      <p:sp>
        <p:nvSpPr>
          <p:cNvPr id="34" name="Shape 32"/>
          <p:cNvSpPr/>
          <p:nvPr/>
        </p:nvSpPr>
        <p:spPr>
          <a:xfrm>
            <a:off x="8092440" y="3282083"/>
            <a:ext cx="1294790" cy="213126"/>
          </a:xfrm>
          <a:prstGeom prst="roundRect">
            <a:avLst>
              <a:gd name="adj" fmla="val 25743"/>
            </a:avLst>
          </a:prstGeom>
          <a:solidFill>
            <a:srgbClr val="10B981"/>
          </a:solidFill>
          <a:ln w="12700">
            <a:solidFill>
              <a:srgbClr val="D1FAE5"/>
            </a:solidFill>
            <a:prstDash val="solid"/>
          </a:ln>
        </p:spPr>
        <p:txBody>
          <a:bodyPr/>
          <a:lstStyle/>
          <a:p>
            <a:endParaRPr lang="en-US"/>
          </a:p>
        </p:txBody>
      </p:sp>
      <p:sp>
        <p:nvSpPr>
          <p:cNvPr id="35" name="Text 33"/>
          <p:cNvSpPr/>
          <p:nvPr/>
        </p:nvSpPr>
        <p:spPr>
          <a:xfrm>
            <a:off x="8092440" y="3282083"/>
            <a:ext cx="1294790" cy="213126"/>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Purpose-built</a:t>
            </a:r>
            <a:endParaRPr lang="en-US" sz="1000" dirty="0">
              <a:solidFill>
                <a:schemeClr val="bg1"/>
              </a:solidFill>
            </a:endParaRPr>
          </a:p>
        </p:txBody>
      </p:sp>
      <p:sp>
        <p:nvSpPr>
          <p:cNvPr id="36" name="Shape 34"/>
          <p:cNvSpPr/>
          <p:nvPr/>
        </p:nvSpPr>
        <p:spPr>
          <a:xfrm>
            <a:off x="502920" y="3545500"/>
            <a:ext cx="11185855" cy="313710"/>
          </a:xfrm>
          <a:prstGeom prst="rect">
            <a:avLst/>
          </a:prstGeom>
          <a:solidFill>
            <a:schemeClr val="bg1">
              <a:lumMod val="95000"/>
            </a:schemeClr>
          </a:solidFill>
          <a:ln/>
        </p:spPr>
        <p:txBody>
          <a:bodyPr/>
          <a:lstStyle/>
          <a:p>
            <a:endParaRPr lang="en-US"/>
          </a:p>
        </p:txBody>
      </p:sp>
      <p:sp>
        <p:nvSpPr>
          <p:cNvPr id="37" name="Shape 35"/>
          <p:cNvSpPr/>
          <p:nvPr/>
        </p:nvSpPr>
        <p:spPr>
          <a:xfrm>
            <a:off x="502920" y="3545500"/>
            <a:ext cx="11185855" cy="0"/>
          </a:xfrm>
          <a:prstGeom prst="line">
            <a:avLst/>
          </a:prstGeom>
          <a:noFill/>
          <a:ln w="9525">
            <a:solidFill>
              <a:srgbClr val="F1F5F9"/>
            </a:solidFill>
            <a:prstDash val="solid"/>
          </a:ln>
        </p:spPr>
        <p:txBody>
          <a:bodyPr/>
          <a:lstStyle/>
          <a:p>
            <a:endParaRPr lang="en-US"/>
          </a:p>
        </p:txBody>
      </p:sp>
      <p:sp>
        <p:nvSpPr>
          <p:cNvPr id="38" name="Text 36"/>
          <p:cNvSpPr/>
          <p:nvPr/>
        </p:nvSpPr>
        <p:spPr>
          <a:xfrm>
            <a:off x="594360" y="3545500"/>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Track visited &amp; unvisited targets</a:t>
            </a:r>
            <a:endParaRPr lang="en-US" sz="1100" dirty="0"/>
          </a:p>
        </p:txBody>
      </p:sp>
      <p:sp>
        <p:nvSpPr>
          <p:cNvPr id="39" name="Text 37"/>
          <p:cNvSpPr/>
          <p:nvPr/>
        </p:nvSpPr>
        <p:spPr>
          <a:xfrm>
            <a:off x="5074920" y="3545500"/>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Possible via configuration</a:t>
            </a:r>
            <a:endParaRPr lang="en-US" sz="1050" dirty="0"/>
          </a:p>
        </p:txBody>
      </p:sp>
      <p:sp>
        <p:nvSpPr>
          <p:cNvPr id="40" name="Shape 38"/>
          <p:cNvSpPr/>
          <p:nvPr/>
        </p:nvSpPr>
        <p:spPr>
          <a:xfrm>
            <a:off x="8092440" y="3595792"/>
            <a:ext cx="1294790" cy="213126"/>
          </a:xfrm>
          <a:prstGeom prst="roundRect">
            <a:avLst>
              <a:gd name="adj" fmla="val 25743"/>
            </a:avLst>
          </a:prstGeom>
          <a:solidFill>
            <a:srgbClr val="10B981"/>
          </a:solidFill>
          <a:ln w="12700">
            <a:solidFill>
              <a:srgbClr val="D1FAE5"/>
            </a:solidFill>
            <a:prstDash val="solid"/>
          </a:ln>
        </p:spPr>
        <p:txBody>
          <a:bodyPr/>
          <a:lstStyle/>
          <a:p>
            <a:endParaRPr lang="en-US"/>
          </a:p>
        </p:txBody>
      </p:sp>
      <p:sp>
        <p:nvSpPr>
          <p:cNvPr id="41" name="Text 39"/>
          <p:cNvSpPr/>
          <p:nvPr/>
        </p:nvSpPr>
        <p:spPr>
          <a:xfrm>
            <a:off x="8092440" y="3595792"/>
            <a:ext cx="1294790" cy="213126"/>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Purpose-built</a:t>
            </a:r>
            <a:endParaRPr lang="en-US" sz="1000" dirty="0">
              <a:solidFill>
                <a:schemeClr val="bg1"/>
              </a:solidFill>
            </a:endParaRPr>
          </a:p>
        </p:txBody>
      </p:sp>
      <p:sp>
        <p:nvSpPr>
          <p:cNvPr id="42" name="Shape 40"/>
          <p:cNvSpPr/>
          <p:nvPr/>
        </p:nvSpPr>
        <p:spPr>
          <a:xfrm>
            <a:off x="502920" y="3859210"/>
            <a:ext cx="11185855" cy="0"/>
          </a:xfrm>
          <a:prstGeom prst="line">
            <a:avLst/>
          </a:prstGeom>
          <a:noFill/>
          <a:ln w="9525">
            <a:solidFill>
              <a:srgbClr val="F1F5F9"/>
            </a:solidFill>
            <a:prstDash val="solid"/>
          </a:ln>
        </p:spPr>
        <p:txBody>
          <a:bodyPr/>
          <a:lstStyle/>
          <a:p>
            <a:endParaRPr lang="en-US"/>
          </a:p>
        </p:txBody>
      </p:sp>
      <p:sp>
        <p:nvSpPr>
          <p:cNvPr id="43" name="Text 41"/>
          <p:cNvSpPr/>
          <p:nvPr/>
        </p:nvSpPr>
        <p:spPr>
          <a:xfrm>
            <a:off x="594360" y="3859210"/>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Capture conversations on the floor</a:t>
            </a:r>
            <a:endParaRPr lang="en-US" sz="1100" dirty="0"/>
          </a:p>
        </p:txBody>
      </p:sp>
      <p:sp>
        <p:nvSpPr>
          <p:cNvPr id="44" name="Text 42"/>
          <p:cNvSpPr/>
          <p:nvPr/>
        </p:nvSpPr>
        <p:spPr>
          <a:xfrm>
            <a:off x="5074920" y="3859210"/>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Possible</a:t>
            </a:r>
            <a:endParaRPr lang="en-US" sz="1050" dirty="0"/>
          </a:p>
        </p:txBody>
      </p:sp>
      <p:sp>
        <p:nvSpPr>
          <p:cNvPr id="45" name="Shape 43"/>
          <p:cNvSpPr/>
          <p:nvPr/>
        </p:nvSpPr>
        <p:spPr>
          <a:xfrm>
            <a:off x="8092440" y="3909502"/>
            <a:ext cx="1969618" cy="213126"/>
          </a:xfrm>
          <a:prstGeom prst="roundRect">
            <a:avLst>
              <a:gd name="adj" fmla="val 25743"/>
            </a:avLst>
          </a:prstGeom>
          <a:solidFill>
            <a:srgbClr val="10B981"/>
          </a:solidFill>
          <a:ln w="12700">
            <a:solidFill>
              <a:srgbClr val="D1FAE5"/>
            </a:solidFill>
            <a:prstDash val="solid"/>
          </a:ln>
        </p:spPr>
        <p:txBody>
          <a:bodyPr/>
          <a:lstStyle/>
          <a:p>
            <a:endParaRPr lang="en-US"/>
          </a:p>
        </p:txBody>
      </p:sp>
      <p:sp>
        <p:nvSpPr>
          <p:cNvPr id="46" name="Text 44"/>
          <p:cNvSpPr/>
          <p:nvPr/>
        </p:nvSpPr>
        <p:spPr>
          <a:xfrm>
            <a:off x="8092440" y="3909502"/>
            <a:ext cx="1969618" cy="213126"/>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Designed for the floor</a:t>
            </a:r>
            <a:endParaRPr lang="en-US" sz="1000" dirty="0">
              <a:solidFill>
                <a:schemeClr val="bg1"/>
              </a:solidFill>
            </a:endParaRPr>
          </a:p>
        </p:txBody>
      </p:sp>
      <p:sp>
        <p:nvSpPr>
          <p:cNvPr id="47" name="Shape 45"/>
          <p:cNvSpPr/>
          <p:nvPr/>
        </p:nvSpPr>
        <p:spPr>
          <a:xfrm>
            <a:off x="502920" y="4172919"/>
            <a:ext cx="11185855" cy="313710"/>
          </a:xfrm>
          <a:prstGeom prst="rect">
            <a:avLst/>
          </a:prstGeom>
          <a:solidFill>
            <a:schemeClr val="bg1">
              <a:lumMod val="95000"/>
            </a:schemeClr>
          </a:solidFill>
          <a:ln/>
        </p:spPr>
        <p:txBody>
          <a:bodyPr/>
          <a:lstStyle/>
          <a:p>
            <a:endParaRPr lang="en-US"/>
          </a:p>
        </p:txBody>
      </p:sp>
      <p:sp>
        <p:nvSpPr>
          <p:cNvPr id="48" name="Shape 46"/>
          <p:cNvSpPr/>
          <p:nvPr/>
        </p:nvSpPr>
        <p:spPr>
          <a:xfrm>
            <a:off x="502920" y="4172919"/>
            <a:ext cx="11185855" cy="0"/>
          </a:xfrm>
          <a:prstGeom prst="line">
            <a:avLst/>
          </a:prstGeom>
          <a:noFill/>
          <a:ln w="9525">
            <a:solidFill>
              <a:srgbClr val="F1F5F9"/>
            </a:solidFill>
            <a:prstDash val="solid"/>
          </a:ln>
        </p:spPr>
        <p:txBody>
          <a:bodyPr/>
          <a:lstStyle/>
          <a:p>
            <a:endParaRPr lang="en-US"/>
          </a:p>
        </p:txBody>
      </p:sp>
      <p:sp>
        <p:nvSpPr>
          <p:cNvPr id="49" name="Text 47"/>
          <p:cNvSpPr/>
          <p:nvPr/>
        </p:nvSpPr>
        <p:spPr>
          <a:xfrm>
            <a:off x="594360" y="4172919"/>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Record booth &amp; exhibition context</a:t>
            </a:r>
            <a:endParaRPr lang="en-US" sz="1100" dirty="0"/>
          </a:p>
        </p:txBody>
      </p:sp>
      <p:sp>
        <p:nvSpPr>
          <p:cNvPr id="50" name="Text 48"/>
          <p:cNvSpPr/>
          <p:nvPr/>
        </p:nvSpPr>
        <p:spPr>
          <a:xfrm>
            <a:off x="5074920" y="4172919"/>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Fields &amp; notes</a:t>
            </a:r>
            <a:endParaRPr lang="en-US" sz="1050" dirty="0"/>
          </a:p>
        </p:txBody>
      </p:sp>
      <p:sp>
        <p:nvSpPr>
          <p:cNvPr id="51" name="Shape 49"/>
          <p:cNvSpPr/>
          <p:nvPr/>
        </p:nvSpPr>
        <p:spPr>
          <a:xfrm>
            <a:off x="8092440" y="4223211"/>
            <a:ext cx="2194560" cy="213126"/>
          </a:xfrm>
          <a:prstGeom prst="roundRect">
            <a:avLst>
              <a:gd name="adj" fmla="val 25743"/>
            </a:avLst>
          </a:prstGeom>
          <a:solidFill>
            <a:srgbClr val="10B981"/>
          </a:solidFill>
          <a:ln w="12700">
            <a:solidFill>
              <a:srgbClr val="D1FAE5"/>
            </a:solidFill>
            <a:prstDash val="solid"/>
          </a:ln>
        </p:spPr>
        <p:txBody>
          <a:bodyPr/>
          <a:lstStyle/>
          <a:p>
            <a:endParaRPr lang="en-US"/>
          </a:p>
        </p:txBody>
      </p:sp>
      <p:sp>
        <p:nvSpPr>
          <p:cNvPr id="52" name="Text 50"/>
          <p:cNvSpPr/>
          <p:nvPr/>
        </p:nvSpPr>
        <p:spPr>
          <a:xfrm>
            <a:off x="8092440" y="4223211"/>
            <a:ext cx="2194560" cy="213126"/>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Native exhibition context</a:t>
            </a:r>
            <a:endParaRPr lang="en-US" sz="1000" dirty="0">
              <a:solidFill>
                <a:schemeClr val="bg1"/>
              </a:solidFill>
            </a:endParaRPr>
          </a:p>
        </p:txBody>
      </p:sp>
      <p:sp>
        <p:nvSpPr>
          <p:cNvPr id="53" name="Shape 51"/>
          <p:cNvSpPr/>
          <p:nvPr/>
        </p:nvSpPr>
        <p:spPr>
          <a:xfrm>
            <a:off x="502920" y="4486629"/>
            <a:ext cx="11185855" cy="0"/>
          </a:xfrm>
          <a:prstGeom prst="line">
            <a:avLst/>
          </a:prstGeom>
          <a:noFill/>
          <a:ln w="9525">
            <a:solidFill>
              <a:srgbClr val="F1F5F9"/>
            </a:solidFill>
            <a:prstDash val="solid"/>
          </a:ln>
        </p:spPr>
        <p:txBody>
          <a:bodyPr/>
          <a:lstStyle/>
          <a:p>
            <a:endParaRPr lang="en-US"/>
          </a:p>
        </p:txBody>
      </p:sp>
      <p:sp>
        <p:nvSpPr>
          <p:cNvPr id="54" name="Text 52"/>
          <p:cNvSpPr/>
          <p:nvPr/>
        </p:nvSpPr>
        <p:spPr>
          <a:xfrm>
            <a:off x="594360" y="4486629"/>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Capture product, need &amp; opportunity</a:t>
            </a:r>
            <a:endParaRPr lang="en-US" sz="1100" dirty="0"/>
          </a:p>
        </p:txBody>
      </p:sp>
      <p:sp>
        <p:nvSpPr>
          <p:cNvPr id="55" name="Text 53"/>
          <p:cNvSpPr/>
          <p:nvPr/>
        </p:nvSpPr>
        <p:spPr>
          <a:xfrm>
            <a:off x="5074920" y="4486629"/>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Possible</a:t>
            </a:r>
            <a:endParaRPr lang="en-US" sz="1050" dirty="0"/>
          </a:p>
        </p:txBody>
      </p:sp>
      <p:sp>
        <p:nvSpPr>
          <p:cNvPr id="56" name="Shape 54"/>
          <p:cNvSpPr/>
          <p:nvPr/>
        </p:nvSpPr>
        <p:spPr>
          <a:xfrm>
            <a:off x="8092440" y="4536921"/>
            <a:ext cx="2194560" cy="213126"/>
          </a:xfrm>
          <a:prstGeom prst="roundRect">
            <a:avLst>
              <a:gd name="adj" fmla="val 25743"/>
            </a:avLst>
          </a:prstGeom>
          <a:solidFill>
            <a:srgbClr val="10B981"/>
          </a:solidFill>
          <a:ln w="12700">
            <a:solidFill>
              <a:srgbClr val="D1FAE5"/>
            </a:solidFill>
            <a:prstDash val="solid"/>
          </a:ln>
        </p:spPr>
        <p:txBody>
          <a:bodyPr/>
          <a:lstStyle/>
          <a:p>
            <a:endParaRPr lang="en-US"/>
          </a:p>
        </p:txBody>
      </p:sp>
      <p:sp>
        <p:nvSpPr>
          <p:cNvPr id="57" name="Text 55"/>
          <p:cNvSpPr/>
          <p:nvPr/>
        </p:nvSpPr>
        <p:spPr>
          <a:xfrm>
            <a:off x="8092440" y="4536921"/>
            <a:ext cx="2194560" cy="213126"/>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Exhibition-first workflow</a:t>
            </a:r>
            <a:endParaRPr lang="en-US" sz="1000" dirty="0">
              <a:solidFill>
                <a:schemeClr val="bg1"/>
              </a:solidFill>
            </a:endParaRPr>
          </a:p>
        </p:txBody>
      </p:sp>
      <p:sp>
        <p:nvSpPr>
          <p:cNvPr id="58" name="Shape 56"/>
          <p:cNvSpPr/>
          <p:nvPr/>
        </p:nvSpPr>
        <p:spPr>
          <a:xfrm>
            <a:off x="502920" y="4800338"/>
            <a:ext cx="11185855" cy="313710"/>
          </a:xfrm>
          <a:prstGeom prst="rect">
            <a:avLst/>
          </a:prstGeom>
          <a:solidFill>
            <a:schemeClr val="bg1">
              <a:lumMod val="95000"/>
            </a:schemeClr>
          </a:solidFill>
          <a:ln/>
        </p:spPr>
        <p:txBody>
          <a:bodyPr/>
          <a:lstStyle/>
          <a:p>
            <a:endParaRPr lang="en-US"/>
          </a:p>
        </p:txBody>
      </p:sp>
      <p:sp>
        <p:nvSpPr>
          <p:cNvPr id="59" name="Shape 57"/>
          <p:cNvSpPr/>
          <p:nvPr/>
        </p:nvSpPr>
        <p:spPr>
          <a:xfrm>
            <a:off x="502920" y="4800338"/>
            <a:ext cx="11185855" cy="0"/>
          </a:xfrm>
          <a:prstGeom prst="line">
            <a:avLst/>
          </a:prstGeom>
          <a:noFill/>
          <a:ln w="9525">
            <a:solidFill>
              <a:srgbClr val="F1F5F9"/>
            </a:solidFill>
            <a:prstDash val="solid"/>
          </a:ln>
        </p:spPr>
        <p:txBody>
          <a:bodyPr/>
          <a:lstStyle/>
          <a:p>
            <a:endParaRPr lang="en-US"/>
          </a:p>
        </p:txBody>
      </p:sp>
      <p:sp>
        <p:nvSpPr>
          <p:cNvPr id="60" name="Text 58"/>
          <p:cNvSpPr/>
          <p:nvPr/>
        </p:nvSpPr>
        <p:spPr>
          <a:xfrm>
            <a:off x="594360" y="4800338"/>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Prioritise contacts right after meeting</a:t>
            </a:r>
            <a:endParaRPr lang="en-US" sz="1100" dirty="0"/>
          </a:p>
        </p:txBody>
      </p:sp>
      <p:sp>
        <p:nvSpPr>
          <p:cNvPr id="61" name="Text 59"/>
          <p:cNvSpPr/>
          <p:nvPr/>
        </p:nvSpPr>
        <p:spPr>
          <a:xfrm>
            <a:off x="5074920" y="4800338"/>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Possible</a:t>
            </a:r>
            <a:endParaRPr lang="en-US" sz="1050" dirty="0"/>
          </a:p>
        </p:txBody>
      </p:sp>
      <p:sp>
        <p:nvSpPr>
          <p:cNvPr id="62" name="Shape 60"/>
          <p:cNvSpPr/>
          <p:nvPr/>
        </p:nvSpPr>
        <p:spPr>
          <a:xfrm>
            <a:off x="8092440" y="4850630"/>
            <a:ext cx="2044598" cy="213126"/>
          </a:xfrm>
          <a:prstGeom prst="roundRect">
            <a:avLst>
              <a:gd name="adj" fmla="val 25743"/>
            </a:avLst>
          </a:prstGeom>
          <a:solidFill>
            <a:srgbClr val="10B981"/>
          </a:solidFill>
          <a:ln w="12700">
            <a:solidFill>
              <a:srgbClr val="D1FAE5"/>
            </a:solidFill>
            <a:prstDash val="solid"/>
          </a:ln>
        </p:spPr>
        <p:txBody>
          <a:bodyPr/>
          <a:lstStyle/>
          <a:p>
            <a:endParaRPr lang="en-US"/>
          </a:p>
        </p:txBody>
      </p:sp>
      <p:sp>
        <p:nvSpPr>
          <p:cNvPr id="63" name="Text 61"/>
          <p:cNvSpPr/>
          <p:nvPr/>
        </p:nvSpPr>
        <p:spPr>
          <a:xfrm>
            <a:off x="8092440" y="4850630"/>
            <a:ext cx="2044598" cy="213126"/>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Built into the workflow</a:t>
            </a:r>
            <a:endParaRPr lang="en-US" sz="1000" dirty="0">
              <a:solidFill>
                <a:schemeClr val="bg1"/>
              </a:solidFill>
            </a:endParaRPr>
          </a:p>
        </p:txBody>
      </p:sp>
      <p:sp>
        <p:nvSpPr>
          <p:cNvPr id="64" name="Shape 62"/>
          <p:cNvSpPr/>
          <p:nvPr/>
        </p:nvSpPr>
        <p:spPr>
          <a:xfrm>
            <a:off x="502920" y="5114048"/>
            <a:ext cx="11185855" cy="0"/>
          </a:xfrm>
          <a:prstGeom prst="line">
            <a:avLst/>
          </a:prstGeom>
          <a:noFill/>
          <a:ln w="9525">
            <a:solidFill>
              <a:srgbClr val="F1F5F9"/>
            </a:solidFill>
            <a:prstDash val="solid"/>
          </a:ln>
        </p:spPr>
        <p:txBody>
          <a:bodyPr/>
          <a:lstStyle/>
          <a:p>
            <a:endParaRPr lang="en-US"/>
          </a:p>
        </p:txBody>
      </p:sp>
      <p:sp>
        <p:nvSpPr>
          <p:cNvPr id="65" name="Text 63"/>
          <p:cNvSpPr/>
          <p:nvPr/>
        </p:nvSpPr>
        <p:spPr>
          <a:xfrm>
            <a:off x="594360" y="5114048"/>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Track commitments (sample, quote)</a:t>
            </a:r>
            <a:endParaRPr lang="en-US" sz="1100" dirty="0"/>
          </a:p>
        </p:txBody>
      </p:sp>
      <p:sp>
        <p:nvSpPr>
          <p:cNvPr id="66" name="Text 64"/>
          <p:cNvSpPr/>
          <p:nvPr/>
        </p:nvSpPr>
        <p:spPr>
          <a:xfrm>
            <a:off x="5074920" y="5114048"/>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Tasks &amp; activities</a:t>
            </a:r>
            <a:endParaRPr lang="en-US" sz="1050" dirty="0"/>
          </a:p>
        </p:txBody>
      </p:sp>
      <p:sp>
        <p:nvSpPr>
          <p:cNvPr id="67" name="Shape 65"/>
          <p:cNvSpPr/>
          <p:nvPr/>
        </p:nvSpPr>
        <p:spPr>
          <a:xfrm>
            <a:off x="8092440" y="5164340"/>
            <a:ext cx="2044598" cy="213126"/>
          </a:xfrm>
          <a:prstGeom prst="roundRect">
            <a:avLst>
              <a:gd name="adj" fmla="val 25743"/>
            </a:avLst>
          </a:prstGeom>
          <a:solidFill>
            <a:srgbClr val="10B981"/>
          </a:solidFill>
          <a:ln w="12700">
            <a:solidFill>
              <a:srgbClr val="D1FAE5"/>
            </a:solidFill>
            <a:prstDash val="solid"/>
          </a:ln>
        </p:spPr>
        <p:txBody>
          <a:bodyPr/>
          <a:lstStyle/>
          <a:p>
            <a:endParaRPr lang="en-US"/>
          </a:p>
        </p:txBody>
      </p:sp>
      <p:sp>
        <p:nvSpPr>
          <p:cNvPr id="68" name="Text 66"/>
          <p:cNvSpPr/>
          <p:nvPr/>
        </p:nvSpPr>
        <p:spPr>
          <a:xfrm>
            <a:off x="8092440" y="5164340"/>
            <a:ext cx="2044598" cy="213126"/>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Tied to the interaction</a:t>
            </a:r>
            <a:endParaRPr lang="en-US" sz="1000" dirty="0">
              <a:solidFill>
                <a:schemeClr val="bg1"/>
              </a:solidFill>
            </a:endParaRPr>
          </a:p>
        </p:txBody>
      </p:sp>
      <p:sp>
        <p:nvSpPr>
          <p:cNvPr id="69" name="Shape 67"/>
          <p:cNvSpPr/>
          <p:nvPr/>
        </p:nvSpPr>
        <p:spPr>
          <a:xfrm>
            <a:off x="502920" y="5427757"/>
            <a:ext cx="11185855" cy="313710"/>
          </a:xfrm>
          <a:prstGeom prst="rect">
            <a:avLst/>
          </a:prstGeom>
          <a:solidFill>
            <a:schemeClr val="bg1">
              <a:lumMod val="95000"/>
            </a:schemeClr>
          </a:solidFill>
          <a:ln/>
        </p:spPr>
        <p:txBody>
          <a:bodyPr/>
          <a:lstStyle/>
          <a:p>
            <a:endParaRPr lang="en-US"/>
          </a:p>
        </p:txBody>
      </p:sp>
      <p:sp>
        <p:nvSpPr>
          <p:cNvPr id="70" name="Shape 68"/>
          <p:cNvSpPr/>
          <p:nvPr/>
        </p:nvSpPr>
        <p:spPr>
          <a:xfrm>
            <a:off x="502920" y="5427757"/>
            <a:ext cx="11185855" cy="0"/>
          </a:xfrm>
          <a:prstGeom prst="line">
            <a:avLst/>
          </a:prstGeom>
          <a:noFill/>
          <a:ln w="9525">
            <a:solidFill>
              <a:srgbClr val="F1F5F9"/>
            </a:solidFill>
            <a:prstDash val="solid"/>
          </a:ln>
        </p:spPr>
        <p:txBody>
          <a:bodyPr/>
          <a:lstStyle/>
          <a:p>
            <a:endParaRPr lang="en-US"/>
          </a:p>
        </p:txBody>
      </p:sp>
      <p:sp>
        <p:nvSpPr>
          <p:cNvPr id="71" name="Text 69"/>
          <p:cNvSpPr/>
          <p:nvPr/>
        </p:nvSpPr>
        <p:spPr>
          <a:xfrm>
            <a:off x="594360" y="5427757"/>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See everything from one exhibition</a:t>
            </a:r>
            <a:endParaRPr lang="en-US" sz="1100" dirty="0"/>
          </a:p>
        </p:txBody>
      </p:sp>
      <p:sp>
        <p:nvSpPr>
          <p:cNvPr id="72" name="Text 70"/>
          <p:cNvSpPr/>
          <p:nvPr/>
        </p:nvSpPr>
        <p:spPr>
          <a:xfrm>
            <a:off x="5074920" y="5427757"/>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Setup &amp; reporting</a:t>
            </a:r>
            <a:endParaRPr lang="en-US" sz="1050" dirty="0"/>
          </a:p>
        </p:txBody>
      </p:sp>
      <p:sp>
        <p:nvSpPr>
          <p:cNvPr id="73" name="Shape 71"/>
          <p:cNvSpPr/>
          <p:nvPr/>
        </p:nvSpPr>
        <p:spPr>
          <a:xfrm>
            <a:off x="8092440" y="5478049"/>
            <a:ext cx="1894637" cy="213126"/>
          </a:xfrm>
          <a:prstGeom prst="roundRect">
            <a:avLst>
              <a:gd name="adj" fmla="val 25743"/>
            </a:avLst>
          </a:prstGeom>
          <a:solidFill>
            <a:srgbClr val="10B981"/>
          </a:solidFill>
          <a:ln w="12700">
            <a:solidFill>
              <a:srgbClr val="D1FAE5"/>
            </a:solidFill>
            <a:prstDash val="solid"/>
          </a:ln>
        </p:spPr>
        <p:txBody>
          <a:bodyPr/>
          <a:lstStyle/>
          <a:p>
            <a:endParaRPr lang="en-US"/>
          </a:p>
        </p:txBody>
      </p:sp>
      <p:sp>
        <p:nvSpPr>
          <p:cNvPr id="74" name="Text 72"/>
          <p:cNvSpPr/>
          <p:nvPr/>
        </p:nvSpPr>
        <p:spPr>
          <a:xfrm>
            <a:off x="8092440" y="5478049"/>
            <a:ext cx="1894637" cy="213126"/>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Exhibition-level view</a:t>
            </a:r>
            <a:endParaRPr lang="en-US" sz="1000" dirty="0">
              <a:solidFill>
                <a:schemeClr val="bg1"/>
              </a:solidFill>
            </a:endParaRPr>
          </a:p>
        </p:txBody>
      </p:sp>
      <p:sp>
        <p:nvSpPr>
          <p:cNvPr id="75" name="Shape 73"/>
          <p:cNvSpPr/>
          <p:nvPr/>
        </p:nvSpPr>
        <p:spPr>
          <a:xfrm>
            <a:off x="502920" y="5741467"/>
            <a:ext cx="11185855" cy="0"/>
          </a:xfrm>
          <a:prstGeom prst="line">
            <a:avLst/>
          </a:prstGeom>
          <a:noFill/>
          <a:ln w="9525">
            <a:solidFill>
              <a:srgbClr val="F1F5F9"/>
            </a:solidFill>
            <a:prstDash val="solid"/>
          </a:ln>
        </p:spPr>
        <p:txBody>
          <a:bodyPr/>
          <a:lstStyle/>
          <a:p>
            <a:endParaRPr lang="en-US"/>
          </a:p>
        </p:txBody>
      </p:sp>
      <p:sp>
        <p:nvSpPr>
          <p:cNvPr id="76" name="Text 74"/>
          <p:cNvSpPr/>
          <p:nvPr/>
        </p:nvSpPr>
        <p:spPr>
          <a:xfrm>
            <a:off x="594360" y="5741467"/>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Understand exhibition outcomes</a:t>
            </a:r>
            <a:endParaRPr lang="en-US" sz="1100" dirty="0"/>
          </a:p>
        </p:txBody>
      </p:sp>
      <p:sp>
        <p:nvSpPr>
          <p:cNvPr id="77" name="Text 75"/>
          <p:cNvSpPr/>
          <p:nvPr/>
        </p:nvSpPr>
        <p:spPr>
          <a:xfrm>
            <a:off x="5074920" y="5741467"/>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Needs data model &amp; reports</a:t>
            </a:r>
            <a:endParaRPr lang="en-US" sz="1050" dirty="0"/>
          </a:p>
        </p:txBody>
      </p:sp>
      <p:sp>
        <p:nvSpPr>
          <p:cNvPr id="78" name="Shape 76"/>
          <p:cNvSpPr/>
          <p:nvPr/>
        </p:nvSpPr>
        <p:spPr>
          <a:xfrm>
            <a:off x="8092440" y="5791759"/>
            <a:ext cx="1969618" cy="213126"/>
          </a:xfrm>
          <a:prstGeom prst="roundRect">
            <a:avLst>
              <a:gd name="adj" fmla="val 25743"/>
            </a:avLst>
          </a:prstGeom>
          <a:solidFill>
            <a:schemeClr val="accent4">
              <a:lumMod val="40000"/>
              <a:lumOff val="60000"/>
            </a:schemeClr>
          </a:solidFill>
          <a:ln w="12700">
            <a:solidFill>
              <a:srgbClr val="FDE68A"/>
            </a:solidFill>
            <a:prstDash val="solid"/>
          </a:ln>
        </p:spPr>
        <p:txBody>
          <a:bodyPr/>
          <a:lstStyle/>
          <a:p>
            <a:endParaRPr lang="en-US"/>
          </a:p>
        </p:txBody>
      </p:sp>
      <p:sp>
        <p:nvSpPr>
          <p:cNvPr id="79" name="Text 77"/>
          <p:cNvSpPr/>
          <p:nvPr/>
        </p:nvSpPr>
        <p:spPr>
          <a:xfrm>
            <a:off x="8092440" y="5791759"/>
            <a:ext cx="1969618" cy="213126"/>
          </a:xfrm>
          <a:prstGeom prst="rect">
            <a:avLst/>
          </a:prstGeom>
          <a:noFill/>
          <a:ln/>
        </p:spPr>
        <p:txBody>
          <a:bodyPr wrap="square" lIns="0" tIns="0" rIns="0" bIns="0" rtlCol="0" anchor="ctr"/>
          <a:lstStyle/>
          <a:p>
            <a:pPr marL="0" indent="0" algn="ctr">
              <a:buNone/>
            </a:pPr>
            <a:r>
              <a:rPr lang="en-US" sz="1000" b="1" dirty="0">
                <a:solidFill>
                  <a:srgbClr val="7C5B16"/>
                </a:solidFill>
                <a:latin typeface="Calibri" pitchFamily="34" charset="0"/>
                <a:ea typeface="Calibri" pitchFamily="34" charset="-122"/>
                <a:cs typeface="Calibri" pitchFamily="34" charset="-120"/>
              </a:rPr>
              <a:t>● Core product direction</a:t>
            </a:r>
            <a:endParaRPr lang="en-US" sz="1000" dirty="0"/>
          </a:p>
        </p:txBody>
      </p:sp>
      <p:sp>
        <p:nvSpPr>
          <p:cNvPr id="80" name="Shape 78"/>
          <p:cNvSpPr/>
          <p:nvPr/>
        </p:nvSpPr>
        <p:spPr>
          <a:xfrm>
            <a:off x="502920" y="6055176"/>
            <a:ext cx="11185855" cy="313710"/>
          </a:xfrm>
          <a:prstGeom prst="rect">
            <a:avLst/>
          </a:prstGeom>
          <a:solidFill>
            <a:schemeClr val="bg1">
              <a:lumMod val="95000"/>
            </a:schemeClr>
          </a:solidFill>
          <a:ln/>
        </p:spPr>
        <p:txBody>
          <a:bodyPr/>
          <a:lstStyle/>
          <a:p>
            <a:endParaRPr lang="en-US"/>
          </a:p>
        </p:txBody>
      </p:sp>
      <p:sp>
        <p:nvSpPr>
          <p:cNvPr id="81" name="Shape 79"/>
          <p:cNvSpPr/>
          <p:nvPr/>
        </p:nvSpPr>
        <p:spPr>
          <a:xfrm>
            <a:off x="502920" y="6055176"/>
            <a:ext cx="11185855" cy="0"/>
          </a:xfrm>
          <a:prstGeom prst="line">
            <a:avLst/>
          </a:prstGeom>
          <a:noFill/>
          <a:ln w="9525">
            <a:solidFill>
              <a:srgbClr val="F1F5F9"/>
            </a:solidFill>
            <a:prstDash val="solid"/>
          </a:ln>
        </p:spPr>
        <p:txBody>
          <a:bodyPr/>
          <a:lstStyle/>
          <a:p>
            <a:endParaRPr lang="en-US"/>
          </a:p>
        </p:txBody>
      </p:sp>
      <p:sp>
        <p:nvSpPr>
          <p:cNvPr id="82" name="Text 80"/>
          <p:cNvSpPr/>
          <p:nvPr/>
        </p:nvSpPr>
        <p:spPr>
          <a:xfrm>
            <a:off x="594360" y="6055176"/>
            <a:ext cx="4343400" cy="313710"/>
          </a:xfrm>
          <a:prstGeom prst="rect">
            <a:avLst/>
          </a:prstGeom>
          <a:noFill/>
          <a:ln/>
        </p:spPr>
        <p:txBody>
          <a:bodyPr wrap="square" lIns="0" tIns="0" rIns="0" bIns="0" rtlCol="0" anchor="ctr"/>
          <a:lstStyle/>
          <a:p>
            <a:pPr marL="0" indent="0" algn="l">
              <a:buNone/>
            </a:pPr>
            <a:r>
              <a:rPr lang="en-US" sz="1100" b="1" dirty="0">
                <a:solidFill>
                  <a:srgbClr val="0F172A"/>
                </a:solidFill>
                <a:latin typeface="Calibri" pitchFamily="34" charset="0"/>
                <a:ea typeface="Calibri" pitchFamily="34" charset="-122"/>
                <a:cs typeface="Calibri" pitchFamily="34" charset="-120"/>
              </a:rPr>
              <a:t>Long-term nurturing &amp; accounts</a:t>
            </a:r>
            <a:endParaRPr lang="en-US" sz="1100" dirty="0"/>
          </a:p>
        </p:txBody>
      </p:sp>
      <p:sp>
        <p:nvSpPr>
          <p:cNvPr id="83" name="Text 81"/>
          <p:cNvSpPr/>
          <p:nvPr/>
        </p:nvSpPr>
        <p:spPr>
          <a:xfrm>
            <a:off x="5074920" y="6055176"/>
            <a:ext cx="2880360" cy="31371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Core strength</a:t>
            </a:r>
            <a:endParaRPr lang="en-US" sz="1050" dirty="0"/>
          </a:p>
        </p:txBody>
      </p:sp>
      <p:sp>
        <p:nvSpPr>
          <p:cNvPr id="84" name="Shape 82"/>
          <p:cNvSpPr/>
          <p:nvPr/>
        </p:nvSpPr>
        <p:spPr>
          <a:xfrm>
            <a:off x="8092440" y="6105468"/>
            <a:ext cx="1969618" cy="213126"/>
          </a:xfrm>
          <a:prstGeom prst="roundRect">
            <a:avLst>
              <a:gd name="adj" fmla="val 25743"/>
            </a:avLst>
          </a:prstGeom>
          <a:solidFill>
            <a:srgbClr val="F8FAFC"/>
          </a:solidFill>
          <a:ln w="12700">
            <a:solidFill>
              <a:srgbClr val="E2E8F0"/>
            </a:solidFill>
            <a:prstDash val="solid"/>
          </a:ln>
        </p:spPr>
        <p:txBody>
          <a:bodyPr/>
          <a:lstStyle/>
          <a:p>
            <a:endParaRPr lang="en-US"/>
          </a:p>
        </p:txBody>
      </p:sp>
      <p:sp>
        <p:nvSpPr>
          <p:cNvPr id="85" name="Text 83"/>
          <p:cNvSpPr/>
          <p:nvPr/>
        </p:nvSpPr>
        <p:spPr>
          <a:xfrm>
            <a:off x="8092440" y="6105468"/>
            <a:ext cx="1969618" cy="213126"/>
          </a:xfrm>
          <a:prstGeom prst="rect">
            <a:avLst/>
          </a:prstGeom>
          <a:noFill/>
          <a:ln/>
        </p:spPr>
        <p:txBody>
          <a:bodyPr wrap="square" lIns="0" tIns="0" rIns="0" bIns="0" rtlCol="0" anchor="ctr"/>
          <a:lstStyle/>
          <a:p>
            <a:pPr marL="0" indent="0" algn="ctr">
              <a:buNone/>
            </a:pPr>
            <a:r>
              <a:rPr lang="en-US" sz="1000" b="1" dirty="0">
                <a:solidFill>
                  <a:srgbClr val="475569"/>
                </a:solidFill>
                <a:latin typeface="Calibri" pitchFamily="34" charset="0"/>
                <a:ea typeface="Calibri" pitchFamily="34" charset="-122"/>
                <a:cs typeface="Calibri" pitchFamily="34" charset="-120"/>
              </a:rPr>
              <a:t>Designed to complement</a:t>
            </a:r>
            <a:endParaRPr lang="en-US" sz="1000" dirty="0"/>
          </a:p>
        </p:txBody>
      </p:sp>
      <p:sp>
        <p:nvSpPr>
          <p:cNvPr id="86" name="Text 84"/>
          <p:cNvSpPr/>
          <p:nvPr/>
        </p:nvSpPr>
        <p:spPr>
          <a:xfrm>
            <a:off x="502920" y="6473952"/>
            <a:ext cx="8686800" cy="320040"/>
          </a:xfrm>
          <a:prstGeom prst="rect">
            <a:avLst/>
          </a:prstGeom>
          <a:noFill/>
          <a:ln/>
        </p:spPr>
        <p:txBody>
          <a:bodyPr wrap="square" lIns="0" tIns="0" rIns="0" bIns="0" rtlCol="0" anchor="ctr"/>
          <a:lstStyle/>
          <a:p>
            <a:pPr marL="0" indent="0" algn="l">
              <a:buNone/>
            </a:pPr>
            <a:r>
              <a:rPr lang="en-US" sz="1050" i="1" dirty="0">
                <a:solidFill>
                  <a:srgbClr val="64748B"/>
                </a:solidFill>
                <a:latin typeface="Calibri" pitchFamily="34" charset="0"/>
                <a:ea typeface="Calibri" pitchFamily="34" charset="-122"/>
                <a:cs typeface="Calibri" pitchFamily="34" charset="-120"/>
              </a:rPr>
              <a:t>A mature CRM can be configured to do many of these. ExpoLead is designed around them. This is about what each system is built for, not what it can be forced to do.</a:t>
            </a:r>
            <a:endParaRPr lang="en-US" sz="1050" dirty="0"/>
          </a:p>
        </p:txBody>
      </p:sp>
      <p:sp>
        <p:nvSpPr>
          <p:cNvPr id="87" name="Shape 85"/>
          <p:cNvSpPr/>
          <p:nvPr/>
        </p:nvSpPr>
        <p:spPr>
          <a:xfrm>
            <a:off x="9402775" y="6492240"/>
            <a:ext cx="219456" cy="219456"/>
          </a:xfrm>
          <a:prstGeom prst="roundRect">
            <a:avLst>
              <a:gd name="adj" fmla="val 20833"/>
            </a:avLst>
          </a:prstGeom>
          <a:solidFill>
            <a:schemeClr val="accent4">
              <a:lumMod val="40000"/>
              <a:lumOff val="60000"/>
            </a:schemeClr>
          </a:solidFill>
          <a:ln w="12700">
            <a:solidFill>
              <a:srgbClr val="FDE68A"/>
            </a:solidFill>
            <a:prstDash val="solid"/>
          </a:ln>
        </p:spPr>
        <p:txBody>
          <a:bodyPr/>
          <a:lstStyle/>
          <a:p>
            <a:endParaRPr lang="en-US"/>
          </a:p>
        </p:txBody>
      </p:sp>
      <p:sp>
        <p:nvSpPr>
          <p:cNvPr id="88" name="Text 86"/>
          <p:cNvSpPr/>
          <p:nvPr/>
        </p:nvSpPr>
        <p:spPr>
          <a:xfrm>
            <a:off x="9677095" y="6455664"/>
            <a:ext cx="2011680" cy="292608"/>
          </a:xfrm>
          <a:prstGeom prst="rect">
            <a:avLst/>
          </a:prstGeom>
          <a:noFill/>
          <a:ln/>
        </p:spPr>
        <p:txBody>
          <a:bodyPr wrap="square" lIns="0" tIns="0" rIns="0" bIns="0" rtlCol="0" anchor="ctr"/>
          <a:lstStyle/>
          <a:p>
            <a:pPr marL="0" indent="0" algn="l">
              <a:buNone/>
            </a:pPr>
            <a:r>
              <a:rPr lang="en-US" sz="950" b="1" dirty="0">
                <a:solidFill>
                  <a:srgbClr val="7C5B16"/>
                </a:solidFill>
                <a:latin typeface="Calibri" pitchFamily="34" charset="0"/>
                <a:ea typeface="Calibri" pitchFamily="34" charset="-122"/>
                <a:cs typeface="Calibri" pitchFamily="34" charset="-120"/>
              </a:rPr>
              <a:t>●  Product direction, not a current claim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11480"/>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3" name="Shape 1"/>
          <p:cNvSpPr/>
          <p:nvPr/>
        </p:nvSpPr>
        <p:spPr>
          <a:xfrm>
            <a:off x="644652" y="411480"/>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4" name="Shape 2"/>
          <p:cNvSpPr/>
          <p:nvPr/>
        </p:nvSpPr>
        <p:spPr>
          <a:xfrm>
            <a:off x="502920" y="553212"/>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5" name="Shape 3"/>
          <p:cNvSpPr/>
          <p:nvPr/>
        </p:nvSpPr>
        <p:spPr>
          <a:xfrm>
            <a:off x="644652" y="553212"/>
            <a:ext cx="100584" cy="100584"/>
          </a:xfrm>
          <a:prstGeom prst="roundRect">
            <a:avLst>
              <a:gd name="adj" fmla="val 18182"/>
            </a:avLst>
          </a:prstGeom>
          <a:solidFill>
            <a:srgbClr val="10B981"/>
          </a:solidFill>
          <a:ln w="16510">
            <a:solidFill>
              <a:srgbClr val="10B981"/>
            </a:solidFill>
            <a:prstDash val="solid"/>
          </a:ln>
        </p:spPr>
        <p:txBody>
          <a:bodyPr/>
          <a:lstStyle/>
          <a:p>
            <a:endParaRPr lang="en-US"/>
          </a:p>
        </p:txBody>
      </p:sp>
      <p:sp>
        <p:nvSpPr>
          <p:cNvPr id="6" name="Text 4"/>
          <p:cNvSpPr/>
          <p:nvPr/>
        </p:nvSpPr>
        <p:spPr>
          <a:xfrm>
            <a:off x="886968" y="365760"/>
            <a:ext cx="2011680" cy="329184"/>
          </a:xfrm>
          <a:prstGeom prst="rect">
            <a:avLst/>
          </a:prstGeom>
          <a:noFill/>
          <a:ln/>
        </p:spPr>
        <p:txBody>
          <a:bodyPr wrap="square" lIns="0" tIns="0" rIns="0" bIns="0" rtlCol="0" anchor="ctr"/>
          <a:lstStyle/>
          <a:p>
            <a:pPr marL="0" indent="0" algn="l">
              <a:buNone/>
            </a:pPr>
            <a:r>
              <a:rPr lang="en-US" sz="1500" b="1" dirty="0">
                <a:solidFill>
                  <a:srgbClr val="0F172A"/>
                </a:solidFill>
                <a:latin typeface="Calibri" pitchFamily="34" charset="0"/>
                <a:ea typeface="Calibri" pitchFamily="34" charset="-122"/>
                <a:cs typeface="Calibri" pitchFamily="34" charset="-120"/>
              </a:rPr>
              <a:t>Expo</a:t>
            </a:r>
            <a:r>
              <a:rPr lang="en-US" sz="1500" b="1" dirty="0">
                <a:solidFill>
                  <a:srgbClr val="10B981"/>
                </a:solidFill>
                <a:latin typeface="Calibri" pitchFamily="34" charset="0"/>
                <a:ea typeface="Calibri" pitchFamily="34" charset="-122"/>
                <a:cs typeface="Calibri" pitchFamily="34" charset="-120"/>
              </a:rPr>
              <a:t>Lead</a:t>
            </a: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051560"/>
            <a:ext cx="8229600" cy="274320"/>
          </a:xfrm>
          <a:prstGeom prst="rect">
            <a:avLst/>
          </a:prstGeom>
          <a:noFill/>
          <a:ln/>
        </p:spPr>
        <p:txBody>
          <a:bodyPr wrap="square" lIns="0" tIns="0" rIns="0" bIns="0" rtlCol="0" anchor="ctr"/>
          <a:lstStyle/>
          <a:p>
            <a:pPr marL="0" indent="0" algn="l">
              <a:buNone/>
            </a:pPr>
            <a:r>
              <a:rPr lang="en-US" sz="1100" b="1" kern="0" spc="220" dirty="0">
                <a:solidFill>
                  <a:srgbClr val="059669"/>
                </a:solidFill>
                <a:latin typeface="Calibri" pitchFamily="34" charset="0"/>
                <a:ea typeface="Calibri" pitchFamily="34" charset="-122"/>
                <a:cs typeface="Calibri" pitchFamily="34" charset="-120"/>
              </a:rPr>
              <a:t>WHY CONTEXT MATTERS</a:t>
            </a:r>
            <a:endParaRPr lang="en-US" sz="1100" dirty="0"/>
          </a:p>
        </p:txBody>
      </p:sp>
      <p:sp>
        <p:nvSpPr>
          <p:cNvPr id="8" name="Text 6"/>
          <p:cNvSpPr/>
          <p:nvPr/>
        </p:nvSpPr>
        <p:spPr>
          <a:xfrm>
            <a:off x="502920" y="1325880"/>
            <a:ext cx="10972800" cy="502920"/>
          </a:xfrm>
          <a:prstGeom prst="rect">
            <a:avLst/>
          </a:prstGeom>
          <a:noFill/>
          <a:ln/>
        </p:spPr>
        <p:txBody>
          <a:bodyPr wrap="square" lIns="0" tIns="0" rIns="0" bIns="0" rtlCol="0" anchor="t"/>
          <a:lstStyle/>
          <a:p>
            <a:pPr marL="0" indent="0" algn="l">
              <a:buNone/>
            </a:pPr>
            <a:r>
              <a:rPr lang="en-US" sz="2600" b="1" dirty="0">
                <a:solidFill>
                  <a:srgbClr val="0F172A"/>
                </a:solidFill>
                <a:latin typeface="Calibri" pitchFamily="34" charset="0"/>
                <a:ea typeface="Calibri" pitchFamily="34" charset="-122"/>
                <a:cs typeface="Calibri" pitchFamily="34" charset="-120"/>
              </a:rPr>
              <a:t>The exhibition floor is not a quiet desk</a:t>
            </a:r>
            <a:endParaRPr lang="en-US" sz="2600" dirty="0"/>
          </a:p>
        </p:txBody>
      </p:sp>
      <p:sp>
        <p:nvSpPr>
          <p:cNvPr id="9" name="Shape 7"/>
          <p:cNvSpPr/>
          <p:nvPr/>
        </p:nvSpPr>
        <p:spPr>
          <a:xfrm>
            <a:off x="502920" y="2148840"/>
            <a:ext cx="5486400" cy="3977640"/>
          </a:xfrm>
          <a:prstGeom prst="roundRect">
            <a:avLst>
              <a:gd name="adj" fmla="val 2299"/>
            </a:avLst>
          </a:prstGeom>
          <a:solidFill>
            <a:srgbClr val="0F172A"/>
          </a:solidFill>
          <a:ln/>
        </p:spPr>
        <p:txBody>
          <a:bodyPr/>
          <a:lstStyle/>
          <a:p>
            <a:endParaRPr lang="en-US"/>
          </a:p>
        </p:txBody>
      </p:sp>
      <p:sp>
        <p:nvSpPr>
          <p:cNvPr id="10" name="Text 8"/>
          <p:cNvSpPr/>
          <p:nvPr/>
        </p:nvSpPr>
        <p:spPr>
          <a:xfrm>
            <a:off x="822960" y="2423160"/>
            <a:ext cx="4846320" cy="274320"/>
          </a:xfrm>
          <a:prstGeom prst="rect">
            <a:avLst/>
          </a:prstGeom>
          <a:noFill/>
          <a:ln/>
        </p:spPr>
        <p:txBody>
          <a:bodyPr wrap="square" lIns="0" tIns="0" rIns="0" bIns="0" rtlCol="0" anchor="ctr"/>
          <a:lstStyle/>
          <a:p>
            <a:pPr marL="0" indent="0">
              <a:buNone/>
            </a:pPr>
            <a:r>
              <a:rPr lang="en-US" sz="1100" b="1" kern="0" spc="120" dirty="0">
                <a:solidFill>
                  <a:srgbClr val="34D399"/>
                </a:solidFill>
                <a:latin typeface="Calibri" pitchFamily="34" charset="0"/>
                <a:ea typeface="Calibri" pitchFamily="34" charset="-122"/>
                <a:cs typeface="Calibri" pitchFamily="34" charset="-120"/>
              </a:rPr>
              <a:t>THE EXHIBITION REALITY</a:t>
            </a:r>
            <a:endParaRPr lang="en-US" sz="1100" dirty="0"/>
          </a:p>
        </p:txBody>
      </p:sp>
      <p:sp>
        <p:nvSpPr>
          <p:cNvPr id="11" name="Shape 9"/>
          <p:cNvSpPr/>
          <p:nvPr/>
        </p:nvSpPr>
        <p:spPr>
          <a:xfrm>
            <a:off x="822960" y="2880360"/>
            <a:ext cx="1629461" cy="365760"/>
          </a:xfrm>
          <a:prstGeom prst="roundRect">
            <a:avLst>
              <a:gd name="adj" fmla="val 50000"/>
            </a:avLst>
          </a:prstGeom>
          <a:solidFill>
            <a:srgbClr val="1E293B"/>
          </a:solidFill>
          <a:ln w="12700">
            <a:solidFill>
              <a:srgbClr val="334155"/>
            </a:solidFill>
            <a:prstDash val="solid"/>
          </a:ln>
        </p:spPr>
        <p:txBody>
          <a:bodyPr/>
          <a:lstStyle/>
          <a:p>
            <a:endParaRPr lang="en-US"/>
          </a:p>
        </p:txBody>
      </p:sp>
      <p:sp>
        <p:nvSpPr>
          <p:cNvPr id="12" name="Text 10"/>
          <p:cNvSpPr/>
          <p:nvPr/>
        </p:nvSpPr>
        <p:spPr>
          <a:xfrm>
            <a:off x="822960" y="2880360"/>
            <a:ext cx="1629461" cy="365760"/>
          </a:xfrm>
          <a:prstGeom prst="rect">
            <a:avLst/>
          </a:prstGeom>
          <a:noFill/>
          <a:ln/>
        </p:spPr>
        <p:txBody>
          <a:bodyPr wrap="square" lIns="0" tIns="0" rIns="0" bIns="0" rtlCol="0" anchor="ctr"/>
          <a:lstStyle/>
          <a:p>
            <a:pPr marL="0" indent="0" algn="ctr">
              <a:buNone/>
            </a:pPr>
            <a:r>
              <a:rPr lang="en-US" sz="1100" b="1" dirty="0">
                <a:solidFill>
                  <a:srgbClr val="DBEAFE"/>
                </a:solidFill>
                <a:latin typeface="Calibri" pitchFamily="34" charset="0"/>
                <a:ea typeface="Calibri" pitchFamily="34" charset="-122"/>
                <a:cs typeface="Calibri" pitchFamily="34" charset="-120"/>
              </a:rPr>
              <a:t>Where do I go next?</a:t>
            </a:r>
            <a:endParaRPr lang="en-US" sz="1100" dirty="0"/>
          </a:p>
        </p:txBody>
      </p:sp>
      <p:sp>
        <p:nvSpPr>
          <p:cNvPr id="13" name="Shape 11"/>
          <p:cNvSpPr/>
          <p:nvPr/>
        </p:nvSpPr>
        <p:spPr>
          <a:xfrm>
            <a:off x="2562149" y="2880360"/>
            <a:ext cx="1700784" cy="365760"/>
          </a:xfrm>
          <a:prstGeom prst="roundRect">
            <a:avLst>
              <a:gd name="adj" fmla="val 50000"/>
            </a:avLst>
          </a:prstGeom>
          <a:solidFill>
            <a:srgbClr val="1E293B"/>
          </a:solidFill>
          <a:ln w="12700">
            <a:solidFill>
              <a:srgbClr val="334155"/>
            </a:solidFill>
            <a:prstDash val="solid"/>
          </a:ln>
        </p:spPr>
        <p:txBody>
          <a:bodyPr/>
          <a:lstStyle/>
          <a:p>
            <a:endParaRPr lang="en-US"/>
          </a:p>
        </p:txBody>
      </p:sp>
      <p:sp>
        <p:nvSpPr>
          <p:cNvPr id="14" name="Text 12"/>
          <p:cNvSpPr/>
          <p:nvPr/>
        </p:nvSpPr>
        <p:spPr>
          <a:xfrm>
            <a:off x="2562149" y="2880360"/>
            <a:ext cx="1700784" cy="365760"/>
          </a:xfrm>
          <a:prstGeom prst="rect">
            <a:avLst/>
          </a:prstGeom>
          <a:noFill/>
          <a:ln/>
        </p:spPr>
        <p:txBody>
          <a:bodyPr wrap="square" lIns="0" tIns="0" rIns="0" bIns="0" rtlCol="0" anchor="ctr"/>
          <a:lstStyle/>
          <a:p>
            <a:pPr marL="0" indent="0" algn="ctr">
              <a:buNone/>
            </a:pPr>
            <a:r>
              <a:rPr lang="en-US" sz="1100" b="1" dirty="0">
                <a:solidFill>
                  <a:srgbClr val="DBEAFE"/>
                </a:solidFill>
                <a:latin typeface="Calibri" pitchFamily="34" charset="0"/>
                <a:ea typeface="Calibri" pitchFamily="34" charset="-122"/>
                <a:cs typeface="Calibri" pitchFamily="34" charset="-120"/>
              </a:rPr>
              <a:t>Which booth is this?</a:t>
            </a:r>
            <a:endParaRPr lang="en-US" sz="1100" dirty="0"/>
          </a:p>
        </p:txBody>
      </p:sp>
      <p:sp>
        <p:nvSpPr>
          <p:cNvPr id="15" name="Shape 13"/>
          <p:cNvSpPr/>
          <p:nvPr/>
        </p:nvSpPr>
        <p:spPr>
          <a:xfrm>
            <a:off x="822960" y="3355848"/>
            <a:ext cx="2342693" cy="365760"/>
          </a:xfrm>
          <a:prstGeom prst="roundRect">
            <a:avLst>
              <a:gd name="adj" fmla="val 50000"/>
            </a:avLst>
          </a:prstGeom>
          <a:solidFill>
            <a:srgbClr val="1E293B"/>
          </a:solidFill>
          <a:ln w="12700">
            <a:solidFill>
              <a:srgbClr val="334155"/>
            </a:solidFill>
            <a:prstDash val="solid"/>
          </a:ln>
        </p:spPr>
        <p:txBody>
          <a:bodyPr/>
          <a:lstStyle/>
          <a:p>
            <a:endParaRPr lang="en-US"/>
          </a:p>
        </p:txBody>
      </p:sp>
      <p:sp>
        <p:nvSpPr>
          <p:cNvPr id="16" name="Text 14"/>
          <p:cNvSpPr/>
          <p:nvPr/>
        </p:nvSpPr>
        <p:spPr>
          <a:xfrm>
            <a:off x="822960" y="3355848"/>
            <a:ext cx="2342693" cy="365760"/>
          </a:xfrm>
          <a:prstGeom prst="rect">
            <a:avLst/>
          </a:prstGeom>
          <a:noFill/>
          <a:ln/>
        </p:spPr>
        <p:txBody>
          <a:bodyPr wrap="square" lIns="0" tIns="0" rIns="0" bIns="0" rtlCol="0" anchor="ctr"/>
          <a:lstStyle/>
          <a:p>
            <a:pPr marL="0" indent="0" algn="ctr">
              <a:buNone/>
            </a:pPr>
            <a:r>
              <a:rPr lang="en-US" sz="1100" b="1" dirty="0">
                <a:solidFill>
                  <a:srgbClr val="DBEAFE"/>
                </a:solidFill>
                <a:latin typeface="Calibri" pitchFamily="34" charset="0"/>
                <a:ea typeface="Calibri" pitchFamily="34" charset="-122"/>
                <a:cs typeface="Calibri" pitchFamily="34" charset="-120"/>
              </a:rPr>
              <a:t>Has a colleague visited them?</a:t>
            </a:r>
            <a:endParaRPr lang="en-US" sz="1100" dirty="0"/>
          </a:p>
        </p:txBody>
      </p:sp>
      <p:sp>
        <p:nvSpPr>
          <p:cNvPr id="17" name="Shape 15"/>
          <p:cNvSpPr/>
          <p:nvPr/>
        </p:nvSpPr>
        <p:spPr>
          <a:xfrm>
            <a:off x="3275381" y="3355848"/>
            <a:ext cx="1629461" cy="365760"/>
          </a:xfrm>
          <a:prstGeom prst="roundRect">
            <a:avLst>
              <a:gd name="adj" fmla="val 50000"/>
            </a:avLst>
          </a:prstGeom>
          <a:solidFill>
            <a:srgbClr val="1E293B"/>
          </a:solidFill>
          <a:ln w="12700">
            <a:solidFill>
              <a:srgbClr val="334155"/>
            </a:solidFill>
            <a:prstDash val="solid"/>
          </a:ln>
        </p:spPr>
        <p:txBody>
          <a:bodyPr/>
          <a:lstStyle/>
          <a:p>
            <a:endParaRPr lang="en-US"/>
          </a:p>
        </p:txBody>
      </p:sp>
      <p:sp>
        <p:nvSpPr>
          <p:cNvPr id="18" name="Text 16"/>
          <p:cNvSpPr/>
          <p:nvPr/>
        </p:nvSpPr>
        <p:spPr>
          <a:xfrm>
            <a:off x="3275381" y="3355848"/>
            <a:ext cx="1629461" cy="365760"/>
          </a:xfrm>
          <a:prstGeom prst="rect">
            <a:avLst/>
          </a:prstGeom>
          <a:noFill/>
          <a:ln/>
        </p:spPr>
        <p:txBody>
          <a:bodyPr wrap="square" lIns="0" tIns="0" rIns="0" bIns="0" rtlCol="0" anchor="ctr"/>
          <a:lstStyle/>
          <a:p>
            <a:pPr marL="0" indent="0" algn="ctr">
              <a:buNone/>
            </a:pPr>
            <a:r>
              <a:rPr lang="en-US" sz="1100" b="1" dirty="0">
                <a:solidFill>
                  <a:srgbClr val="DBEAFE"/>
                </a:solidFill>
                <a:latin typeface="Calibri" pitchFamily="34" charset="0"/>
                <a:ea typeface="Calibri" pitchFamily="34" charset="-122"/>
                <a:cs typeface="Calibri" pitchFamily="34" charset="-120"/>
              </a:rPr>
              <a:t>Who did I speak to?</a:t>
            </a:r>
            <a:endParaRPr lang="en-US" sz="1100" dirty="0"/>
          </a:p>
        </p:txBody>
      </p:sp>
      <p:sp>
        <p:nvSpPr>
          <p:cNvPr id="19" name="Shape 17"/>
          <p:cNvSpPr/>
          <p:nvPr/>
        </p:nvSpPr>
        <p:spPr>
          <a:xfrm>
            <a:off x="822960" y="3831336"/>
            <a:ext cx="2200046" cy="365760"/>
          </a:xfrm>
          <a:prstGeom prst="roundRect">
            <a:avLst>
              <a:gd name="adj" fmla="val 50000"/>
            </a:avLst>
          </a:prstGeom>
          <a:solidFill>
            <a:srgbClr val="1E293B"/>
          </a:solidFill>
          <a:ln w="12700">
            <a:solidFill>
              <a:srgbClr val="334155"/>
            </a:solidFill>
            <a:prstDash val="solid"/>
          </a:ln>
        </p:spPr>
        <p:txBody>
          <a:bodyPr/>
          <a:lstStyle/>
          <a:p>
            <a:endParaRPr lang="en-US"/>
          </a:p>
        </p:txBody>
      </p:sp>
      <p:sp>
        <p:nvSpPr>
          <p:cNvPr id="20" name="Text 18"/>
          <p:cNvSpPr/>
          <p:nvPr/>
        </p:nvSpPr>
        <p:spPr>
          <a:xfrm>
            <a:off x="822960" y="3831336"/>
            <a:ext cx="2200046" cy="365760"/>
          </a:xfrm>
          <a:prstGeom prst="rect">
            <a:avLst/>
          </a:prstGeom>
          <a:noFill/>
          <a:ln/>
        </p:spPr>
        <p:txBody>
          <a:bodyPr wrap="square" lIns="0" tIns="0" rIns="0" bIns="0" rtlCol="0" anchor="ctr"/>
          <a:lstStyle/>
          <a:p>
            <a:pPr marL="0" indent="0" algn="ctr">
              <a:buNone/>
            </a:pPr>
            <a:r>
              <a:rPr lang="en-US" sz="1100" b="1" dirty="0">
                <a:solidFill>
                  <a:srgbClr val="DBEAFE"/>
                </a:solidFill>
                <a:latin typeface="Calibri" pitchFamily="34" charset="0"/>
                <a:ea typeface="Calibri" pitchFamily="34" charset="-122"/>
                <a:cs typeface="Calibri" pitchFamily="34" charset="-120"/>
              </a:rPr>
              <a:t>What product did they want?</a:t>
            </a:r>
            <a:endParaRPr lang="en-US" sz="1100" dirty="0"/>
          </a:p>
        </p:txBody>
      </p:sp>
      <p:sp>
        <p:nvSpPr>
          <p:cNvPr id="21" name="Shape 19"/>
          <p:cNvSpPr/>
          <p:nvPr/>
        </p:nvSpPr>
        <p:spPr>
          <a:xfrm>
            <a:off x="3132734" y="3831336"/>
            <a:ext cx="1914754" cy="365760"/>
          </a:xfrm>
          <a:prstGeom prst="roundRect">
            <a:avLst>
              <a:gd name="adj" fmla="val 50000"/>
            </a:avLst>
          </a:prstGeom>
          <a:solidFill>
            <a:srgbClr val="1E293B"/>
          </a:solidFill>
          <a:ln w="12700">
            <a:solidFill>
              <a:srgbClr val="334155"/>
            </a:solidFill>
            <a:prstDash val="solid"/>
          </a:ln>
        </p:spPr>
        <p:txBody>
          <a:bodyPr/>
          <a:lstStyle/>
          <a:p>
            <a:endParaRPr lang="en-US"/>
          </a:p>
        </p:txBody>
      </p:sp>
      <p:sp>
        <p:nvSpPr>
          <p:cNvPr id="22" name="Text 20"/>
          <p:cNvSpPr/>
          <p:nvPr/>
        </p:nvSpPr>
        <p:spPr>
          <a:xfrm>
            <a:off x="3132734" y="3831336"/>
            <a:ext cx="1914754" cy="365760"/>
          </a:xfrm>
          <a:prstGeom prst="rect">
            <a:avLst/>
          </a:prstGeom>
          <a:noFill/>
          <a:ln/>
        </p:spPr>
        <p:txBody>
          <a:bodyPr wrap="square" lIns="0" tIns="0" rIns="0" bIns="0" rtlCol="0" anchor="ctr"/>
          <a:lstStyle/>
          <a:p>
            <a:pPr marL="0" indent="0" algn="ctr">
              <a:buNone/>
            </a:pPr>
            <a:r>
              <a:rPr lang="en-US" sz="1100" b="1" dirty="0">
                <a:solidFill>
                  <a:srgbClr val="DBEAFE"/>
                </a:solidFill>
                <a:latin typeface="Calibri" pitchFamily="34" charset="0"/>
                <a:ea typeface="Calibri" pitchFamily="34" charset="-122"/>
                <a:cs typeface="Calibri" pitchFamily="34" charset="-120"/>
              </a:rPr>
              <a:t>Did I promise a sample?</a:t>
            </a:r>
            <a:endParaRPr lang="en-US" sz="1100" dirty="0"/>
          </a:p>
        </p:txBody>
      </p:sp>
      <p:sp>
        <p:nvSpPr>
          <p:cNvPr id="23" name="Shape 21"/>
          <p:cNvSpPr/>
          <p:nvPr/>
        </p:nvSpPr>
        <p:spPr>
          <a:xfrm>
            <a:off x="822960" y="4306824"/>
            <a:ext cx="1700784" cy="365760"/>
          </a:xfrm>
          <a:prstGeom prst="roundRect">
            <a:avLst>
              <a:gd name="adj" fmla="val 50000"/>
            </a:avLst>
          </a:prstGeom>
          <a:solidFill>
            <a:srgbClr val="1E293B"/>
          </a:solidFill>
          <a:ln w="12700">
            <a:solidFill>
              <a:srgbClr val="334155"/>
            </a:solidFill>
            <a:prstDash val="solid"/>
          </a:ln>
        </p:spPr>
        <p:txBody>
          <a:bodyPr/>
          <a:lstStyle/>
          <a:p>
            <a:endParaRPr lang="en-US"/>
          </a:p>
        </p:txBody>
      </p:sp>
      <p:sp>
        <p:nvSpPr>
          <p:cNvPr id="24" name="Text 22"/>
          <p:cNvSpPr/>
          <p:nvPr/>
        </p:nvSpPr>
        <p:spPr>
          <a:xfrm>
            <a:off x="822960" y="4306824"/>
            <a:ext cx="1700784" cy="365760"/>
          </a:xfrm>
          <a:prstGeom prst="rect">
            <a:avLst/>
          </a:prstGeom>
          <a:noFill/>
          <a:ln/>
        </p:spPr>
        <p:txBody>
          <a:bodyPr wrap="square" lIns="0" tIns="0" rIns="0" bIns="0" rtlCol="0" anchor="ctr"/>
          <a:lstStyle/>
          <a:p>
            <a:pPr marL="0" indent="0" algn="ctr">
              <a:buNone/>
            </a:pPr>
            <a:r>
              <a:rPr lang="en-US" sz="1100" b="1" dirty="0">
                <a:solidFill>
                  <a:srgbClr val="DBEAFE"/>
                </a:solidFill>
                <a:latin typeface="Calibri" pitchFamily="34" charset="0"/>
                <a:ea typeface="Calibri" pitchFamily="34" charset="-122"/>
                <a:cs typeface="Calibri" pitchFamily="34" charset="-120"/>
              </a:rPr>
              <a:t>Is this one serious?</a:t>
            </a:r>
            <a:endParaRPr lang="en-US" sz="1100" dirty="0"/>
          </a:p>
        </p:txBody>
      </p:sp>
      <p:sp>
        <p:nvSpPr>
          <p:cNvPr id="25" name="Shape 23"/>
          <p:cNvSpPr/>
          <p:nvPr/>
        </p:nvSpPr>
        <p:spPr>
          <a:xfrm>
            <a:off x="2633472" y="4306824"/>
            <a:ext cx="1344168" cy="365760"/>
          </a:xfrm>
          <a:prstGeom prst="roundRect">
            <a:avLst>
              <a:gd name="adj" fmla="val 50000"/>
            </a:avLst>
          </a:prstGeom>
          <a:solidFill>
            <a:srgbClr val="1E293B"/>
          </a:solidFill>
          <a:ln w="12700">
            <a:solidFill>
              <a:srgbClr val="334155"/>
            </a:solidFill>
            <a:prstDash val="solid"/>
          </a:ln>
        </p:spPr>
        <p:txBody>
          <a:bodyPr/>
          <a:lstStyle/>
          <a:p>
            <a:endParaRPr lang="en-US"/>
          </a:p>
        </p:txBody>
      </p:sp>
      <p:sp>
        <p:nvSpPr>
          <p:cNvPr id="26" name="Text 24"/>
          <p:cNvSpPr/>
          <p:nvPr/>
        </p:nvSpPr>
        <p:spPr>
          <a:xfrm>
            <a:off x="2633472" y="4306824"/>
            <a:ext cx="1344168" cy="365760"/>
          </a:xfrm>
          <a:prstGeom prst="rect">
            <a:avLst/>
          </a:prstGeom>
          <a:noFill/>
          <a:ln/>
        </p:spPr>
        <p:txBody>
          <a:bodyPr wrap="square" lIns="0" tIns="0" rIns="0" bIns="0" rtlCol="0" anchor="ctr"/>
          <a:lstStyle/>
          <a:p>
            <a:pPr marL="0" indent="0" algn="ctr">
              <a:buNone/>
            </a:pPr>
            <a:r>
              <a:rPr lang="en-US" sz="1100" b="1" dirty="0">
                <a:solidFill>
                  <a:srgbClr val="DBEAFE"/>
                </a:solidFill>
                <a:latin typeface="Calibri" pitchFamily="34" charset="0"/>
                <a:ea typeface="Calibri" pitchFamily="34" charset="-122"/>
                <a:cs typeface="Calibri" pitchFamily="34" charset="-120"/>
              </a:rPr>
              <a:t>Who follows up?</a:t>
            </a:r>
            <a:endParaRPr lang="en-US" sz="1100" dirty="0"/>
          </a:p>
        </p:txBody>
      </p:sp>
      <p:sp>
        <p:nvSpPr>
          <p:cNvPr id="27" name="Text 25"/>
          <p:cNvSpPr/>
          <p:nvPr/>
        </p:nvSpPr>
        <p:spPr>
          <a:xfrm>
            <a:off x="822960" y="5257800"/>
            <a:ext cx="4846320" cy="685800"/>
          </a:xfrm>
          <a:prstGeom prst="rect">
            <a:avLst/>
          </a:prstGeom>
          <a:noFill/>
          <a:ln/>
        </p:spPr>
        <p:txBody>
          <a:bodyPr wrap="square" lIns="0" tIns="0" rIns="0" bIns="0" rtlCol="0" anchor="ctr"/>
          <a:lstStyle/>
          <a:p>
            <a:pPr marL="0" indent="0" algn="l">
              <a:lnSpc>
                <a:spcPct val="115000"/>
              </a:lnSpc>
              <a:buNone/>
            </a:pPr>
            <a:r>
              <a:rPr lang="en-US" sz="1250" dirty="0">
                <a:solidFill>
                  <a:srgbClr val="94A3B8"/>
                </a:solidFill>
                <a:latin typeface="Calibri" pitchFamily="34" charset="0"/>
                <a:ea typeface="Calibri" pitchFamily="34" charset="-122"/>
                <a:cs typeface="Calibri" pitchFamily="34" charset="-120"/>
              </a:rPr>
              <a:t>Dozens, sometimes hundreds of conversations, moving fast. </a:t>
            </a:r>
            <a:r>
              <a:rPr lang="en-US" sz="1250" b="1" dirty="0">
                <a:solidFill>
                  <a:srgbClr val="34D399"/>
                </a:solidFill>
                <a:latin typeface="Calibri" pitchFamily="34" charset="0"/>
                <a:ea typeface="Calibri" pitchFamily="34" charset="-122"/>
                <a:cs typeface="Calibri" pitchFamily="34" charset="-120"/>
              </a:rPr>
              <a:t>ExpoLead is being designed around this environment.</a:t>
            </a:r>
            <a:endParaRPr lang="en-US" sz="1250" dirty="0"/>
          </a:p>
        </p:txBody>
      </p:sp>
      <p:sp>
        <p:nvSpPr>
          <p:cNvPr id="28" name="Text 26"/>
          <p:cNvSpPr/>
          <p:nvPr/>
        </p:nvSpPr>
        <p:spPr>
          <a:xfrm>
            <a:off x="6355080" y="2286000"/>
            <a:ext cx="5333695" cy="274320"/>
          </a:xfrm>
          <a:prstGeom prst="rect">
            <a:avLst/>
          </a:prstGeom>
          <a:noFill/>
          <a:ln/>
        </p:spPr>
        <p:txBody>
          <a:bodyPr wrap="square" lIns="0" tIns="0" rIns="0" bIns="0" rtlCol="0" anchor="ctr"/>
          <a:lstStyle/>
          <a:p>
            <a:pPr marL="0" indent="0">
              <a:buNone/>
            </a:pPr>
            <a:r>
              <a:rPr lang="en-US" sz="1100" b="1" kern="0" spc="100" dirty="0">
                <a:solidFill>
                  <a:srgbClr val="059669"/>
                </a:solidFill>
                <a:latin typeface="Calibri" pitchFamily="34" charset="0"/>
                <a:ea typeface="Calibri" pitchFamily="34" charset="-122"/>
                <a:cs typeface="Calibri" pitchFamily="34" charset="-120"/>
              </a:rPr>
              <a:t>THE REAL PROBLEM IS FRAGMENTED EXECUTION</a:t>
            </a:r>
            <a:endParaRPr lang="en-US" sz="1100" dirty="0"/>
          </a:p>
        </p:txBody>
      </p:sp>
      <p:sp>
        <p:nvSpPr>
          <p:cNvPr id="29" name="Shape 27"/>
          <p:cNvSpPr/>
          <p:nvPr/>
        </p:nvSpPr>
        <p:spPr>
          <a:xfrm>
            <a:off x="6355080" y="2743200"/>
            <a:ext cx="1177747" cy="365760"/>
          </a:xfrm>
          <a:prstGeom prst="roundRect">
            <a:avLst>
              <a:gd name="adj" fmla="val 17500"/>
            </a:avLst>
          </a:prstGeom>
          <a:solidFill>
            <a:schemeClr val="bg1">
              <a:lumMod val="95000"/>
            </a:schemeClr>
          </a:solidFill>
          <a:ln w="12700">
            <a:solidFill>
              <a:srgbClr val="E2E8F0"/>
            </a:solidFill>
            <a:prstDash val="solid"/>
          </a:ln>
        </p:spPr>
        <p:txBody>
          <a:bodyPr/>
          <a:lstStyle/>
          <a:p>
            <a:endParaRPr lang="en-US"/>
          </a:p>
        </p:txBody>
      </p:sp>
      <p:sp>
        <p:nvSpPr>
          <p:cNvPr id="30" name="Text 28"/>
          <p:cNvSpPr/>
          <p:nvPr/>
        </p:nvSpPr>
        <p:spPr>
          <a:xfrm>
            <a:off x="6355080" y="2743200"/>
            <a:ext cx="1177747"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Business cards</a:t>
            </a:r>
            <a:endParaRPr lang="en-US" sz="1000" dirty="0"/>
          </a:p>
        </p:txBody>
      </p:sp>
      <p:sp>
        <p:nvSpPr>
          <p:cNvPr id="31" name="Shape 29"/>
          <p:cNvSpPr/>
          <p:nvPr/>
        </p:nvSpPr>
        <p:spPr>
          <a:xfrm>
            <a:off x="7642555" y="2743200"/>
            <a:ext cx="1177747" cy="365760"/>
          </a:xfrm>
          <a:prstGeom prst="roundRect">
            <a:avLst>
              <a:gd name="adj" fmla="val 17500"/>
            </a:avLst>
          </a:prstGeom>
          <a:solidFill>
            <a:schemeClr val="bg1">
              <a:lumMod val="95000"/>
            </a:schemeClr>
          </a:solidFill>
          <a:ln w="12700">
            <a:solidFill>
              <a:srgbClr val="E2E8F0"/>
            </a:solidFill>
            <a:prstDash val="solid"/>
          </a:ln>
        </p:spPr>
        <p:txBody>
          <a:bodyPr/>
          <a:lstStyle/>
          <a:p>
            <a:endParaRPr lang="en-US"/>
          </a:p>
        </p:txBody>
      </p:sp>
      <p:sp>
        <p:nvSpPr>
          <p:cNvPr id="32" name="Text 30"/>
          <p:cNvSpPr/>
          <p:nvPr/>
        </p:nvSpPr>
        <p:spPr>
          <a:xfrm>
            <a:off x="7642555" y="2743200"/>
            <a:ext cx="1177747"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Phone contacts</a:t>
            </a:r>
            <a:endParaRPr lang="en-US" sz="1000" dirty="0"/>
          </a:p>
        </p:txBody>
      </p:sp>
      <p:sp>
        <p:nvSpPr>
          <p:cNvPr id="33" name="Shape 31"/>
          <p:cNvSpPr/>
          <p:nvPr/>
        </p:nvSpPr>
        <p:spPr>
          <a:xfrm>
            <a:off x="6355080" y="3218688"/>
            <a:ext cx="782726" cy="365760"/>
          </a:xfrm>
          <a:prstGeom prst="roundRect">
            <a:avLst>
              <a:gd name="adj" fmla="val 17500"/>
            </a:avLst>
          </a:prstGeom>
          <a:solidFill>
            <a:schemeClr val="bg1">
              <a:lumMod val="95000"/>
            </a:schemeClr>
          </a:solidFill>
          <a:ln w="12700">
            <a:solidFill>
              <a:srgbClr val="E2E8F0"/>
            </a:solidFill>
            <a:prstDash val="solid"/>
          </a:ln>
        </p:spPr>
        <p:txBody>
          <a:bodyPr/>
          <a:lstStyle/>
          <a:p>
            <a:endParaRPr lang="en-US"/>
          </a:p>
        </p:txBody>
      </p:sp>
      <p:sp>
        <p:nvSpPr>
          <p:cNvPr id="34" name="Text 32"/>
          <p:cNvSpPr/>
          <p:nvPr/>
        </p:nvSpPr>
        <p:spPr>
          <a:xfrm>
            <a:off x="6355080" y="3218688"/>
            <a:ext cx="782726"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WhatsApp</a:t>
            </a:r>
            <a:endParaRPr lang="en-US" sz="1000" dirty="0"/>
          </a:p>
        </p:txBody>
      </p:sp>
      <p:sp>
        <p:nvSpPr>
          <p:cNvPr id="35" name="Shape 33"/>
          <p:cNvSpPr/>
          <p:nvPr/>
        </p:nvSpPr>
        <p:spPr>
          <a:xfrm>
            <a:off x="7247534" y="3218688"/>
            <a:ext cx="1177747" cy="365760"/>
          </a:xfrm>
          <a:prstGeom prst="roundRect">
            <a:avLst>
              <a:gd name="adj" fmla="val 17500"/>
            </a:avLst>
          </a:prstGeom>
          <a:solidFill>
            <a:schemeClr val="bg1">
              <a:lumMod val="95000"/>
            </a:schemeClr>
          </a:solidFill>
          <a:ln w="12700">
            <a:solidFill>
              <a:srgbClr val="E2E8F0"/>
            </a:solidFill>
            <a:prstDash val="solid"/>
          </a:ln>
        </p:spPr>
        <p:txBody>
          <a:bodyPr/>
          <a:lstStyle/>
          <a:p>
            <a:endParaRPr lang="en-US"/>
          </a:p>
        </p:txBody>
      </p:sp>
      <p:sp>
        <p:nvSpPr>
          <p:cNvPr id="36" name="Text 34"/>
          <p:cNvSpPr/>
          <p:nvPr/>
        </p:nvSpPr>
        <p:spPr>
          <a:xfrm>
            <a:off x="7247534" y="3218688"/>
            <a:ext cx="1177747"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Notebook notes</a:t>
            </a:r>
            <a:endParaRPr lang="en-US" sz="1000" dirty="0"/>
          </a:p>
        </p:txBody>
      </p:sp>
      <p:sp>
        <p:nvSpPr>
          <p:cNvPr id="37" name="Shape 35"/>
          <p:cNvSpPr/>
          <p:nvPr/>
        </p:nvSpPr>
        <p:spPr>
          <a:xfrm>
            <a:off x="6355080" y="3694176"/>
            <a:ext cx="651053" cy="365760"/>
          </a:xfrm>
          <a:prstGeom prst="roundRect">
            <a:avLst>
              <a:gd name="adj" fmla="val 17500"/>
            </a:avLst>
          </a:prstGeom>
          <a:solidFill>
            <a:schemeClr val="bg1">
              <a:lumMod val="95000"/>
            </a:schemeClr>
          </a:solidFill>
          <a:ln w="12700">
            <a:solidFill>
              <a:srgbClr val="E2E8F0"/>
            </a:solidFill>
            <a:prstDash val="solid"/>
          </a:ln>
        </p:spPr>
        <p:txBody>
          <a:bodyPr/>
          <a:lstStyle/>
          <a:p>
            <a:endParaRPr lang="en-US"/>
          </a:p>
        </p:txBody>
      </p:sp>
      <p:sp>
        <p:nvSpPr>
          <p:cNvPr id="38" name="Text 36"/>
          <p:cNvSpPr/>
          <p:nvPr/>
        </p:nvSpPr>
        <p:spPr>
          <a:xfrm>
            <a:off x="6355080" y="3694176"/>
            <a:ext cx="651053"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Photos</a:t>
            </a:r>
            <a:endParaRPr lang="en-US" sz="1000" dirty="0"/>
          </a:p>
        </p:txBody>
      </p:sp>
      <p:sp>
        <p:nvSpPr>
          <p:cNvPr id="39" name="Shape 37"/>
          <p:cNvSpPr/>
          <p:nvPr/>
        </p:nvSpPr>
        <p:spPr>
          <a:xfrm>
            <a:off x="7115861" y="3694176"/>
            <a:ext cx="1046074" cy="365760"/>
          </a:xfrm>
          <a:prstGeom prst="roundRect">
            <a:avLst>
              <a:gd name="adj" fmla="val 17500"/>
            </a:avLst>
          </a:prstGeom>
          <a:solidFill>
            <a:schemeClr val="bg1">
              <a:lumMod val="95000"/>
            </a:schemeClr>
          </a:solidFill>
          <a:ln w="12700">
            <a:solidFill>
              <a:srgbClr val="E2E8F0"/>
            </a:solidFill>
            <a:prstDash val="solid"/>
          </a:ln>
        </p:spPr>
        <p:txBody>
          <a:bodyPr/>
          <a:lstStyle/>
          <a:p>
            <a:endParaRPr lang="en-US"/>
          </a:p>
        </p:txBody>
      </p:sp>
      <p:sp>
        <p:nvSpPr>
          <p:cNvPr id="40" name="Text 38"/>
          <p:cNvSpPr/>
          <p:nvPr/>
        </p:nvSpPr>
        <p:spPr>
          <a:xfrm>
            <a:off x="7115861" y="3694176"/>
            <a:ext cx="1046074"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Spreadsheets</a:t>
            </a:r>
            <a:endParaRPr lang="en-US" sz="1000" dirty="0"/>
          </a:p>
        </p:txBody>
      </p:sp>
      <p:sp>
        <p:nvSpPr>
          <p:cNvPr id="41" name="Shape 39"/>
          <p:cNvSpPr/>
          <p:nvPr/>
        </p:nvSpPr>
        <p:spPr>
          <a:xfrm>
            <a:off x="8271662" y="3694176"/>
            <a:ext cx="651053" cy="365760"/>
          </a:xfrm>
          <a:prstGeom prst="roundRect">
            <a:avLst>
              <a:gd name="adj" fmla="val 17500"/>
            </a:avLst>
          </a:prstGeom>
          <a:solidFill>
            <a:schemeClr val="bg1">
              <a:lumMod val="95000"/>
            </a:schemeClr>
          </a:solidFill>
          <a:ln w="12700">
            <a:solidFill>
              <a:srgbClr val="E2E8F0"/>
            </a:solidFill>
            <a:prstDash val="solid"/>
          </a:ln>
        </p:spPr>
        <p:txBody>
          <a:bodyPr/>
          <a:lstStyle/>
          <a:p>
            <a:endParaRPr lang="en-US"/>
          </a:p>
        </p:txBody>
      </p:sp>
      <p:sp>
        <p:nvSpPr>
          <p:cNvPr id="42" name="Text 40"/>
          <p:cNvSpPr/>
          <p:nvPr/>
        </p:nvSpPr>
        <p:spPr>
          <a:xfrm>
            <a:off x="8271662" y="3694176"/>
            <a:ext cx="651053"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Memory</a:t>
            </a:r>
            <a:endParaRPr lang="en-US" sz="1000" dirty="0"/>
          </a:p>
        </p:txBody>
      </p:sp>
      <p:sp>
        <p:nvSpPr>
          <p:cNvPr id="43" name="Shape 41"/>
          <p:cNvSpPr/>
          <p:nvPr/>
        </p:nvSpPr>
        <p:spPr>
          <a:xfrm>
            <a:off x="6355080" y="4169664"/>
            <a:ext cx="1770278" cy="365760"/>
          </a:xfrm>
          <a:prstGeom prst="roundRect">
            <a:avLst>
              <a:gd name="adj" fmla="val 17500"/>
            </a:avLst>
          </a:prstGeom>
          <a:solidFill>
            <a:schemeClr val="bg1">
              <a:lumMod val="95000"/>
            </a:schemeClr>
          </a:solidFill>
          <a:ln w="12700">
            <a:solidFill>
              <a:srgbClr val="E2E8F0"/>
            </a:solidFill>
            <a:prstDash val="solid"/>
          </a:ln>
        </p:spPr>
        <p:txBody>
          <a:bodyPr/>
          <a:lstStyle/>
          <a:p>
            <a:endParaRPr lang="en-US"/>
          </a:p>
        </p:txBody>
      </p:sp>
      <p:sp>
        <p:nvSpPr>
          <p:cNvPr id="44" name="Text 42"/>
          <p:cNvSpPr/>
          <p:nvPr/>
        </p:nvSpPr>
        <p:spPr>
          <a:xfrm>
            <a:off x="6355080" y="4169664"/>
            <a:ext cx="1770278"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Unstructured follow-ups</a:t>
            </a:r>
            <a:endParaRPr lang="en-US" sz="1000" dirty="0"/>
          </a:p>
        </p:txBody>
      </p:sp>
      <p:sp>
        <p:nvSpPr>
          <p:cNvPr id="45" name="Text 43"/>
          <p:cNvSpPr/>
          <p:nvPr/>
        </p:nvSpPr>
        <p:spPr>
          <a:xfrm>
            <a:off x="9174175" y="3108960"/>
            <a:ext cx="457200" cy="640080"/>
          </a:xfrm>
          <a:prstGeom prst="rect">
            <a:avLst/>
          </a:prstGeom>
          <a:noFill/>
          <a:ln/>
        </p:spPr>
        <p:txBody>
          <a:bodyPr wrap="square" lIns="0" tIns="0" rIns="0" bIns="0" rtlCol="0" anchor="ctr"/>
          <a:lstStyle/>
          <a:p>
            <a:pPr marL="0" indent="0" algn="ctr">
              <a:buNone/>
            </a:pPr>
            <a:r>
              <a:rPr lang="en-US" sz="3400" b="1" dirty="0">
                <a:solidFill>
                  <a:srgbClr val="CBD5E1"/>
                </a:solidFill>
                <a:latin typeface="Calibri" pitchFamily="34" charset="0"/>
                <a:ea typeface="Calibri" pitchFamily="34" charset="-122"/>
                <a:cs typeface="Calibri" pitchFamily="34" charset="-120"/>
              </a:rPr>
              <a:t>›</a:t>
            </a:r>
            <a:endParaRPr lang="en-US" sz="3400" dirty="0"/>
          </a:p>
        </p:txBody>
      </p:sp>
      <p:sp>
        <p:nvSpPr>
          <p:cNvPr id="46" name="Shape 44"/>
          <p:cNvSpPr/>
          <p:nvPr/>
        </p:nvSpPr>
        <p:spPr>
          <a:xfrm>
            <a:off x="9631375" y="2880360"/>
            <a:ext cx="2057400" cy="1188720"/>
          </a:xfrm>
          <a:prstGeom prst="roundRect">
            <a:avLst>
              <a:gd name="adj" fmla="val 9231"/>
            </a:avLst>
          </a:prstGeom>
          <a:solidFill>
            <a:srgbClr val="059669"/>
          </a:solidFill>
          <a:ln/>
          <a:effectLst>
            <a:outerShdw blurRad="127000" dist="38100" dir="5400000" algn="bl" rotWithShape="0">
              <a:srgbClr val="10B981">
                <a:alpha val="35000"/>
              </a:srgbClr>
            </a:outerShdw>
          </a:effectLst>
        </p:spPr>
        <p:txBody>
          <a:bodyPr/>
          <a:lstStyle/>
          <a:p>
            <a:endParaRPr lang="en-US"/>
          </a:p>
        </p:txBody>
      </p:sp>
      <p:sp>
        <p:nvSpPr>
          <p:cNvPr id="47" name="Text 45"/>
          <p:cNvSpPr/>
          <p:nvPr/>
        </p:nvSpPr>
        <p:spPr>
          <a:xfrm>
            <a:off x="9631375" y="2880360"/>
            <a:ext cx="2057400" cy="118872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One exhibition</a:t>
            </a:r>
            <a:endParaRPr lang="en-US" sz="1400" dirty="0"/>
          </a:p>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workspace</a:t>
            </a:r>
            <a:endParaRPr lang="en-US" sz="1400" dirty="0"/>
          </a:p>
          <a:p>
            <a:pPr marL="0" indent="0" algn="ctr">
              <a:lnSpc>
                <a:spcPct val="100000"/>
              </a:lnSpc>
              <a:buNone/>
            </a:pPr>
            <a:r>
              <a:rPr lang="en-US" sz="1000" dirty="0">
                <a:solidFill>
                  <a:srgbClr val="D1FAE5"/>
                </a:solidFill>
                <a:latin typeface="Calibri" pitchFamily="34" charset="0"/>
                <a:ea typeface="Calibri" pitchFamily="34" charset="-122"/>
                <a:cs typeface="Calibri" pitchFamily="34" charset="-120"/>
              </a:rPr>
              <a:t>structured &amp; searchable</a:t>
            </a:r>
            <a:endParaRPr lang="en-US" sz="1400" dirty="0"/>
          </a:p>
        </p:txBody>
      </p:sp>
      <p:sp>
        <p:nvSpPr>
          <p:cNvPr id="48" name="Shape 46"/>
          <p:cNvSpPr/>
          <p:nvPr/>
        </p:nvSpPr>
        <p:spPr>
          <a:xfrm>
            <a:off x="6355080" y="4892040"/>
            <a:ext cx="5333695" cy="1234440"/>
          </a:xfrm>
          <a:prstGeom prst="roundRect">
            <a:avLst>
              <a:gd name="adj" fmla="val 7407"/>
            </a:avLst>
          </a:prstGeom>
          <a:solidFill>
            <a:schemeClr val="bg1">
              <a:lumMod val="95000"/>
            </a:schemeClr>
          </a:solidFill>
          <a:ln w="12700">
            <a:solidFill>
              <a:srgbClr val="E2E8F0"/>
            </a:solidFill>
            <a:prstDash val="solid"/>
          </a:ln>
        </p:spPr>
        <p:txBody>
          <a:bodyPr/>
          <a:lstStyle/>
          <a:p>
            <a:endParaRPr lang="en-US"/>
          </a:p>
        </p:txBody>
      </p:sp>
      <p:sp>
        <p:nvSpPr>
          <p:cNvPr id="49" name="Text 47"/>
          <p:cNvSpPr/>
          <p:nvPr/>
        </p:nvSpPr>
        <p:spPr>
          <a:xfrm>
            <a:off x="6629400" y="4892040"/>
            <a:ext cx="4785055" cy="1234440"/>
          </a:xfrm>
          <a:prstGeom prst="rect">
            <a:avLst/>
          </a:prstGeom>
          <a:noFill/>
          <a:ln/>
        </p:spPr>
        <p:txBody>
          <a:bodyPr wrap="square" lIns="0" tIns="0" rIns="0" bIns="0" rtlCol="0" anchor="ctr"/>
          <a:lstStyle/>
          <a:p>
            <a:pPr marL="0" indent="0" algn="l">
              <a:lnSpc>
                <a:spcPct val="120000"/>
              </a:lnSpc>
              <a:buNone/>
            </a:pPr>
            <a:r>
              <a:rPr lang="en-US" sz="1400" dirty="0">
                <a:solidFill>
                  <a:srgbClr val="475569"/>
                </a:solidFill>
                <a:latin typeface="Calibri" pitchFamily="34" charset="0"/>
                <a:ea typeface="Calibri" pitchFamily="34" charset="-122"/>
                <a:cs typeface="Calibri" pitchFamily="34" charset="-120"/>
              </a:rPr>
              <a:t>The real problem is not your CRM. </a:t>
            </a:r>
            <a:r>
              <a:rPr lang="en-US" sz="1400" b="1" dirty="0">
                <a:solidFill>
                  <a:srgbClr val="0F172A"/>
                </a:solidFill>
                <a:latin typeface="Calibri" pitchFamily="34" charset="0"/>
                <a:ea typeface="Calibri" pitchFamily="34" charset="-122"/>
                <a:cs typeface="Calibri" pitchFamily="34" charset="-120"/>
              </a:rPr>
              <a:t>It is fragmented exhibition execution,</a:t>
            </a:r>
            <a:r>
              <a:rPr lang="en-US" sz="1400" dirty="0">
                <a:solidFill>
                  <a:srgbClr val="475569"/>
                </a:solidFill>
                <a:latin typeface="Calibri" pitchFamily="34" charset="0"/>
                <a:ea typeface="Calibri" pitchFamily="34" charset="-122"/>
                <a:cs typeface="Calibri" pitchFamily="34" charset="-120"/>
              </a:rPr>
              <a:t> brought into one place.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11480"/>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3" name="Shape 1"/>
          <p:cNvSpPr/>
          <p:nvPr/>
        </p:nvSpPr>
        <p:spPr>
          <a:xfrm>
            <a:off x="644652" y="411480"/>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4" name="Shape 2"/>
          <p:cNvSpPr/>
          <p:nvPr/>
        </p:nvSpPr>
        <p:spPr>
          <a:xfrm>
            <a:off x="502920" y="553212"/>
            <a:ext cx="100584" cy="100584"/>
          </a:xfrm>
          <a:prstGeom prst="roundRect">
            <a:avLst>
              <a:gd name="adj" fmla="val 18182"/>
            </a:avLst>
          </a:prstGeom>
          <a:solidFill>
            <a:srgbClr val="FFFFFF"/>
          </a:solidFill>
          <a:ln w="16510">
            <a:solidFill>
              <a:srgbClr val="0F172A"/>
            </a:solidFill>
            <a:prstDash val="solid"/>
          </a:ln>
        </p:spPr>
        <p:txBody>
          <a:bodyPr/>
          <a:lstStyle/>
          <a:p>
            <a:endParaRPr lang="en-US"/>
          </a:p>
        </p:txBody>
      </p:sp>
      <p:sp>
        <p:nvSpPr>
          <p:cNvPr id="5" name="Shape 3"/>
          <p:cNvSpPr/>
          <p:nvPr/>
        </p:nvSpPr>
        <p:spPr>
          <a:xfrm>
            <a:off x="644652" y="553212"/>
            <a:ext cx="100584" cy="100584"/>
          </a:xfrm>
          <a:prstGeom prst="roundRect">
            <a:avLst>
              <a:gd name="adj" fmla="val 18182"/>
            </a:avLst>
          </a:prstGeom>
          <a:solidFill>
            <a:srgbClr val="10B981"/>
          </a:solidFill>
          <a:ln w="16510">
            <a:solidFill>
              <a:srgbClr val="10B981"/>
            </a:solidFill>
            <a:prstDash val="solid"/>
          </a:ln>
        </p:spPr>
        <p:txBody>
          <a:bodyPr/>
          <a:lstStyle/>
          <a:p>
            <a:endParaRPr lang="en-US"/>
          </a:p>
        </p:txBody>
      </p:sp>
      <p:sp>
        <p:nvSpPr>
          <p:cNvPr id="6" name="Text 4"/>
          <p:cNvSpPr/>
          <p:nvPr/>
        </p:nvSpPr>
        <p:spPr>
          <a:xfrm>
            <a:off x="886968" y="365760"/>
            <a:ext cx="2011680" cy="329184"/>
          </a:xfrm>
          <a:prstGeom prst="rect">
            <a:avLst/>
          </a:prstGeom>
          <a:noFill/>
          <a:ln/>
        </p:spPr>
        <p:txBody>
          <a:bodyPr wrap="square" lIns="0" tIns="0" rIns="0" bIns="0" rtlCol="0" anchor="ctr"/>
          <a:lstStyle/>
          <a:p>
            <a:pPr marL="0" indent="0" algn="l">
              <a:buNone/>
            </a:pPr>
            <a:r>
              <a:rPr lang="en-US" sz="1500" b="1" dirty="0">
                <a:solidFill>
                  <a:srgbClr val="0F172A"/>
                </a:solidFill>
                <a:latin typeface="Calibri" pitchFamily="34" charset="0"/>
                <a:ea typeface="Calibri" pitchFamily="34" charset="-122"/>
                <a:cs typeface="Calibri" pitchFamily="34" charset="-120"/>
              </a:rPr>
              <a:t>Expo</a:t>
            </a:r>
            <a:r>
              <a:rPr lang="en-US" sz="1500" b="1" dirty="0">
                <a:solidFill>
                  <a:srgbClr val="10B981"/>
                </a:solidFill>
                <a:latin typeface="Calibri" pitchFamily="34" charset="0"/>
                <a:ea typeface="Calibri" pitchFamily="34" charset="-122"/>
                <a:cs typeface="Calibri" pitchFamily="34" charset="-120"/>
              </a:rPr>
              <a:t>Lead</a:t>
            </a: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051560"/>
            <a:ext cx="8229600" cy="274320"/>
          </a:xfrm>
          <a:prstGeom prst="rect">
            <a:avLst/>
          </a:prstGeom>
          <a:noFill/>
          <a:ln/>
        </p:spPr>
        <p:txBody>
          <a:bodyPr wrap="square" lIns="0" tIns="0" rIns="0" bIns="0" rtlCol="0" anchor="ctr"/>
          <a:lstStyle/>
          <a:p>
            <a:pPr marL="0" indent="0" algn="l">
              <a:buNone/>
            </a:pPr>
            <a:r>
              <a:rPr lang="en-US" sz="1100" b="1" kern="0" spc="220" dirty="0">
                <a:solidFill>
                  <a:srgbClr val="059669"/>
                </a:solidFill>
                <a:latin typeface="Calibri" pitchFamily="34" charset="0"/>
                <a:ea typeface="Calibri" pitchFamily="34" charset="-122"/>
                <a:cs typeface="Calibri" pitchFamily="34" charset="-120"/>
              </a:rPr>
              <a:t>THE LONG-TERM VALUE</a:t>
            </a:r>
            <a:endParaRPr lang="en-US" sz="1100" dirty="0"/>
          </a:p>
        </p:txBody>
      </p:sp>
      <p:sp>
        <p:nvSpPr>
          <p:cNvPr id="8" name="Text 6"/>
          <p:cNvSpPr/>
          <p:nvPr/>
        </p:nvSpPr>
        <p:spPr>
          <a:xfrm>
            <a:off x="502920" y="1325880"/>
            <a:ext cx="10972800" cy="502920"/>
          </a:xfrm>
          <a:prstGeom prst="rect">
            <a:avLst/>
          </a:prstGeom>
          <a:noFill/>
          <a:ln/>
        </p:spPr>
        <p:txBody>
          <a:bodyPr wrap="square" lIns="0" tIns="0" rIns="0" bIns="0" rtlCol="0" anchor="t"/>
          <a:lstStyle/>
          <a:p>
            <a:pPr marL="0" indent="0" algn="l">
              <a:buNone/>
            </a:pPr>
            <a:r>
              <a:rPr lang="en-US" sz="2600" b="1" dirty="0">
                <a:solidFill>
                  <a:srgbClr val="0F172A"/>
                </a:solidFill>
                <a:latin typeface="Calibri" pitchFamily="34" charset="0"/>
                <a:ea typeface="Calibri" pitchFamily="34" charset="-122"/>
                <a:cs typeface="Calibri" pitchFamily="34" charset="-120"/>
              </a:rPr>
              <a:t>Not a business-card scanner. </a:t>
            </a:r>
            <a:r>
              <a:rPr lang="en-US" sz="2600" b="1" dirty="0">
                <a:solidFill>
                  <a:srgbClr val="059669"/>
                </a:solidFill>
                <a:latin typeface="Calibri" pitchFamily="34" charset="0"/>
                <a:ea typeface="Calibri" pitchFamily="34" charset="-122"/>
                <a:cs typeface="Calibri" pitchFamily="34" charset="-120"/>
              </a:rPr>
              <a:t>An Exhibition Intelligence Workspace.</a:t>
            </a:r>
            <a:endParaRPr lang="en-US" sz="2600" dirty="0"/>
          </a:p>
        </p:txBody>
      </p:sp>
      <p:sp>
        <p:nvSpPr>
          <p:cNvPr id="9" name="Text 7"/>
          <p:cNvSpPr/>
          <p:nvPr/>
        </p:nvSpPr>
        <p:spPr>
          <a:xfrm>
            <a:off x="502920" y="1920240"/>
            <a:ext cx="10515600" cy="457200"/>
          </a:xfrm>
          <a:prstGeom prst="rect">
            <a:avLst/>
          </a:prstGeom>
          <a:noFill/>
          <a:ln/>
        </p:spPr>
        <p:txBody>
          <a:bodyPr wrap="square" lIns="0" tIns="0" rIns="0" bIns="0" rtlCol="0" anchor="t"/>
          <a:lstStyle/>
          <a:p>
            <a:pPr marL="0" indent="0" algn="l">
              <a:buNone/>
            </a:pPr>
            <a:r>
              <a:rPr lang="en-US" sz="1300" dirty="0">
                <a:solidFill>
                  <a:srgbClr val="64748B"/>
                </a:solidFill>
                <a:latin typeface="Calibri" pitchFamily="34" charset="0"/>
                <a:ea typeface="Calibri" pitchFamily="34" charset="-122"/>
                <a:cs typeface="Calibri" pitchFamily="34" charset="-120"/>
              </a:rPr>
              <a:t>The value is turning exhibition activity into structured commercial intelligence and helping management understand the performance of the show itself.</a:t>
            </a:r>
            <a:endParaRPr lang="en-US" sz="1300" dirty="0"/>
          </a:p>
        </p:txBody>
      </p:sp>
      <p:sp>
        <p:nvSpPr>
          <p:cNvPr id="10" name="Shape 8"/>
          <p:cNvSpPr/>
          <p:nvPr/>
        </p:nvSpPr>
        <p:spPr>
          <a:xfrm>
            <a:off x="502920" y="2606040"/>
            <a:ext cx="2625014" cy="3291840"/>
          </a:xfrm>
          <a:prstGeom prst="roundRect">
            <a:avLst>
              <a:gd name="adj" fmla="val 3135"/>
            </a:avLst>
          </a:prstGeom>
          <a:solidFill>
            <a:schemeClr val="bg1">
              <a:lumMod val="95000"/>
            </a:schemeClr>
          </a:solidFill>
          <a:ln w="15240">
            <a:solidFill>
              <a:srgbClr val="E2E8F0"/>
            </a:solidFill>
            <a:prstDash val="solid"/>
          </a:ln>
        </p:spPr>
        <p:txBody>
          <a:bodyPr/>
          <a:lstStyle/>
          <a:p>
            <a:endParaRPr lang="en-US"/>
          </a:p>
        </p:txBody>
      </p:sp>
      <p:sp>
        <p:nvSpPr>
          <p:cNvPr id="11" name="Shape 9"/>
          <p:cNvSpPr/>
          <p:nvPr/>
        </p:nvSpPr>
        <p:spPr>
          <a:xfrm>
            <a:off x="758952" y="2898648"/>
            <a:ext cx="128016" cy="128016"/>
          </a:xfrm>
          <a:prstGeom prst="roundRect">
            <a:avLst>
              <a:gd name="adj" fmla="val 50000"/>
            </a:avLst>
          </a:prstGeom>
          <a:solidFill>
            <a:srgbClr val="10B981"/>
          </a:solidFill>
          <a:ln/>
        </p:spPr>
        <p:txBody>
          <a:bodyPr/>
          <a:lstStyle/>
          <a:p>
            <a:endParaRPr lang="en-US"/>
          </a:p>
        </p:txBody>
      </p:sp>
      <p:sp>
        <p:nvSpPr>
          <p:cNvPr id="12" name="Text 10"/>
          <p:cNvSpPr/>
          <p:nvPr/>
        </p:nvSpPr>
        <p:spPr>
          <a:xfrm>
            <a:off x="960120" y="2807208"/>
            <a:ext cx="1984934" cy="274320"/>
          </a:xfrm>
          <a:prstGeom prst="rect">
            <a:avLst/>
          </a:prstGeom>
          <a:noFill/>
          <a:ln/>
        </p:spPr>
        <p:txBody>
          <a:bodyPr wrap="square" lIns="0" tIns="0" rIns="0" bIns="0" rtlCol="0" anchor="ctr"/>
          <a:lstStyle/>
          <a:p>
            <a:pPr marL="0" indent="0" algn="l">
              <a:buNone/>
            </a:pPr>
            <a:r>
              <a:rPr lang="en-US" sz="1300" b="1" kern="0" spc="60" dirty="0">
                <a:solidFill>
                  <a:srgbClr val="0F172A"/>
                </a:solidFill>
                <a:latin typeface="Calibri" pitchFamily="34" charset="0"/>
                <a:ea typeface="Calibri" pitchFamily="34" charset="-122"/>
                <a:cs typeface="Calibri" pitchFamily="34" charset="-120"/>
              </a:rPr>
              <a:t>BEFORE</a:t>
            </a:r>
            <a:endParaRPr lang="en-US" sz="1300" dirty="0"/>
          </a:p>
        </p:txBody>
      </p:sp>
      <p:sp>
        <p:nvSpPr>
          <p:cNvPr id="13" name="Text 11"/>
          <p:cNvSpPr/>
          <p:nvPr/>
        </p:nvSpPr>
        <p:spPr>
          <a:xfrm>
            <a:off x="758952" y="3291840"/>
            <a:ext cx="2167814" cy="2286000"/>
          </a:xfrm>
          <a:prstGeom prst="rect">
            <a:avLst/>
          </a:prstGeom>
          <a:noFill/>
          <a:ln/>
        </p:spPr>
        <p:txBody>
          <a:bodyPr wrap="square" lIns="0" tIns="0" rIns="0" bIns="0" rtlCol="0" anchor="t"/>
          <a:lstStyle/>
          <a:p>
            <a:pPr marL="139700" indent="-139700" algn="l">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What are our objectives?</a:t>
            </a:r>
            <a:endParaRPr lang="en-US" sz="1100" dirty="0"/>
          </a:p>
          <a:p>
            <a:pPr marL="139700" indent="-139700" algn="l">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Who are our targets?</a:t>
            </a:r>
            <a:endParaRPr lang="en-US" sz="1100" dirty="0"/>
          </a:p>
          <a:p>
            <a:pPr marL="139700" indent="-139700" algn="l">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Which companies and booths matter?</a:t>
            </a:r>
            <a:endParaRPr lang="en-US" sz="1100" dirty="0"/>
          </a:p>
        </p:txBody>
      </p:sp>
      <p:sp>
        <p:nvSpPr>
          <p:cNvPr id="14" name="Shape 12"/>
          <p:cNvSpPr/>
          <p:nvPr/>
        </p:nvSpPr>
        <p:spPr>
          <a:xfrm>
            <a:off x="3356534" y="2606040"/>
            <a:ext cx="2625014" cy="3291840"/>
          </a:xfrm>
          <a:prstGeom prst="roundRect">
            <a:avLst>
              <a:gd name="adj" fmla="val 3135"/>
            </a:avLst>
          </a:prstGeom>
          <a:solidFill>
            <a:schemeClr val="bg1">
              <a:lumMod val="95000"/>
            </a:schemeClr>
          </a:solidFill>
          <a:ln w="15240">
            <a:solidFill>
              <a:srgbClr val="E2E8F0"/>
            </a:solidFill>
            <a:prstDash val="solid"/>
          </a:ln>
        </p:spPr>
        <p:txBody>
          <a:bodyPr/>
          <a:lstStyle/>
          <a:p>
            <a:endParaRPr lang="en-US"/>
          </a:p>
        </p:txBody>
      </p:sp>
      <p:sp>
        <p:nvSpPr>
          <p:cNvPr id="15" name="Shape 13"/>
          <p:cNvSpPr/>
          <p:nvPr/>
        </p:nvSpPr>
        <p:spPr>
          <a:xfrm>
            <a:off x="3612566" y="2898648"/>
            <a:ext cx="128016" cy="128016"/>
          </a:xfrm>
          <a:prstGeom prst="roundRect">
            <a:avLst>
              <a:gd name="adj" fmla="val 50000"/>
            </a:avLst>
          </a:prstGeom>
          <a:solidFill>
            <a:srgbClr val="10B981"/>
          </a:solidFill>
          <a:ln/>
        </p:spPr>
        <p:txBody>
          <a:bodyPr/>
          <a:lstStyle/>
          <a:p>
            <a:endParaRPr lang="en-US"/>
          </a:p>
        </p:txBody>
      </p:sp>
      <p:sp>
        <p:nvSpPr>
          <p:cNvPr id="16" name="Text 14"/>
          <p:cNvSpPr/>
          <p:nvPr/>
        </p:nvSpPr>
        <p:spPr>
          <a:xfrm>
            <a:off x="3813734" y="2807208"/>
            <a:ext cx="1984934" cy="274320"/>
          </a:xfrm>
          <a:prstGeom prst="rect">
            <a:avLst/>
          </a:prstGeom>
          <a:noFill/>
          <a:ln/>
        </p:spPr>
        <p:txBody>
          <a:bodyPr wrap="square" lIns="0" tIns="0" rIns="0" bIns="0" rtlCol="0" anchor="ctr"/>
          <a:lstStyle/>
          <a:p>
            <a:pPr marL="0" indent="0" algn="l">
              <a:buNone/>
            </a:pPr>
            <a:r>
              <a:rPr lang="en-US" sz="1300" b="1" kern="0" spc="60" dirty="0">
                <a:solidFill>
                  <a:srgbClr val="0F172A"/>
                </a:solidFill>
                <a:latin typeface="Calibri" pitchFamily="34" charset="0"/>
                <a:ea typeface="Calibri" pitchFamily="34" charset="-122"/>
                <a:cs typeface="Calibri" pitchFamily="34" charset="-120"/>
              </a:rPr>
              <a:t>DURING</a:t>
            </a:r>
            <a:endParaRPr lang="en-US" sz="1300" dirty="0"/>
          </a:p>
        </p:txBody>
      </p:sp>
      <p:sp>
        <p:nvSpPr>
          <p:cNvPr id="17" name="Text 15"/>
          <p:cNvSpPr/>
          <p:nvPr/>
        </p:nvSpPr>
        <p:spPr>
          <a:xfrm>
            <a:off x="3612566" y="3291840"/>
            <a:ext cx="2167814" cy="2286000"/>
          </a:xfrm>
          <a:prstGeom prst="rect">
            <a:avLst/>
          </a:prstGeom>
          <a:noFill/>
          <a:ln/>
        </p:spPr>
        <p:txBody>
          <a:bodyPr wrap="square" lIns="0" tIns="0" rIns="0" bIns="0" rtlCol="0" anchor="t"/>
          <a:lstStyle/>
          <a:p>
            <a:pPr marL="139700" indent="-139700" algn="l">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Who has the team met?</a:t>
            </a:r>
            <a:endParaRPr lang="en-US" sz="1100" dirty="0"/>
          </a:p>
          <a:p>
            <a:pPr marL="139700" indent="-139700" algn="l">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What opportunities are emerging?</a:t>
            </a:r>
            <a:endParaRPr lang="en-US" sz="1100" dirty="0"/>
          </a:p>
          <a:p>
            <a:pPr marL="139700" indent="-139700" algn="l">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Who is high priority?</a:t>
            </a:r>
            <a:endParaRPr lang="en-US" sz="1100" dirty="0"/>
          </a:p>
          <a:p>
            <a:pPr marL="139700" indent="-139700" algn="l">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What commitments were made?</a:t>
            </a:r>
            <a:endParaRPr lang="en-US" sz="1100" dirty="0"/>
          </a:p>
        </p:txBody>
      </p:sp>
      <p:sp>
        <p:nvSpPr>
          <p:cNvPr id="18" name="Shape 16"/>
          <p:cNvSpPr/>
          <p:nvPr/>
        </p:nvSpPr>
        <p:spPr>
          <a:xfrm>
            <a:off x="6210148" y="2606040"/>
            <a:ext cx="2625014" cy="3291840"/>
          </a:xfrm>
          <a:prstGeom prst="roundRect">
            <a:avLst>
              <a:gd name="adj" fmla="val 3135"/>
            </a:avLst>
          </a:prstGeom>
          <a:solidFill>
            <a:schemeClr val="bg1">
              <a:lumMod val="95000"/>
            </a:schemeClr>
          </a:solidFill>
          <a:ln w="15240">
            <a:solidFill>
              <a:srgbClr val="E2E8F0"/>
            </a:solidFill>
            <a:prstDash val="solid"/>
          </a:ln>
        </p:spPr>
        <p:txBody>
          <a:bodyPr/>
          <a:lstStyle/>
          <a:p>
            <a:endParaRPr lang="en-US"/>
          </a:p>
        </p:txBody>
      </p:sp>
      <p:sp>
        <p:nvSpPr>
          <p:cNvPr id="19" name="Shape 17"/>
          <p:cNvSpPr/>
          <p:nvPr/>
        </p:nvSpPr>
        <p:spPr>
          <a:xfrm>
            <a:off x="6466180" y="2898648"/>
            <a:ext cx="128016" cy="128016"/>
          </a:xfrm>
          <a:prstGeom prst="roundRect">
            <a:avLst>
              <a:gd name="adj" fmla="val 50000"/>
            </a:avLst>
          </a:prstGeom>
          <a:solidFill>
            <a:srgbClr val="10B981"/>
          </a:solidFill>
          <a:ln/>
        </p:spPr>
        <p:txBody>
          <a:bodyPr/>
          <a:lstStyle/>
          <a:p>
            <a:endParaRPr lang="en-US"/>
          </a:p>
        </p:txBody>
      </p:sp>
      <p:sp>
        <p:nvSpPr>
          <p:cNvPr id="20" name="Text 18"/>
          <p:cNvSpPr/>
          <p:nvPr/>
        </p:nvSpPr>
        <p:spPr>
          <a:xfrm>
            <a:off x="6667348" y="2807208"/>
            <a:ext cx="1984934" cy="274320"/>
          </a:xfrm>
          <a:prstGeom prst="rect">
            <a:avLst/>
          </a:prstGeom>
          <a:noFill/>
          <a:ln/>
        </p:spPr>
        <p:txBody>
          <a:bodyPr wrap="square" lIns="0" tIns="0" rIns="0" bIns="0" rtlCol="0" anchor="ctr"/>
          <a:lstStyle/>
          <a:p>
            <a:pPr marL="0" indent="0" algn="l">
              <a:buNone/>
            </a:pPr>
            <a:r>
              <a:rPr lang="en-US" sz="1300" b="1" kern="0" spc="60" dirty="0">
                <a:solidFill>
                  <a:srgbClr val="0F172A"/>
                </a:solidFill>
                <a:latin typeface="Calibri" pitchFamily="34" charset="0"/>
                <a:ea typeface="Calibri" pitchFamily="34" charset="-122"/>
                <a:cs typeface="Calibri" pitchFamily="34" charset="-120"/>
              </a:rPr>
              <a:t>AFTER</a:t>
            </a:r>
            <a:endParaRPr lang="en-US" sz="1300" dirty="0"/>
          </a:p>
        </p:txBody>
      </p:sp>
      <p:sp>
        <p:nvSpPr>
          <p:cNvPr id="21" name="Text 19"/>
          <p:cNvSpPr/>
          <p:nvPr/>
        </p:nvSpPr>
        <p:spPr>
          <a:xfrm>
            <a:off x="6466180" y="3291840"/>
            <a:ext cx="2167814" cy="2286000"/>
          </a:xfrm>
          <a:prstGeom prst="rect">
            <a:avLst/>
          </a:prstGeom>
          <a:noFill/>
          <a:ln/>
        </p:spPr>
        <p:txBody>
          <a:bodyPr wrap="square" lIns="0" tIns="0" rIns="0" bIns="0" rtlCol="0" anchor="t"/>
          <a:lstStyle/>
          <a:p>
            <a:pPr marL="139700" indent="-139700" algn="l">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What came out of the show?</a:t>
            </a:r>
            <a:endParaRPr lang="en-US" sz="1100" dirty="0"/>
          </a:p>
          <a:p>
            <a:pPr marL="139700" indent="-139700" algn="l">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Which opportunities need action?</a:t>
            </a:r>
            <a:endParaRPr lang="en-US" sz="1100" dirty="0"/>
          </a:p>
          <a:p>
            <a:pPr marL="139700" indent="-139700" algn="l">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Who owns each follow-up?</a:t>
            </a:r>
            <a:endParaRPr lang="en-US" sz="1100" dirty="0"/>
          </a:p>
          <a:p>
            <a:pPr marL="139700" indent="-139700" algn="l">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Which products drew interest?</a:t>
            </a:r>
            <a:endParaRPr lang="en-US" sz="1100" dirty="0"/>
          </a:p>
        </p:txBody>
      </p:sp>
      <p:sp>
        <p:nvSpPr>
          <p:cNvPr id="22" name="Shape 20"/>
          <p:cNvSpPr/>
          <p:nvPr/>
        </p:nvSpPr>
        <p:spPr>
          <a:xfrm>
            <a:off x="9063761" y="2606040"/>
            <a:ext cx="2625014" cy="3291840"/>
          </a:xfrm>
          <a:prstGeom prst="roundRect">
            <a:avLst>
              <a:gd name="adj" fmla="val 3135"/>
            </a:avLst>
          </a:prstGeom>
          <a:solidFill>
            <a:srgbClr val="FFFBEB"/>
          </a:solidFill>
          <a:ln w="15240">
            <a:solidFill>
              <a:srgbClr val="FDE68A"/>
            </a:solidFill>
            <a:prstDash val="solid"/>
          </a:ln>
        </p:spPr>
        <p:txBody>
          <a:bodyPr/>
          <a:lstStyle/>
          <a:p>
            <a:endParaRPr lang="en-US"/>
          </a:p>
        </p:txBody>
      </p:sp>
      <p:sp>
        <p:nvSpPr>
          <p:cNvPr id="23" name="Shape 21"/>
          <p:cNvSpPr/>
          <p:nvPr/>
        </p:nvSpPr>
        <p:spPr>
          <a:xfrm>
            <a:off x="9319793" y="2898648"/>
            <a:ext cx="128016" cy="128016"/>
          </a:xfrm>
          <a:prstGeom prst="roundRect">
            <a:avLst>
              <a:gd name="adj" fmla="val 50000"/>
            </a:avLst>
          </a:prstGeom>
          <a:solidFill>
            <a:srgbClr val="F59E0B"/>
          </a:solidFill>
          <a:ln/>
        </p:spPr>
        <p:txBody>
          <a:bodyPr/>
          <a:lstStyle/>
          <a:p>
            <a:endParaRPr lang="en-US"/>
          </a:p>
        </p:txBody>
      </p:sp>
      <p:sp>
        <p:nvSpPr>
          <p:cNvPr id="24" name="Text 22"/>
          <p:cNvSpPr/>
          <p:nvPr/>
        </p:nvSpPr>
        <p:spPr>
          <a:xfrm>
            <a:off x="9520961" y="2807208"/>
            <a:ext cx="1984934" cy="274320"/>
          </a:xfrm>
          <a:prstGeom prst="rect">
            <a:avLst/>
          </a:prstGeom>
          <a:noFill/>
          <a:ln/>
        </p:spPr>
        <p:txBody>
          <a:bodyPr wrap="square" lIns="0" tIns="0" rIns="0" bIns="0" rtlCol="0" anchor="ctr"/>
          <a:lstStyle/>
          <a:p>
            <a:pPr marL="0" indent="0" algn="l">
              <a:buNone/>
            </a:pPr>
            <a:r>
              <a:rPr lang="en-US" sz="1300" b="1" kern="0" spc="60" dirty="0">
                <a:solidFill>
                  <a:srgbClr val="0F172A"/>
                </a:solidFill>
                <a:latin typeface="Calibri" pitchFamily="34" charset="0"/>
                <a:ea typeface="Calibri" pitchFamily="34" charset="-122"/>
                <a:cs typeface="Calibri" pitchFamily="34" charset="-120"/>
              </a:rPr>
              <a:t>OVER TIME</a:t>
            </a:r>
            <a:endParaRPr lang="en-US" sz="1300" dirty="0"/>
          </a:p>
        </p:txBody>
      </p:sp>
      <p:sp>
        <p:nvSpPr>
          <p:cNvPr id="25" name="Shape 23"/>
          <p:cNvSpPr/>
          <p:nvPr/>
        </p:nvSpPr>
        <p:spPr>
          <a:xfrm>
            <a:off x="9319793" y="3172968"/>
            <a:ext cx="1051560" cy="237744"/>
          </a:xfrm>
          <a:prstGeom prst="roundRect">
            <a:avLst>
              <a:gd name="adj" fmla="val 30769"/>
            </a:avLst>
          </a:prstGeom>
          <a:solidFill>
            <a:srgbClr val="FFFFFF"/>
          </a:solidFill>
          <a:ln w="12700">
            <a:solidFill>
              <a:srgbClr val="FDE68A"/>
            </a:solidFill>
            <a:prstDash val="solid"/>
          </a:ln>
        </p:spPr>
        <p:txBody>
          <a:bodyPr/>
          <a:lstStyle/>
          <a:p>
            <a:endParaRPr lang="en-US"/>
          </a:p>
        </p:txBody>
      </p:sp>
      <p:sp>
        <p:nvSpPr>
          <p:cNvPr id="26" name="Text 24"/>
          <p:cNvSpPr/>
          <p:nvPr/>
        </p:nvSpPr>
        <p:spPr>
          <a:xfrm>
            <a:off x="9319793" y="3172968"/>
            <a:ext cx="1051560" cy="237744"/>
          </a:xfrm>
          <a:prstGeom prst="rect">
            <a:avLst/>
          </a:prstGeom>
          <a:noFill/>
          <a:ln/>
        </p:spPr>
        <p:txBody>
          <a:bodyPr wrap="square" lIns="0" tIns="0" rIns="0" bIns="0" rtlCol="0" anchor="ctr"/>
          <a:lstStyle/>
          <a:p>
            <a:pPr marL="0" indent="0" algn="ctr">
              <a:buNone/>
            </a:pPr>
            <a:r>
              <a:rPr lang="en-US" sz="800" b="1" dirty="0">
                <a:solidFill>
                  <a:srgbClr val="7C5B16"/>
                </a:solidFill>
                <a:latin typeface="Calibri" pitchFamily="34" charset="0"/>
                <a:ea typeface="Calibri" pitchFamily="34" charset="-122"/>
                <a:cs typeface="Calibri" pitchFamily="34" charset="-120"/>
              </a:rPr>
              <a:t>● DIRECTION</a:t>
            </a:r>
            <a:endParaRPr lang="en-US" sz="800" dirty="0"/>
          </a:p>
        </p:txBody>
      </p:sp>
      <p:sp>
        <p:nvSpPr>
          <p:cNvPr id="27" name="Text 25"/>
          <p:cNvSpPr/>
          <p:nvPr/>
        </p:nvSpPr>
        <p:spPr>
          <a:xfrm>
            <a:off x="9319793" y="3566160"/>
            <a:ext cx="2167814" cy="2286000"/>
          </a:xfrm>
          <a:prstGeom prst="rect">
            <a:avLst/>
          </a:prstGeom>
          <a:noFill/>
          <a:ln/>
        </p:spPr>
        <p:txBody>
          <a:bodyPr wrap="square" lIns="0" tIns="0" rIns="0" bIns="0" rtlCol="0" anchor="t"/>
          <a:lstStyle/>
          <a:p>
            <a:pPr marL="139700" indent="-139700" algn="l">
              <a:spcAft>
                <a:spcPts val="700"/>
              </a:spcAft>
              <a:buSzPct val="100000"/>
              <a:buChar char="•"/>
            </a:pPr>
            <a:r>
              <a:rPr lang="en-US" sz="1100" dirty="0">
                <a:solidFill>
                  <a:srgbClr val="92600C"/>
                </a:solidFill>
                <a:latin typeface="Calibri" pitchFamily="34" charset="0"/>
                <a:ea typeface="Calibri" pitchFamily="34" charset="-122"/>
                <a:cs typeface="Calibri" pitchFamily="34" charset="-120"/>
              </a:rPr>
              <a:t>Which shows created real opportunities?</a:t>
            </a:r>
            <a:endParaRPr lang="en-US" sz="1100" dirty="0"/>
          </a:p>
          <a:p>
            <a:pPr marL="139700" indent="-139700" algn="l">
              <a:spcAft>
                <a:spcPts val="700"/>
              </a:spcAft>
              <a:buSzPct val="100000"/>
              <a:buChar char="•"/>
            </a:pPr>
            <a:r>
              <a:rPr lang="en-US" sz="1100" dirty="0">
                <a:solidFill>
                  <a:srgbClr val="92600C"/>
                </a:solidFill>
                <a:latin typeface="Calibri" pitchFamily="34" charset="0"/>
                <a:ea typeface="Calibri" pitchFamily="34" charset="-122"/>
                <a:cs typeface="Calibri" pitchFamily="34" charset="-120"/>
              </a:rPr>
              <a:t>Which led to samples, quotes or orders?</a:t>
            </a:r>
            <a:endParaRPr lang="en-US" sz="1100" dirty="0"/>
          </a:p>
          <a:p>
            <a:pPr marL="139700" indent="-139700" algn="l">
              <a:spcAft>
                <a:spcPts val="700"/>
              </a:spcAft>
              <a:buSzPct val="100000"/>
              <a:buChar char="•"/>
            </a:pPr>
            <a:r>
              <a:rPr lang="en-US" sz="1100" dirty="0">
                <a:solidFill>
                  <a:srgbClr val="92600C"/>
                </a:solidFill>
                <a:latin typeface="Calibri" pitchFamily="34" charset="0"/>
                <a:ea typeface="Calibri" pitchFamily="34" charset="-122"/>
                <a:cs typeface="Calibri" pitchFamily="34" charset="-120"/>
              </a:rPr>
              <a:t>Which shows deserve future investment?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02920" y="457200"/>
            <a:ext cx="100584" cy="100584"/>
          </a:xfrm>
          <a:prstGeom prst="roundRect">
            <a:avLst>
              <a:gd name="adj" fmla="val 18182"/>
            </a:avLst>
          </a:prstGeom>
          <a:solidFill>
            <a:srgbClr val="0F172A"/>
          </a:solidFill>
          <a:ln w="16510">
            <a:solidFill>
              <a:srgbClr val="FFFFFF"/>
            </a:solidFill>
            <a:prstDash val="solid"/>
          </a:ln>
        </p:spPr>
        <p:txBody>
          <a:bodyPr/>
          <a:lstStyle/>
          <a:p>
            <a:endParaRPr lang="en-US"/>
          </a:p>
        </p:txBody>
      </p:sp>
      <p:sp>
        <p:nvSpPr>
          <p:cNvPr id="3" name="Shape 1"/>
          <p:cNvSpPr/>
          <p:nvPr/>
        </p:nvSpPr>
        <p:spPr>
          <a:xfrm>
            <a:off x="644652" y="457200"/>
            <a:ext cx="100584" cy="100584"/>
          </a:xfrm>
          <a:prstGeom prst="roundRect">
            <a:avLst>
              <a:gd name="adj" fmla="val 18182"/>
            </a:avLst>
          </a:prstGeom>
          <a:solidFill>
            <a:srgbClr val="0F172A"/>
          </a:solidFill>
          <a:ln w="16510">
            <a:solidFill>
              <a:srgbClr val="FFFFFF"/>
            </a:solidFill>
            <a:prstDash val="solid"/>
          </a:ln>
        </p:spPr>
        <p:txBody>
          <a:bodyPr/>
          <a:lstStyle/>
          <a:p>
            <a:endParaRPr lang="en-US"/>
          </a:p>
        </p:txBody>
      </p:sp>
      <p:sp>
        <p:nvSpPr>
          <p:cNvPr id="4" name="Shape 2"/>
          <p:cNvSpPr/>
          <p:nvPr/>
        </p:nvSpPr>
        <p:spPr>
          <a:xfrm>
            <a:off x="502920" y="598932"/>
            <a:ext cx="100584" cy="100584"/>
          </a:xfrm>
          <a:prstGeom prst="roundRect">
            <a:avLst>
              <a:gd name="adj" fmla="val 18182"/>
            </a:avLst>
          </a:prstGeom>
          <a:solidFill>
            <a:srgbClr val="0F172A"/>
          </a:solidFill>
          <a:ln w="16510">
            <a:solidFill>
              <a:srgbClr val="FFFFFF"/>
            </a:solidFill>
            <a:prstDash val="solid"/>
          </a:ln>
        </p:spPr>
        <p:txBody>
          <a:bodyPr/>
          <a:lstStyle/>
          <a:p>
            <a:endParaRPr lang="en-US"/>
          </a:p>
        </p:txBody>
      </p:sp>
      <p:sp>
        <p:nvSpPr>
          <p:cNvPr id="5" name="Shape 3"/>
          <p:cNvSpPr/>
          <p:nvPr/>
        </p:nvSpPr>
        <p:spPr>
          <a:xfrm>
            <a:off x="644652" y="598932"/>
            <a:ext cx="100584" cy="100584"/>
          </a:xfrm>
          <a:prstGeom prst="roundRect">
            <a:avLst>
              <a:gd name="adj" fmla="val 18182"/>
            </a:avLst>
          </a:prstGeom>
          <a:solidFill>
            <a:srgbClr val="10B981"/>
          </a:solidFill>
          <a:ln w="16510">
            <a:solidFill>
              <a:srgbClr val="10B981"/>
            </a:solidFill>
            <a:prstDash val="solid"/>
          </a:ln>
        </p:spPr>
        <p:txBody>
          <a:bodyPr/>
          <a:lstStyle/>
          <a:p>
            <a:endParaRPr lang="en-US"/>
          </a:p>
        </p:txBody>
      </p:sp>
      <p:sp>
        <p:nvSpPr>
          <p:cNvPr id="6" name="Text 4"/>
          <p:cNvSpPr/>
          <p:nvPr/>
        </p:nvSpPr>
        <p:spPr>
          <a:xfrm>
            <a:off x="886968" y="411480"/>
            <a:ext cx="2011680" cy="329184"/>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Expo</a:t>
            </a:r>
            <a:r>
              <a:rPr lang="en-US" sz="1500" b="1" dirty="0">
                <a:solidFill>
                  <a:srgbClr val="10B981"/>
                </a:solidFill>
                <a:latin typeface="Calibri" pitchFamily="34" charset="0"/>
                <a:ea typeface="Calibri" pitchFamily="34" charset="-122"/>
                <a:cs typeface="Calibri" pitchFamily="34" charset="-120"/>
              </a:rPr>
              <a:t>Lead</a:t>
            </a: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737360"/>
            <a:ext cx="10972800" cy="1463040"/>
          </a:xfrm>
          <a:prstGeom prst="rect">
            <a:avLst/>
          </a:prstGeom>
          <a:noFill/>
          <a:ln/>
        </p:spPr>
        <p:txBody>
          <a:bodyPr wrap="square" lIns="0" tIns="0" rIns="0" bIns="0" rtlCol="0" anchor="t"/>
          <a:lstStyle/>
          <a:p>
            <a:pPr marL="0" indent="0" algn="l">
              <a:lnSpc>
                <a:spcPct val="103000"/>
              </a:lnSpc>
              <a:buNone/>
            </a:pPr>
            <a:r>
              <a:rPr lang="en-US" sz="3600" b="1" dirty="0">
                <a:solidFill>
                  <a:srgbClr val="FFFFFF"/>
                </a:solidFill>
                <a:latin typeface="Calibri" pitchFamily="34" charset="0"/>
                <a:ea typeface="Calibri" pitchFamily="34" charset="-122"/>
                <a:cs typeface="Calibri" pitchFamily="34" charset="-120"/>
              </a:rPr>
              <a:t>ExpoLead doesn’t replace your CRM.</a:t>
            </a:r>
            <a:endParaRPr lang="en-US" sz="3600" dirty="0"/>
          </a:p>
          <a:p>
            <a:pPr marL="0" indent="0" algn="l">
              <a:lnSpc>
                <a:spcPct val="103000"/>
              </a:lnSpc>
              <a:buNone/>
            </a:pPr>
            <a:r>
              <a:rPr lang="en-US" sz="3600" b="1" dirty="0">
                <a:solidFill>
                  <a:srgbClr val="34D399"/>
                </a:solidFill>
                <a:latin typeface="Calibri" pitchFamily="34" charset="0"/>
                <a:ea typeface="Calibri" pitchFamily="34" charset="-122"/>
                <a:cs typeface="Calibri" pitchFamily="34" charset="-120"/>
              </a:rPr>
              <a:t>It owns the exhibition layer.</a:t>
            </a:r>
            <a:endParaRPr lang="en-US" sz="3600" dirty="0"/>
          </a:p>
        </p:txBody>
      </p:sp>
      <p:sp>
        <p:nvSpPr>
          <p:cNvPr id="8" name="Text 6"/>
          <p:cNvSpPr/>
          <p:nvPr/>
        </p:nvSpPr>
        <p:spPr>
          <a:xfrm>
            <a:off x="502920" y="3200400"/>
            <a:ext cx="7772400" cy="548640"/>
          </a:xfrm>
          <a:prstGeom prst="rect">
            <a:avLst/>
          </a:prstGeom>
          <a:noFill/>
          <a:ln/>
        </p:spPr>
        <p:txBody>
          <a:bodyPr wrap="square" lIns="0" tIns="0" rIns="0" bIns="0" rtlCol="0" anchor="t"/>
          <a:lstStyle/>
          <a:p>
            <a:pPr marL="0" indent="0" algn="l">
              <a:lnSpc>
                <a:spcPct val="115000"/>
              </a:lnSpc>
              <a:buNone/>
            </a:pPr>
            <a:r>
              <a:rPr lang="en-US" sz="1500" dirty="0">
                <a:solidFill>
                  <a:srgbClr val="CBD5E1"/>
                </a:solidFill>
                <a:latin typeface="Calibri" pitchFamily="34" charset="0"/>
                <a:ea typeface="Calibri" pitchFamily="34" charset="-122"/>
                <a:cs typeface="Calibri" pitchFamily="34" charset="-120"/>
              </a:rPr>
              <a:t>Before, during and immediately after the show. Your CRM keeps the relationship, the pipeline and the revenue.</a:t>
            </a:r>
            <a:endParaRPr lang="en-US" sz="1500" dirty="0"/>
          </a:p>
        </p:txBody>
      </p:sp>
      <p:sp>
        <p:nvSpPr>
          <p:cNvPr id="9" name="Shape 7"/>
          <p:cNvSpPr/>
          <p:nvPr/>
        </p:nvSpPr>
        <p:spPr>
          <a:xfrm>
            <a:off x="502920" y="4023360"/>
            <a:ext cx="11185855" cy="1828800"/>
          </a:xfrm>
          <a:prstGeom prst="roundRect">
            <a:avLst>
              <a:gd name="adj" fmla="val 6000"/>
            </a:avLst>
          </a:prstGeom>
          <a:solidFill>
            <a:srgbClr val="12203A"/>
          </a:solidFill>
          <a:ln w="12700">
            <a:solidFill>
              <a:srgbClr val="334155"/>
            </a:solidFill>
            <a:prstDash val="solid"/>
          </a:ln>
        </p:spPr>
        <p:txBody>
          <a:bodyPr/>
          <a:lstStyle/>
          <a:p>
            <a:endParaRPr lang="en-US"/>
          </a:p>
        </p:txBody>
      </p:sp>
      <p:sp>
        <p:nvSpPr>
          <p:cNvPr id="10" name="Text 8"/>
          <p:cNvSpPr/>
          <p:nvPr/>
        </p:nvSpPr>
        <p:spPr>
          <a:xfrm>
            <a:off x="822960" y="4206240"/>
            <a:ext cx="5486400" cy="274320"/>
          </a:xfrm>
          <a:prstGeom prst="rect">
            <a:avLst/>
          </a:prstGeom>
          <a:noFill/>
          <a:ln/>
        </p:spPr>
        <p:txBody>
          <a:bodyPr wrap="square" lIns="0" tIns="0" rIns="0" bIns="0" rtlCol="0" anchor="ctr"/>
          <a:lstStyle/>
          <a:p>
            <a:pPr marL="0" indent="0">
              <a:buNone/>
            </a:pPr>
            <a:r>
              <a:rPr lang="en-US" sz="1100" b="1" kern="0" spc="150" dirty="0">
                <a:solidFill>
                  <a:srgbClr val="34D399"/>
                </a:solidFill>
                <a:latin typeface="Calibri" pitchFamily="34" charset="0"/>
                <a:ea typeface="Calibri" pitchFamily="34" charset="-122"/>
                <a:cs typeface="Calibri" pitchFamily="34" charset="-120"/>
              </a:rPr>
              <a:t>ASK YOUR TEAM</a:t>
            </a:r>
            <a:endParaRPr lang="en-US" sz="1100" dirty="0"/>
          </a:p>
        </p:txBody>
      </p:sp>
      <p:sp>
        <p:nvSpPr>
          <p:cNvPr id="11" name="Text 9"/>
          <p:cNvSpPr/>
          <p:nvPr/>
        </p:nvSpPr>
        <p:spPr>
          <a:xfrm>
            <a:off x="822960" y="4572000"/>
            <a:ext cx="10545775" cy="1188720"/>
          </a:xfrm>
          <a:prstGeom prst="rect">
            <a:avLst/>
          </a:prstGeom>
          <a:noFill/>
          <a:ln/>
        </p:spPr>
        <p:txBody>
          <a:bodyPr wrap="square" lIns="0" tIns="0" rIns="0" bIns="0" rtlCol="0" anchor="t"/>
          <a:lstStyle/>
          <a:p>
            <a:pPr marL="203200" indent="-203200" algn="l">
              <a:spcAft>
                <a:spcPts val="900"/>
              </a:spcAft>
              <a:buSzPct val="100000"/>
              <a:buChar char="?"/>
            </a:pPr>
            <a:r>
              <a:rPr lang="en-US" sz="1350" dirty="0">
                <a:solidFill>
                  <a:srgbClr val="CBD5E1"/>
                </a:solidFill>
                <a:latin typeface="Calibri" pitchFamily="34" charset="0"/>
                <a:ea typeface="Calibri" pitchFamily="34" charset="-122"/>
                <a:cs typeface="Calibri" pitchFamily="34" charset="-120"/>
              </a:rPr>
              <a:t>Back from a show with 100 to 00 conversations, how do you manage everything from that specific exhibition?</a:t>
            </a:r>
            <a:endParaRPr lang="en-US" sz="1350" dirty="0"/>
          </a:p>
          <a:p>
            <a:pPr marL="203200" indent="-203200" algn="l">
              <a:spcAft>
                <a:spcPts val="900"/>
              </a:spcAft>
              <a:buSzPct val="100000"/>
              <a:buChar char="?"/>
            </a:pPr>
            <a:r>
              <a:rPr lang="en-US" sz="1350" dirty="0">
                <a:solidFill>
                  <a:srgbClr val="CBD5E1"/>
                </a:solidFill>
                <a:latin typeface="Calibri" pitchFamily="34" charset="0"/>
                <a:ea typeface="Calibri" pitchFamily="34" charset="-122"/>
                <a:cs typeface="Calibri" pitchFamily="34" charset="-120"/>
              </a:rPr>
              <a:t>How do you separate serious opportunities from casual conversations?</a:t>
            </a:r>
            <a:endParaRPr lang="en-US" sz="1350" dirty="0"/>
          </a:p>
          <a:p>
            <a:pPr marL="203200" indent="-203200" algn="l">
              <a:spcAft>
                <a:spcPts val="900"/>
              </a:spcAft>
              <a:buSzPct val="100000"/>
              <a:buChar char="?"/>
            </a:pPr>
            <a:r>
              <a:rPr lang="en-US" sz="1350" dirty="0">
                <a:solidFill>
                  <a:srgbClr val="CBD5E1"/>
                </a:solidFill>
                <a:latin typeface="Calibri" pitchFamily="34" charset="0"/>
                <a:ea typeface="Calibri" pitchFamily="34" charset="-122"/>
                <a:cs typeface="Calibri" pitchFamily="34" charset="-120"/>
              </a:rPr>
              <a:t>Six months on, can you trace a deal back to the exhibition it started at?</a:t>
            </a:r>
            <a:endParaRPr lang="en-US" sz="1350" dirty="0"/>
          </a:p>
        </p:txBody>
      </p:sp>
      <p:sp>
        <p:nvSpPr>
          <p:cNvPr id="12" name="Text 10"/>
          <p:cNvSpPr/>
          <p:nvPr/>
        </p:nvSpPr>
        <p:spPr>
          <a:xfrm>
            <a:off x="502920" y="6126480"/>
            <a:ext cx="10972800" cy="274320"/>
          </a:xfrm>
          <a:prstGeom prst="rect">
            <a:avLst/>
          </a:prstGeom>
          <a:noFill/>
          <a:ln/>
        </p:spPr>
        <p:txBody>
          <a:bodyPr wrap="square" lIns="0" tIns="0" rIns="0" bIns="0" rtlCol="0" anchor="ctr"/>
          <a:lstStyle/>
          <a:p>
            <a:pPr marL="0" indent="0" algn="l">
              <a:buNone/>
            </a:pPr>
            <a:r>
              <a:rPr lang="en-US" sz="1050" b="1" kern="0" spc="120" dirty="0">
                <a:solidFill>
                  <a:srgbClr val="64748B"/>
                </a:solidFill>
                <a:latin typeface="Calibri" pitchFamily="34" charset="0"/>
                <a:ea typeface="Calibri" pitchFamily="34" charset="-122"/>
                <a:cs typeface="Calibri" pitchFamily="34" charset="-120"/>
              </a:rPr>
              <a:t>WORKS ALONGSIDE  ·  SALESFORCE  ·  HUBSPOT  ·  ZOHO  ·  BIGIN  ·  PIPEDRIVE  ·  ODOO</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1119</Words>
  <Application>Microsoft Office PowerPoint</Application>
  <PresentationFormat>Widescreen</PresentationFormat>
  <Paragraphs>204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Gladwin Perera</cp:lastModifiedBy>
  <cp:revision>8</cp:revision>
  <dcterms:created xsi:type="dcterms:W3CDTF">2026-08-07T12:43:47Z</dcterms:created>
  <dcterms:modified xsi:type="dcterms:W3CDTF">2026-08-07T13:31:47Z</dcterms:modified>
</cp:coreProperties>
</file>