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245" y="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6138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ExpoLead is not a CRM competitor and is not sold as a CRM integration. It runs the exhibition and owns only the exhibition layer; the user keeps whatever CRM they already run and takes the clean lead into it. We do not have CRM integrations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ExpoLead spans Before / During / After. The CRM is the long-term system for Ongoing Sales. They overlap deliberately at After (opportunities and follow-up). No hard wall.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work is different. A CRM organises around the contact and the deal. ExpoLead organises around the exhibition and everything it generates. It is the operational workspace around the show, not another contact database.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comparison grid. The CRM appears only as the downstream recipient of a clean, qualified lead. This removes any row-by-row "my CRM does that too" reflex: we are showing a sequence, not a feature contest. A CRM begins where the exhibition ends.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thesis: ExpoLead is not an alternative to a CRM, it is the missing layer between the exhibition floor and the CRM. Without ExpoLead the booth-to-CRM path leaks (cards, notebooks, back to the office, manual entry, lost leads). With ExpoLead the floor is captured cleanly and the lead reaches the CRM export-ready. Note: no live CRM sync today; export is CSV, then imported to the CRM.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is not the CRM. It is business cards, WhatsApp, notebooks, photos, spreadsheets and memory scattered across the team. ExpoLead consolidates the exhibition layer into one structured workspace.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direction is exhibition intelligence: management can read the performance of each show and, over time, decide which exhibitions deserve future investment. Over-time and outcome views are flagged as product direction.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reassurance: no rip-and-replace. ExpoLead owns only the exhibition layer and complements any CRM. Use the three discovery questions to open the conversation without telling the prospect their CRM is inadequate.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6" name="Text 4"/>
          <p:cNvSpPr/>
          <p:nvPr/>
        </p:nvSpPr>
        <p:spPr>
          <a:xfrm>
            <a:off x="502920" y="402336"/>
            <a:ext cx="2011680" cy="329184"/>
          </a:xfrm>
          <a:prstGeom prst="rect">
            <a:avLst/>
          </a:prstGeom>
          <a:noFill/>
          <a:ln/>
        </p:spPr>
        <p:txBody>
          <a:bodyPr wrap="square" lIns="0" tIns="0" rIns="0" bIns="0" rtlCol="0" anchor="ctr"/>
          <a:lstStyle/>
          <a:p>
            <a:pPr marL="0" indent="0" algn="l">
              <a:buNone/>
            </a:pPr>
            <a:r>
              <a:rPr lang="en-US" sz="1500" b="1" dirty="0">
                <a:solidFill>
                  <a:srgbClr val="FFFFFF"/>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6156655" y="457200"/>
            <a:ext cx="5532120" cy="274320"/>
          </a:xfrm>
          <a:prstGeom prst="rect">
            <a:avLst/>
          </a:prstGeom>
          <a:noFill/>
          <a:ln/>
        </p:spPr>
        <p:txBody>
          <a:bodyPr wrap="square" lIns="0" tIns="0" rIns="0" bIns="0" rtlCol="0" anchor="ctr"/>
          <a:lstStyle/>
          <a:p>
            <a:pPr marL="0" indent="0" algn="r">
              <a:buNone/>
            </a:pPr>
            <a:r>
              <a:rPr lang="en-US" sz="1100" b="1" kern="0" spc="150" dirty="0">
                <a:solidFill>
                  <a:srgbClr val="94A3B8"/>
                </a:solidFill>
                <a:latin typeface="Calibri" pitchFamily="34" charset="0"/>
                <a:ea typeface="Calibri" pitchFamily="34" charset="-122"/>
                <a:cs typeface="Calibri" pitchFamily="34" charset="-120"/>
              </a:rPr>
              <a:t>POSITIONING  ·  FOR TEAMS WHO ALREADY USE A CRM</a:t>
            </a:r>
            <a:endParaRPr lang="en-US" sz="1100" dirty="0"/>
          </a:p>
        </p:txBody>
      </p:sp>
      <p:sp>
        <p:nvSpPr>
          <p:cNvPr id="8" name="Text 6"/>
          <p:cNvSpPr/>
          <p:nvPr/>
        </p:nvSpPr>
        <p:spPr>
          <a:xfrm>
            <a:off x="502920" y="1874520"/>
            <a:ext cx="8229600" cy="274320"/>
          </a:xfrm>
          <a:prstGeom prst="rect">
            <a:avLst/>
          </a:prstGeom>
          <a:noFill/>
          <a:ln/>
        </p:spPr>
        <p:txBody>
          <a:bodyPr wrap="square" lIns="0" tIns="0" rIns="0" bIns="0" rtlCol="0" anchor="ctr"/>
          <a:lstStyle/>
          <a:p>
            <a:pPr marL="0" indent="0" algn="l">
              <a:buNone/>
            </a:pPr>
            <a:r>
              <a:rPr lang="en-US" sz="1100" b="1" kern="0" spc="220" dirty="0">
                <a:solidFill>
                  <a:srgbClr val="34D399"/>
                </a:solidFill>
                <a:latin typeface="Calibri" pitchFamily="34" charset="0"/>
                <a:ea typeface="Calibri" pitchFamily="34" charset="-122"/>
                <a:cs typeface="Calibri" pitchFamily="34" charset="-120"/>
              </a:rPr>
              <a:t>TWO SYSTEMS. TWO DIFFERENT JOBS.</a:t>
            </a:r>
            <a:endParaRPr lang="en-US" sz="1100" dirty="0"/>
          </a:p>
        </p:txBody>
      </p:sp>
      <p:sp>
        <p:nvSpPr>
          <p:cNvPr id="9" name="Text 7"/>
          <p:cNvSpPr/>
          <p:nvPr/>
        </p:nvSpPr>
        <p:spPr>
          <a:xfrm>
            <a:off x="502920" y="2194560"/>
            <a:ext cx="10607040" cy="173736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Calibri" pitchFamily="34" charset="0"/>
                <a:ea typeface="Calibri" pitchFamily="34" charset="-122"/>
                <a:cs typeface="Calibri" pitchFamily="34" charset="-120"/>
              </a:rPr>
              <a:t>Your CRM manages the relationship.</a:t>
            </a:r>
            <a:endParaRPr lang="en-US" sz="4000" dirty="0"/>
          </a:p>
          <a:p>
            <a:pPr marL="0" indent="0" algn="l">
              <a:lnSpc>
                <a:spcPct val="102000"/>
              </a:lnSpc>
              <a:buNone/>
            </a:pPr>
            <a:r>
              <a:rPr lang="en-US" sz="4000" b="1" dirty="0">
                <a:solidFill>
                  <a:srgbClr val="34D399"/>
                </a:solidFill>
                <a:latin typeface="Calibri" pitchFamily="34" charset="0"/>
                <a:ea typeface="Calibri" pitchFamily="34" charset="-122"/>
                <a:cs typeface="Calibri" pitchFamily="34" charset="-120"/>
              </a:rPr>
              <a:t>ExpoLead manages the exhibition journey.</a:t>
            </a:r>
            <a:endParaRPr lang="en-US" sz="4000" dirty="0"/>
          </a:p>
        </p:txBody>
      </p:sp>
      <p:sp>
        <p:nvSpPr>
          <p:cNvPr id="10" name="Text 8"/>
          <p:cNvSpPr/>
          <p:nvPr/>
        </p:nvSpPr>
        <p:spPr>
          <a:xfrm>
            <a:off x="502920" y="3977640"/>
            <a:ext cx="8778240" cy="822960"/>
          </a:xfrm>
          <a:prstGeom prst="rect">
            <a:avLst/>
          </a:prstGeom>
          <a:noFill/>
          <a:ln/>
        </p:spPr>
        <p:txBody>
          <a:bodyPr wrap="square" lIns="0" tIns="0" rIns="0" bIns="0" rtlCol="0" anchor="t"/>
          <a:lstStyle/>
          <a:p>
            <a:pPr marL="0" indent="0" algn="l">
              <a:lnSpc>
                <a:spcPct val="115000"/>
              </a:lnSpc>
              <a:buNone/>
            </a:pPr>
            <a:r>
              <a:rPr lang="en-US" sz="1500" dirty="0">
                <a:solidFill>
                  <a:srgbClr val="CBD5E1"/>
                </a:solidFill>
                <a:latin typeface="Calibri" pitchFamily="34" charset="0"/>
                <a:ea typeface="Calibri" pitchFamily="34" charset="-122"/>
                <a:cs typeface="Calibri" pitchFamily="34" charset="-120"/>
              </a:rPr>
              <a:t>ExpoLead does not replace your CRM. It gives your exhibition team a purpose-built workspace for the part of the commercial journey that happens before, during and immediately after the show.</a:t>
            </a:r>
            <a:endParaRPr lang="en-US" sz="1500" dirty="0"/>
          </a:p>
        </p:txBody>
      </p:sp>
      <p:sp>
        <p:nvSpPr>
          <p:cNvPr id="11" name="Text 9"/>
          <p:cNvSpPr/>
          <p:nvPr/>
        </p:nvSpPr>
        <p:spPr>
          <a:xfrm>
            <a:off x="502920" y="5257800"/>
            <a:ext cx="8229600" cy="256032"/>
          </a:xfrm>
          <a:prstGeom prst="rect">
            <a:avLst/>
          </a:prstGeom>
          <a:noFill/>
          <a:ln/>
        </p:spPr>
        <p:txBody>
          <a:bodyPr wrap="square" lIns="0" tIns="0" rIns="0" bIns="0" rtlCol="0" anchor="ctr"/>
          <a:lstStyle/>
          <a:p>
            <a:pPr marL="0" indent="0" algn="l">
              <a:buNone/>
            </a:pPr>
            <a:r>
              <a:rPr lang="en-US" sz="1050" b="1" kern="0" spc="150" dirty="0">
                <a:solidFill>
                  <a:srgbClr val="34D399"/>
                </a:solidFill>
                <a:latin typeface="Calibri" pitchFamily="34" charset="0"/>
                <a:ea typeface="Calibri" pitchFamily="34" charset="-122"/>
                <a:cs typeface="Calibri" pitchFamily="34" charset="-120"/>
              </a:rPr>
              <a:t>NO RIP AND REPLACE</a:t>
            </a:r>
            <a:endParaRPr lang="en-US" sz="1050" dirty="0"/>
          </a:p>
        </p:txBody>
      </p:sp>
      <p:sp>
        <p:nvSpPr>
          <p:cNvPr id="12" name="Text 10"/>
          <p:cNvSpPr/>
          <p:nvPr/>
        </p:nvSpPr>
        <p:spPr>
          <a:xfrm>
            <a:off x="502920" y="5559552"/>
            <a:ext cx="9601200" cy="457200"/>
          </a:xfrm>
          <a:prstGeom prst="rect">
            <a:avLst/>
          </a:prstGeom>
          <a:noFill/>
          <a:ln/>
        </p:spPr>
        <p:txBody>
          <a:bodyPr wrap="square" lIns="0" tIns="0" rIns="0" bIns="0" rtlCol="0" anchor="t"/>
          <a:lstStyle/>
          <a:p>
            <a:pPr marL="0" indent="0" algn="l">
              <a:lnSpc>
                <a:spcPct val="112000"/>
              </a:lnSpc>
              <a:buNone/>
            </a:pPr>
            <a:r>
              <a:rPr lang="en-US" sz="1450" b="1" dirty="0">
                <a:solidFill>
                  <a:srgbClr val="FFFFFF"/>
                </a:solidFill>
                <a:latin typeface="Calibri" pitchFamily="34" charset="0"/>
                <a:ea typeface="Calibri" pitchFamily="34" charset="-122"/>
                <a:cs typeface="Calibri" pitchFamily="34" charset="-120"/>
              </a:rPr>
              <a:t>Keep the CRM you already use. </a:t>
            </a:r>
            <a:r>
              <a:rPr lang="en-US" sz="1450" dirty="0">
                <a:solidFill>
                  <a:srgbClr val="CBD5E1"/>
                </a:solidFill>
                <a:latin typeface="Calibri" pitchFamily="34" charset="0"/>
                <a:ea typeface="Calibri" pitchFamily="34" charset="-122"/>
                <a:cs typeface="Calibri" pitchFamily="34" charset="-120"/>
              </a:rPr>
              <a:t>ExpoLead owns the exhibition, then you take the clean lead into your CRM.</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6" name="Text 4"/>
          <p:cNvSpPr/>
          <p:nvPr/>
        </p:nvSpPr>
        <p:spPr>
          <a:xfrm>
            <a:off x="502920" y="339946"/>
            <a:ext cx="2011680" cy="329184"/>
          </a:xfrm>
          <a:prstGeom prst="rect">
            <a:avLst/>
          </a:prstGeom>
          <a:noFill/>
          <a:ln/>
        </p:spPr>
        <p:txBody>
          <a:bodyPr wrap="square" lIns="0" tIns="0" rIns="0" bIns="0" rtlCol="0" anchor="ctr"/>
          <a:lstStyle/>
          <a:p>
            <a:pPr marL="0" indent="0" algn="l">
              <a:buNone/>
            </a:pPr>
            <a:r>
              <a:rPr lang="en-US" sz="1500" b="1" dirty="0">
                <a:solidFill>
                  <a:srgbClr val="0F172A"/>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marL="0" indent="0" algn="l">
              <a:buNone/>
            </a:pPr>
            <a:r>
              <a:rPr lang="en-US" sz="1100" b="1" kern="0" spc="220" dirty="0">
                <a:solidFill>
                  <a:srgbClr val="059669"/>
                </a:solidFill>
                <a:latin typeface="Calibri" pitchFamily="34" charset="0"/>
                <a:ea typeface="Calibri" pitchFamily="34" charset="-122"/>
                <a:cs typeface="Calibri" pitchFamily="34" charset="-120"/>
              </a:rPr>
              <a:t>THE COMMERCIAL WORKFLOW</a:t>
            </a:r>
            <a:endParaRPr lang="en-US" sz="1100" dirty="0"/>
          </a:p>
        </p:txBody>
      </p:sp>
      <p:sp>
        <p:nvSpPr>
          <p:cNvPr id="8" name="Text 6"/>
          <p:cNvSpPr/>
          <p:nvPr/>
        </p:nvSpPr>
        <p:spPr>
          <a:xfrm>
            <a:off x="502920" y="1325880"/>
            <a:ext cx="10972800" cy="548640"/>
          </a:xfrm>
          <a:prstGeom prst="rect">
            <a:avLst/>
          </a:prstGeom>
          <a:noFill/>
          <a:ln/>
        </p:spPr>
        <p:txBody>
          <a:bodyPr wrap="square" lIns="0" tIns="0" rIns="0" bIns="0" rtlCol="0" anchor="t"/>
          <a:lstStyle/>
          <a:p>
            <a:pPr marL="0" indent="0" algn="l">
              <a:buNone/>
            </a:pPr>
            <a:r>
              <a:rPr lang="en-US" sz="2800" b="1" dirty="0">
                <a:solidFill>
                  <a:srgbClr val="0F172A"/>
                </a:solidFill>
                <a:latin typeface="Calibri" pitchFamily="34" charset="0"/>
                <a:ea typeface="Calibri" pitchFamily="34" charset="-122"/>
                <a:cs typeface="Calibri" pitchFamily="34" charset="-120"/>
              </a:rPr>
              <a:t>Where ExpoLead sits, and where your CRM takes over</a:t>
            </a:r>
            <a:endParaRPr lang="en-US" sz="2800" dirty="0"/>
          </a:p>
        </p:txBody>
      </p:sp>
      <p:sp>
        <p:nvSpPr>
          <p:cNvPr id="9" name="Shape 7"/>
          <p:cNvSpPr/>
          <p:nvPr/>
        </p:nvSpPr>
        <p:spPr>
          <a:xfrm>
            <a:off x="502920" y="2148840"/>
            <a:ext cx="8339099" cy="310896"/>
          </a:xfrm>
          <a:prstGeom prst="roundRect">
            <a:avLst>
              <a:gd name="adj" fmla="val 20588"/>
            </a:avLst>
          </a:prstGeom>
          <a:solidFill>
            <a:srgbClr val="ECFDF5"/>
          </a:solidFill>
          <a:ln/>
        </p:spPr>
        <p:txBody>
          <a:bodyPr/>
          <a:lstStyle/>
          <a:p>
            <a:endParaRPr lang="en-US"/>
          </a:p>
        </p:txBody>
      </p:sp>
      <p:sp>
        <p:nvSpPr>
          <p:cNvPr id="10" name="Text 8"/>
          <p:cNvSpPr/>
          <p:nvPr/>
        </p:nvSpPr>
        <p:spPr>
          <a:xfrm>
            <a:off x="612648" y="2148840"/>
            <a:ext cx="7936763" cy="310896"/>
          </a:xfrm>
          <a:prstGeom prst="rect">
            <a:avLst/>
          </a:prstGeom>
          <a:noFill/>
          <a:ln/>
        </p:spPr>
        <p:txBody>
          <a:bodyPr wrap="square" lIns="0" tIns="0" rIns="0" bIns="0" rtlCol="0" anchor="ctr"/>
          <a:lstStyle/>
          <a:p>
            <a:pPr marL="0" indent="0" algn="l">
              <a:buNone/>
            </a:pPr>
            <a:r>
              <a:rPr lang="en-US" sz="1050" b="1" kern="0" spc="120" dirty="0">
                <a:solidFill>
                  <a:srgbClr val="047857"/>
                </a:solidFill>
                <a:latin typeface="Calibri" pitchFamily="34" charset="0"/>
                <a:ea typeface="Calibri" pitchFamily="34" charset="-122"/>
                <a:cs typeface="Calibri" pitchFamily="34" charset="-120"/>
              </a:rPr>
              <a:t>EXPOLEAD OS  ·  THE EXHIBITION LAYER</a:t>
            </a:r>
            <a:endParaRPr lang="en-US" sz="1050" dirty="0"/>
          </a:p>
        </p:txBody>
      </p:sp>
      <p:sp>
        <p:nvSpPr>
          <p:cNvPr id="11" name="Shape 9"/>
          <p:cNvSpPr/>
          <p:nvPr/>
        </p:nvSpPr>
        <p:spPr>
          <a:xfrm>
            <a:off x="6196432" y="2532888"/>
            <a:ext cx="5492344" cy="310896"/>
          </a:xfrm>
          <a:prstGeom prst="roundRect">
            <a:avLst>
              <a:gd name="adj" fmla="val 20588"/>
            </a:avLst>
          </a:prstGeom>
          <a:solidFill>
            <a:srgbClr val="F1F5F9"/>
          </a:solidFill>
          <a:ln/>
        </p:spPr>
        <p:txBody>
          <a:bodyPr/>
          <a:lstStyle/>
          <a:p>
            <a:endParaRPr lang="en-US"/>
          </a:p>
        </p:txBody>
      </p:sp>
      <p:sp>
        <p:nvSpPr>
          <p:cNvPr id="12" name="Text 10"/>
          <p:cNvSpPr/>
          <p:nvPr/>
        </p:nvSpPr>
        <p:spPr>
          <a:xfrm>
            <a:off x="6306160" y="2532888"/>
            <a:ext cx="5291176" cy="310896"/>
          </a:xfrm>
          <a:prstGeom prst="rect">
            <a:avLst/>
          </a:prstGeom>
          <a:noFill/>
          <a:ln/>
        </p:spPr>
        <p:txBody>
          <a:bodyPr wrap="square" lIns="0" tIns="0" rIns="0" bIns="0" rtlCol="0" anchor="ctr"/>
          <a:lstStyle/>
          <a:p>
            <a:pPr marL="0" indent="0" algn="l">
              <a:buNone/>
            </a:pPr>
            <a:r>
              <a:rPr lang="en-US" sz="1050" b="1" kern="0" spc="120" dirty="0">
                <a:solidFill>
                  <a:srgbClr val="475569"/>
                </a:solidFill>
                <a:latin typeface="Calibri" pitchFamily="34" charset="0"/>
                <a:ea typeface="Calibri" pitchFamily="34" charset="-122"/>
                <a:cs typeface="Calibri" pitchFamily="34" charset="-120"/>
              </a:rPr>
              <a:t>YOUR CRM  ·  THE RELATIONSHIP LAYER</a:t>
            </a:r>
            <a:endParaRPr lang="en-US" sz="1050" dirty="0"/>
          </a:p>
        </p:txBody>
      </p:sp>
      <p:sp>
        <p:nvSpPr>
          <p:cNvPr id="13" name="Shape 11"/>
          <p:cNvSpPr/>
          <p:nvPr/>
        </p:nvSpPr>
        <p:spPr>
          <a:xfrm>
            <a:off x="502920" y="2971800"/>
            <a:ext cx="2645588" cy="3063240"/>
          </a:xfrm>
          <a:prstGeom prst="roundRect">
            <a:avLst>
              <a:gd name="adj" fmla="val 3111"/>
            </a:avLst>
          </a:prstGeom>
          <a:solidFill>
            <a:srgbClr val="FFFFFF"/>
          </a:solidFill>
          <a:ln w="15240">
            <a:solidFill>
              <a:srgbClr val="D1FAE5"/>
            </a:solidFill>
            <a:prstDash val="solid"/>
          </a:ln>
          <a:effectLst>
            <a:outerShdw blurRad="76200" dist="25400" dir="5400000" algn="bl" rotWithShape="0">
              <a:srgbClr val="101018">
                <a:alpha val="6000"/>
              </a:srgbClr>
            </a:outerShdw>
          </a:effectLst>
        </p:spPr>
        <p:txBody>
          <a:bodyPr/>
          <a:lstStyle/>
          <a:p>
            <a:endParaRPr lang="en-US"/>
          </a:p>
        </p:txBody>
      </p:sp>
      <p:sp>
        <p:nvSpPr>
          <p:cNvPr id="14" name="Text 12"/>
          <p:cNvSpPr/>
          <p:nvPr/>
        </p:nvSpPr>
        <p:spPr>
          <a:xfrm>
            <a:off x="704088" y="3118104"/>
            <a:ext cx="914400" cy="219456"/>
          </a:xfrm>
          <a:prstGeom prst="rect">
            <a:avLst/>
          </a:prstGeom>
          <a:noFill/>
          <a:ln/>
        </p:spPr>
        <p:txBody>
          <a:bodyPr wrap="square" lIns="0" tIns="0" rIns="0" bIns="0" rtlCol="0" anchor="ctr"/>
          <a:lstStyle/>
          <a:p>
            <a:pPr marL="0" indent="0">
              <a:buNone/>
            </a:pPr>
            <a:r>
              <a:rPr lang="en-US" sz="1100" b="1" kern="0" spc="100" dirty="0">
                <a:solidFill>
                  <a:srgbClr val="CBD5E1"/>
                </a:solidFill>
                <a:latin typeface="Calibri" pitchFamily="34" charset="0"/>
                <a:ea typeface="Calibri" pitchFamily="34" charset="-122"/>
                <a:cs typeface="Calibri" pitchFamily="34" charset="-120"/>
              </a:rPr>
              <a:t>01</a:t>
            </a:r>
            <a:endParaRPr lang="en-US" sz="1100" dirty="0"/>
          </a:p>
        </p:txBody>
      </p:sp>
      <p:sp>
        <p:nvSpPr>
          <p:cNvPr id="15" name="Text 13"/>
          <p:cNvSpPr/>
          <p:nvPr/>
        </p:nvSpPr>
        <p:spPr>
          <a:xfrm>
            <a:off x="704088" y="3337560"/>
            <a:ext cx="2279828"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Before expo</a:t>
            </a:r>
            <a:endParaRPr lang="en-US" sz="1600" dirty="0"/>
          </a:p>
        </p:txBody>
      </p:sp>
      <p:sp>
        <p:nvSpPr>
          <p:cNvPr id="16" name="Text 14"/>
          <p:cNvSpPr/>
          <p:nvPr/>
        </p:nvSpPr>
        <p:spPr>
          <a:xfrm>
            <a:off x="704088" y="3685032"/>
            <a:ext cx="2279828" cy="237744"/>
          </a:xfrm>
          <a:prstGeom prst="rect">
            <a:avLst/>
          </a:prstGeom>
          <a:noFill/>
          <a:ln/>
        </p:spPr>
        <p:txBody>
          <a:bodyPr wrap="square" lIns="0" tIns="0" rIns="0" bIns="0" rtlCol="0" anchor="ctr"/>
          <a:lstStyle/>
          <a:p>
            <a:pPr marL="0" indent="0">
              <a:buNone/>
            </a:pPr>
            <a:r>
              <a:rPr lang="en-US" sz="1050" b="1" kern="0" spc="100" dirty="0">
                <a:solidFill>
                  <a:srgbClr val="059669"/>
                </a:solidFill>
                <a:latin typeface="Calibri" pitchFamily="34" charset="0"/>
                <a:ea typeface="Calibri" pitchFamily="34" charset="-122"/>
                <a:cs typeface="Calibri" pitchFamily="34" charset="-120"/>
              </a:rPr>
              <a:t>PLAN</a:t>
            </a:r>
            <a:endParaRPr lang="en-US" sz="1050" dirty="0"/>
          </a:p>
        </p:txBody>
      </p:sp>
      <p:sp>
        <p:nvSpPr>
          <p:cNvPr id="17" name="Text 15"/>
          <p:cNvSpPr/>
          <p:nvPr/>
        </p:nvSpPr>
        <p:spPr>
          <a:xfrm>
            <a:off x="704088" y="4023360"/>
            <a:ext cx="2261540" cy="1874520"/>
          </a:xfrm>
          <a:prstGeom prst="rect">
            <a:avLst/>
          </a:prstGeom>
          <a:noFill/>
          <a:ln/>
        </p:spPr>
        <p:txBody>
          <a:bodyPr wrap="square" lIns="0" tIns="0" rIns="0" bIns="0" rtlCol="0" anchor="t"/>
          <a:lstStyle/>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Set targets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Identify companies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Prioritise booths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Prepare objectives</a:t>
            </a:r>
            <a:endParaRPr lang="en-US" sz="1150" dirty="0"/>
          </a:p>
        </p:txBody>
      </p:sp>
      <p:sp>
        <p:nvSpPr>
          <p:cNvPr id="18" name="Shape 16"/>
          <p:cNvSpPr/>
          <p:nvPr/>
        </p:nvSpPr>
        <p:spPr>
          <a:xfrm>
            <a:off x="3349676" y="2971800"/>
            <a:ext cx="2645588" cy="3063240"/>
          </a:xfrm>
          <a:prstGeom prst="roundRect">
            <a:avLst>
              <a:gd name="adj" fmla="val 3111"/>
            </a:avLst>
          </a:prstGeom>
          <a:solidFill>
            <a:srgbClr val="FFFFFF"/>
          </a:solidFill>
          <a:ln w="15240">
            <a:solidFill>
              <a:srgbClr val="D1FAE5"/>
            </a:solidFill>
            <a:prstDash val="solid"/>
          </a:ln>
          <a:effectLst>
            <a:outerShdw blurRad="76200" dist="25400" dir="5400000" algn="bl" rotWithShape="0">
              <a:srgbClr val="101018">
                <a:alpha val="6000"/>
              </a:srgbClr>
            </a:outerShdw>
          </a:effectLst>
        </p:spPr>
        <p:txBody>
          <a:bodyPr/>
          <a:lstStyle/>
          <a:p>
            <a:endParaRPr lang="en-US"/>
          </a:p>
        </p:txBody>
      </p:sp>
      <p:sp>
        <p:nvSpPr>
          <p:cNvPr id="19" name="Text 17"/>
          <p:cNvSpPr/>
          <p:nvPr/>
        </p:nvSpPr>
        <p:spPr>
          <a:xfrm>
            <a:off x="3550844" y="3118104"/>
            <a:ext cx="914400" cy="219456"/>
          </a:xfrm>
          <a:prstGeom prst="rect">
            <a:avLst/>
          </a:prstGeom>
          <a:noFill/>
          <a:ln/>
        </p:spPr>
        <p:txBody>
          <a:bodyPr wrap="square" lIns="0" tIns="0" rIns="0" bIns="0" rtlCol="0" anchor="ctr"/>
          <a:lstStyle/>
          <a:p>
            <a:pPr marL="0" indent="0">
              <a:buNone/>
            </a:pPr>
            <a:r>
              <a:rPr lang="en-US" sz="1100" b="1" kern="0" spc="100" dirty="0">
                <a:solidFill>
                  <a:srgbClr val="CBD5E1"/>
                </a:solidFill>
                <a:latin typeface="Calibri" pitchFamily="34" charset="0"/>
                <a:ea typeface="Calibri" pitchFamily="34" charset="-122"/>
                <a:cs typeface="Calibri" pitchFamily="34" charset="-120"/>
              </a:rPr>
              <a:t>02</a:t>
            </a:r>
            <a:endParaRPr lang="en-US" sz="1100" dirty="0"/>
          </a:p>
        </p:txBody>
      </p:sp>
      <p:sp>
        <p:nvSpPr>
          <p:cNvPr id="20" name="Text 18"/>
          <p:cNvSpPr/>
          <p:nvPr/>
        </p:nvSpPr>
        <p:spPr>
          <a:xfrm>
            <a:off x="3550844" y="3337560"/>
            <a:ext cx="2279828"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During expo</a:t>
            </a:r>
            <a:endParaRPr lang="en-US" sz="1600" dirty="0"/>
          </a:p>
        </p:txBody>
      </p:sp>
      <p:sp>
        <p:nvSpPr>
          <p:cNvPr id="21" name="Text 19"/>
          <p:cNvSpPr/>
          <p:nvPr/>
        </p:nvSpPr>
        <p:spPr>
          <a:xfrm>
            <a:off x="3550844" y="3685032"/>
            <a:ext cx="2279828" cy="237744"/>
          </a:xfrm>
          <a:prstGeom prst="rect">
            <a:avLst/>
          </a:prstGeom>
          <a:noFill/>
          <a:ln/>
        </p:spPr>
        <p:txBody>
          <a:bodyPr wrap="square" lIns="0" tIns="0" rIns="0" bIns="0" rtlCol="0" anchor="ctr"/>
          <a:lstStyle/>
          <a:p>
            <a:pPr marL="0" indent="0">
              <a:buNone/>
            </a:pPr>
            <a:r>
              <a:rPr lang="en-US" sz="1050" b="1" kern="0" spc="100" dirty="0">
                <a:solidFill>
                  <a:srgbClr val="059669"/>
                </a:solidFill>
                <a:latin typeface="Calibri" pitchFamily="34" charset="0"/>
                <a:ea typeface="Calibri" pitchFamily="34" charset="-122"/>
                <a:cs typeface="Calibri" pitchFamily="34" charset="-120"/>
              </a:rPr>
              <a:t>CAPTURE</a:t>
            </a:r>
            <a:endParaRPr lang="en-US" sz="1050" dirty="0"/>
          </a:p>
        </p:txBody>
      </p:sp>
      <p:sp>
        <p:nvSpPr>
          <p:cNvPr id="22" name="Text 20"/>
          <p:cNvSpPr/>
          <p:nvPr/>
        </p:nvSpPr>
        <p:spPr>
          <a:xfrm>
            <a:off x="3550844" y="4023360"/>
            <a:ext cx="2261540" cy="1874520"/>
          </a:xfrm>
          <a:prstGeom prst="rect">
            <a:avLst/>
          </a:prstGeom>
          <a:noFill/>
          <a:ln/>
        </p:spPr>
        <p:txBody>
          <a:bodyPr wrap="square" lIns="0" tIns="0" rIns="0" bIns="0" rtlCol="0" anchor="t"/>
          <a:lstStyle/>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Record conversations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Identify opportunities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Set priorities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Note next actions</a:t>
            </a:r>
            <a:endParaRPr lang="en-US" sz="1150" dirty="0"/>
          </a:p>
        </p:txBody>
      </p:sp>
      <p:sp>
        <p:nvSpPr>
          <p:cNvPr id="23" name="Shape 21"/>
          <p:cNvSpPr/>
          <p:nvPr/>
        </p:nvSpPr>
        <p:spPr>
          <a:xfrm>
            <a:off x="6196432" y="2971800"/>
            <a:ext cx="2645588" cy="3063240"/>
          </a:xfrm>
          <a:prstGeom prst="roundRect">
            <a:avLst>
              <a:gd name="adj" fmla="val 3111"/>
            </a:avLst>
          </a:prstGeom>
          <a:solidFill>
            <a:srgbClr val="FFFFFF"/>
          </a:solidFill>
          <a:ln w="15240">
            <a:solidFill>
              <a:srgbClr val="D1FAE5"/>
            </a:solidFill>
            <a:prstDash val="solid"/>
          </a:ln>
          <a:effectLst>
            <a:outerShdw blurRad="76200" dist="25400" dir="5400000" algn="bl" rotWithShape="0">
              <a:srgbClr val="101018">
                <a:alpha val="6000"/>
              </a:srgbClr>
            </a:outerShdw>
          </a:effectLst>
        </p:spPr>
        <p:txBody>
          <a:bodyPr/>
          <a:lstStyle/>
          <a:p>
            <a:endParaRPr lang="en-US"/>
          </a:p>
        </p:txBody>
      </p:sp>
      <p:sp>
        <p:nvSpPr>
          <p:cNvPr id="24" name="Text 22"/>
          <p:cNvSpPr/>
          <p:nvPr/>
        </p:nvSpPr>
        <p:spPr>
          <a:xfrm>
            <a:off x="6397600" y="3118104"/>
            <a:ext cx="914400" cy="219456"/>
          </a:xfrm>
          <a:prstGeom prst="rect">
            <a:avLst/>
          </a:prstGeom>
          <a:noFill/>
          <a:ln/>
        </p:spPr>
        <p:txBody>
          <a:bodyPr wrap="square" lIns="0" tIns="0" rIns="0" bIns="0" rtlCol="0" anchor="ctr"/>
          <a:lstStyle/>
          <a:p>
            <a:pPr marL="0" indent="0">
              <a:buNone/>
            </a:pPr>
            <a:r>
              <a:rPr lang="en-US" sz="1100" b="1" kern="0" spc="100" dirty="0">
                <a:solidFill>
                  <a:srgbClr val="CBD5E1"/>
                </a:solidFill>
                <a:latin typeface="Calibri" pitchFamily="34" charset="0"/>
                <a:ea typeface="Calibri" pitchFamily="34" charset="-122"/>
                <a:cs typeface="Calibri" pitchFamily="34" charset="-120"/>
              </a:rPr>
              <a:t>03</a:t>
            </a:r>
            <a:endParaRPr lang="en-US" sz="1100" dirty="0"/>
          </a:p>
        </p:txBody>
      </p:sp>
      <p:sp>
        <p:nvSpPr>
          <p:cNvPr id="25" name="Text 23"/>
          <p:cNvSpPr/>
          <p:nvPr/>
        </p:nvSpPr>
        <p:spPr>
          <a:xfrm>
            <a:off x="6397600" y="3337560"/>
            <a:ext cx="2279828"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After expo</a:t>
            </a:r>
            <a:endParaRPr lang="en-US" sz="1600" dirty="0"/>
          </a:p>
        </p:txBody>
      </p:sp>
      <p:sp>
        <p:nvSpPr>
          <p:cNvPr id="26" name="Text 24"/>
          <p:cNvSpPr/>
          <p:nvPr/>
        </p:nvSpPr>
        <p:spPr>
          <a:xfrm>
            <a:off x="6397600" y="3685032"/>
            <a:ext cx="2279828" cy="237744"/>
          </a:xfrm>
          <a:prstGeom prst="rect">
            <a:avLst/>
          </a:prstGeom>
          <a:noFill/>
          <a:ln/>
        </p:spPr>
        <p:txBody>
          <a:bodyPr wrap="square" lIns="0" tIns="0" rIns="0" bIns="0" rtlCol="0" anchor="ctr"/>
          <a:lstStyle/>
          <a:p>
            <a:pPr marL="0" indent="0">
              <a:buNone/>
            </a:pPr>
            <a:r>
              <a:rPr lang="en-US" sz="1050" b="1" kern="0" spc="100" dirty="0">
                <a:solidFill>
                  <a:srgbClr val="059669"/>
                </a:solidFill>
                <a:latin typeface="Calibri" pitchFamily="34" charset="0"/>
                <a:ea typeface="Calibri" pitchFamily="34" charset="-122"/>
                <a:cs typeface="Calibri" pitchFamily="34" charset="-120"/>
              </a:rPr>
              <a:t>CONVERT</a:t>
            </a:r>
            <a:endParaRPr lang="en-US" sz="1050" dirty="0"/>
          </a:p>
        </p:txBody>
      </p:sp>
      <p:sp>
        <p:nvSpPr>
          <p:cNvPr id="27" name="Text 25"/>
          <p:cNvSpPr/>
          <p:nvPr/>
        </p:nvSpPr>
        <p:spPr>
          <a:xfrm>
            <a:off x="6397600" y="4023360"/>
            <a:ext cx="2261540" cy="1874520"/>
          </a:xfrm>
          <a:prstGeom prst="rect">
            <a:avLst/>
          </a:prstGeom>
          <a:noFill/>
          <a:ln/>
        </p:spPr>
        <p:txBody>
          <a:bodyPr wrap="square" lIns="0" tIns="0" rIns="0" bIns="0" rtlCol="0" anchor="t"/>
          <a:lstStyle/>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Follow up</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Track commitments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Progress opportunities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Read exhibition outcomes</a:t>
            </a:r>
            <a:endParaRPr lang="en-US" sz="1150" dirty="0"/>
          </a:p>
        </p:txBody>
      </p:sp>
      <p:sp>
        <p:nvSpPr>
          <p:cNvPr id="28" name="Shape 26"/>
          <p:cNvSpPr/>
          <p:nvPr/>
        </p:nvSpPr>
        <p:spPr>
          <a:xfrm>
            <a:off x="9043187" y="2971800"/>
            <a:ext cx="2645588" cy="3063240"/>
          </a:xfrm>
          <a:prstGeom prst="roundRect">
            <a:avLst>
              <a:gd name="adj" fmla="val 3111"/>
            </a:avLst>
          </a:prstGeom>
          <a:solidFill>
            <a:srgbClr val="F8FAFC"/>
          </a:solidFill>
          <a:ln w="15240">
            <a:solidFill>
              <a:srgbClr val="E2E8F0"/>
            </a:solidFill>
            <a:prstDash val="solid"/>
          </a:ln>
          <a:effectLst>
            <a:outerShdw blurRad="76200" dist="25400" dir="5400000" algn="bl" rotWithShape="0">
              <a:srgbClr val="101018">
                <a:alpha val="6000"/>
              </a:srgbClr>
            </a:outerShdw>
          </a:effectLst>
        </p:spPr>
        <p:txBody>
          <a:bodyPr/>
          <a:lstStyle/>
          <a:p>
            <a:endParaRPr lang="en-US"/>
          </a:p>
        </p:txBody>
      </p:sp>
      <p:sp>
        <p:nvSpPr>
          <p:cNvPr id="29" name="Text 27"/>
          <p:cNvSpPr/>
          <p:nvPr/>
        </p:nvSpPr>
        <p:spPr>
          <a:xfrm>
            <a:off x="9244355" y="3118104"/>
            <a:ext cx="914400" cy="219456"/>
          </a:xfrm>
          <a:prstGeom prst="rect">
            <a:avLst/>
          </a:prstGeom>
          <a:noFill/>
          <a:ln/>
        </p:spPr>
        <p:txBody>
          <a:bodyPr wrap="square" lIns="0" tIns="0" rIns="0" bIns="0" rtlCol="0" anchor="ctr"/>
          <a:lstStyle/>
          <a:p>
            <a:pPr marL="0" indent="0">
              <a:buNone/>
            </a:pPr>
            <a:r>
              <a:rPr lang="en-US" sz="1100" b="1" kern="0" spc="100" dirty="0">
                <a:solidFill>
                  <a:srgbClr val="CBD5E1"/>
                </a:solidFill>
                <a:latin typeface="Calibri" pitchFamily="34" charset="0"/>
                <a:ea typeface="Calibri" pitchFamily="34" charset="-122"/>
                <a:cs typeface="Calibri" pitchFamily="34" charset="-120"/>
              </a:rPr>
              <a:t>04</a:t>
            </a:r>
            <a:endParaRPr lang="en-US" sz="1100" dirty="0"/>
          </a:p>
        </p:txBody>
      </p:sp>
      <p:sp>
        <p:nvSpPr>
          <p:cNvPr id="30" name="Text 28"/>
          <p:cNvSpPr/>
          <p:nvPr/>
        </p:nvSpPr>
        <p:spPr>
          <a:xfrm>
            <a:off x="9244355" y="3337560"/>
            <a:ext cx="2279828" cy="329184"/>
          </a:xfrm>
          <a:prstGeom prst="rect">
            <a:avLst/>
          </a:prstGeom>
          <a:noFill/>
          <a:ln/>
        </p:spPr>
        <p:txBody>
          <a:bodyPr wrap="square" lIns="0" tIns="0" rIns="0" bIns="0" rtlCol="0" anchor="ctr"/>
          <a:lstStyle/>
          <a:p>
            <a:pPr marL="0" indent="0">
              <a:buNone/>
            </a:pPr>
            <a:r>
              <a:rPr lang="en-US" sz="1600" b="1" dirty="0">
                <a:solidFill>
                  <a:srgbClr val="0F172A"/>
                </a:solidFill>
                <a:latin typeface="Calibri" pitchFamily="34" charset="0"/>
                <a:ea typeface="Calibri" pitchFamily="34" charset="-122"/>
                <a:cs typeface="Calibri" pitchFamily="34" charset="-120"/>
              </a:rPr>
              <a:t>Ongoing sales</a:t>
            </a:r>
            <a:endParaRPr lang="en-US" sz="1600" dirty="0"/>
          </a:p>
        </p:txBody>
      </p:sp>
      <p:sp>
        <p:nvSpPr>
          <p:cNvPr id="31" name="Text 29"/>
          <p:cNvSpPr/>
          <p:nvPr/>
        </p:nvSpPr>
        <p:spPr>
          <a:xfrm>
            <a:off x="9244355" y="3685032"/>
            <a:ext cx="2279828" cy="237744"/>
          </a:xfrm>
          <a:prstGeom prst="rect">
            <a:avLst/>
          </a:prstGeom>
          <a:noFill/>
          <a:ln/>
        </p:spPr>
        <p:txBody>
          <a:bodyPr wrap="square" lIns="0" tIns="0" rIns="0" bIns="0" rtlCol="0" anchor="ctr"/>
          <a:lstStyle/>
          <a:p>
            <a:pPr marL="0" indent="0">
              <a:buNone/>
            </a:pPr>
            <a:r>
              <a:rPr lang="en-US" sz="1050" b="1" kern="0" spc="100" dirty="0">
                <a:solidFill>
                  <a:srgbClr val="64748B"/>
                </a:solidFill>
                <a:latin typeface="Calibri" pitchFamily="34" charset="0"/>
                <a:ea typeface="Calibri" pitchFamily="34" charset="-122"/>
                <a:cs typeface="Calibri" pitchFamily="34" charset="-120"/>
              </a:rPr>
              <a:t>MANAGE · CRM</a:t>
            </a:r>
            <a:endParaRPr lang="en-US" sz="1050" dirty="0"/>
          </a:p>
        </p:txBody>
      </p:sp>
      <p:sp>
        <p:nvSpPr>
          <p:cNvPr id="32" name="Text 30"/>
          <p:cNvSpPr/>
          <p:nvPr/>
        </p:nvSpPr>
        <p:spPr>
          <a:xfrm>
            <a:off x="9244355" y="4023360"/>
            <a:ext cx="2261540" cy="1874520"/>
          </a:xfrm>
          <a:prstGeom prst="rect">
            <a:avLst/>
          </a:prstGeom>
          <a:noFill/>
          <a:ln/>
        </p:spPr>
        <p:txBody>
          <a:bodyPr wrap="square" lIns="0" tIns="0" rIns="0" bIns="0" rtlCol="0" anchor="t"/>
          <a:lstStyle/>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Contacts &amp; accounts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Deals &amp; pipeline</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Activities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Customer relationships</a:t>
            </a:r>
            <a:endParaRPr lang="en-US" sz="1150" dirty="0"/>
          </a:p>
          <a:p>
            <a:pPr marL="139700" indent="-139700" algn="l">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Revenue</a:t>
            </a:r>
            <a:endParaRPr lang="en-US" sz="1150" dirty="0"/>
          </a:p>
        </p:txBody>
      </p:sp>
      <p:sp>
        <p:nvSpPr>
          <p:cNvPr id="33" name="Shape 31"/>
          <p:cNvSpPr/>
          <p:nvPr/>
        </p:nvSpPr>
        <p:spPr>
          <a:xfrm>
            <a:off x="6397600" y="5650992"/>
            <a:ext cx="2243252" cy="274320"/>
          </a:xfrm>
          <a:prstGeom prst="roundRect">
            <a:avLst>
              <a:gd name="adj" fmla="val 26667"/>
            </a:avLst>
          </a:prstGeom>
          <a:solidFill>
            <a:srgbClr val="ECFDF5"/>
          </a:solidFill>
          <a:ln w="12700">
            <a:solidFill>
              <a:srgbClr val="34D399"/>
            </a:solidFill>
            <a:prstDash val="dash"/>
          </a:ln>
        </p:spPr>
        <p:txBody>
          <a:bodyPr/>
          <a:lstStyle/>
          <a:p>
            <a:endParaRPr lang="en-US"/>
          </a:p>
        </p:txBody>
      </p:sp>
      <p:sp>
        <p:nvSpPr>
          <p:cNvPr id="34" name="Text 32"/>
          <p:cNvSpPr/>
          <p:nvPr/>
        </p:nvSpPr>
        <p:spPr>
          <a:xfrm>
            <a:off x="6397600" y="5650992"/>
            <a:ext cx="2243252" cy="274320"/>
          </a:xfrm>
          <a:prstGeom prst="rect">
            <a:avLst/>
          </a:prstGeom>
          <a:noFill/>
          <a:ln/>
        </p:spPr>
        <p:txBody>
          <a:bodyPr wrap="square" lIns="0" tIns="0" rIns="0" bIns="0" rtlCol="0" anchor="ctr"/>
          <a:lstStyle/>
          <a:p>
            <a:pPr marL="0" indent="0" algn="ctr">
              <a:buNone/>
            </a:pPr>
            <a:r>
              <a:rPr lang="en-US" sz="850" b="1" dirty="0">
                <a:solidFill>
                  <a:srgbClr val="047857"/>
                </a:solidFill>
                <a:latin typeface="Calibri" pitchFamily="34" charset="0"/>
                <a:ea typeface="Calibri" pitchFamily="34" charset="-122"/>
                <a:cs typeface="Calibri" pitchFamily="34" charset="-120"/>
              </a:rPr>
              <a:t>HANDOFF · QUALIFIED LEAD TO YOUR CRM</a:t>
            </a:r>
            <a:endParaRPr lang="en-US" sz="850" dirty="0"/>
          </a:p>
        </p:txBody>
      </p:sp>
      <p:sp>
        <p:nvSpPr>
          <p:cNvPr id="35" name="Text 33"/>
          <p:cNvSpPr/>
          <p:nvPr/>
        </p:nvSpPr>
        <p:spPr>
          <a:xfrm>
            <a:off x="502920" y="6355080"/>
            <a:ext cx="10972800" cy="320040"/>
          </a:xfrm>
          <a:prstGeom prst="rect">
            <a:avLst/>
          </a:prstGeom>
          <a:noFill/>
          <a:ln/>
        </p:spPr>
        <p:txBody>
          <a:bodyPr wrap="square" lIns="0" tIns="0" rIns="0" bIns="0" rtlCol="0" anchor="ctr"/>
          <a:lstStyle/>
          <a:p>
            <a:pPr marL="0" indent="0" algn="l">
              <a:buNone/>
            </a:pPr>
            <a:r>
              <a:rPr lang="en-US" sz="1100" i="1" dirty="0">
                <a:solidFill>
                  <a:srgbClr val="64748B"/>
                </a:solidFill>
                <a:latin typeface="Calibri" pitchFamily="34" charset="0"/>
                <a:ea typeface="Calibri" pitchFamily="34" charset="-122"/>
                <a:cs typeface="Calibri" pitchFamily="34" charset="-120"/>
              </a:rPr>
              <a:t>ExpoLead runs the show, then hands your CRM a clean, qualified lead. Two jobs on one timeline, not two tools doing the same job.</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6" name="Text 4"/>
          <p:cNvSpPr/>
          <p:nvPr/>
        </p:nvSpPr>
        <p:spPr>
          <a:xfrm>
            <a:off x="502920" y="384048"/>
            <a:ext cx="2011680" cy="329184"/>
          </a:xfrm>
          <a:prstGeom prst="rect">
            <a:avLst/>
          </a:prstGeom>
          <a:noFill/>
          <a:ln/>
        </p:spPr>
        <p:txBody>
          <a:bodyPr wrap="square" lIns="0" tIns="0" rIns="0" bIns="0" rtlCol="0" anchor="ctr"/>
          <a:lstStyle/>
          <a:p>
            <a:pPr marL="0" indent="0" algn="l">
              <a:buNone/>
            </a:pPr>
            <a:r>
              <a:rPr lang="en-US" sz="1500" b="1" dirty="0">
                <a:solidFill>
                  <a:srgbClr val="0F172A"/>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marL="0" indent="0" algn="l">
              <a:buNone/>
            </a:pPr>
            <a:r>
              <a:rPr lang="en-US" sz="1100" b="1" kern="0" spc="220" dirty="0">
                <a:solidFill>
                  <a:srgbClr val="059669"/>
                </a:solidFill>
                <a:latin typeface="Calibri" pitchFamily="34" charset="0"/>
                <a:ea typeface="Calibri" pitchFamily="34" charset="-122"/>
                <a:cs typeface="Calibri" pitchFamily="34" charset="-120"/>
              </a:rPr>
              <a:t>THE CONCEPTUAL DIFFERENCE</a:t>
            </a:r>
            <a:endParaRPr lang="en-US" sz="1100" dirty="0"/>
          </a:p>
        </p:txBody>
      </p:sp>
      <p:sp>
        <p:nvSpPr>
          <p:cNvPr id="8" name="Text 6"/>
          <p:cNvSpPr/>
          <p:nvPr/>
        </p:nvSpPr>
        <p:spPr>
          <a:xfrm>
            <a:off x="502920" y="1325880"/>
            <a:ext cx="10972800" cy="548640"/>
          </a:xfrm>
          <a:prstGeom prst="rect">
            <a:avLst/>
          </a:prstGeom>
          <a:noFill/>
          <a:ln/>
        </p:spPr>
        <p:txBody>
          <a:bodyPr wrap="square" lIns="0" tIns="0" rIns="0" bIns="0" rtlCol="0" anchor="t"/>
          <a:lstStyle/>
          <a:p>
            <a:pPr marL="0" indent="0" algn="l">
              <a:buNone/>
            </a:pPr>
            <a:r>
              <a:rPr lang="en-US" sz="2600" b="1" dirty="0">
                <a:solidFill>
                  <a:srgbClr val="0F172A"/>
                </a:solidFill>
                <a:latin typeface="Calibri" pitchFamily="34" charset="0"/>
                <a:ea typeface="Calibri" pitchFamily="34" charset="-122"/>
                <a:cs typeface="Calibri" pitchFamily="34" charset="-120"/>
              </a:rPr>
              <a:t>A CRM is built around records. ExpoLead is built around the exhibition.</a:t>
            </a:r>
            <a:endParaRPr lang="en-US" sz="2600" dirty="0"/>
          </a:p>
        </p:txBody>
      </p:sp>
      <p:sp>
        <p:nvSpPr>
          <p:cNvPr id="9" name="Shape 7"/>
          <p:cNvSpPr/>
          <p:nvPr/>
        </p:nvSpPr>
        <p:spPr>
          <a:xfrm>
            <a:off x="502920" y="2103120"/>
            <a:ext cx="11185855" cy="1051560"/>
          </a:xfrm>
          <a:prstGeom prst="roundRect">
            <a:avLst>
              <a:gd name="adj" fmla="val 8696"/>
            </a:avLst>
          </a:prstGeom>
          <a:solidFill>
            <a:srgbClr val="0F172A"/>
          </a:solidFill>
          <a:ln/>
        </p:spPr>
        <p:txBody>
          <a:bodyPr/>
          <a:lstStyle/>
          <a:p>
            <a:endParaRPr lang="en-US"/>
          </a:p>
        </p:txBody>
      </p:sp>
      <p:sp>
        <p:nvSpPr>
          <p:cNvPr id="10" name="Text 8"/>
          <p:cNvSpPr/>
          <p:nvPr/>
        </p:nvSpPr>
        <p:spPr>
          <a:xfrm>
            <a:off x="822960" y="2103120"/>
            <a:ext cx="10545775" cy="1051560"/>
          </a:xfrm>
          <a:prstGeom prst="rect">
            <a:avLst/>
          </a:prstGeom>
          <a:noFill/>
          <a:ln/>
        </p:spPr>
        <p:txBody>
          <a:bodyPr wrap="square" lIns="0" tIns="0" rIns="0" bIns="0" rtlCol="0" anchor="ctr"/>
          <a:lstStyle/>
          <a:p>
            <a:pPr marL="0" indent="0" algn="l">
              <a:lnSpc>
                <a:spcPct val="115000"/>
              </a:lnSpc>
              <a:buNone/>
            </a:pPr>
            <a:r>
              <a:rPr lang="en-US" sz="1400" b="1" dirty="0">
                <a:solidFill>
                  <a:srgbClr val="FFFFFF"/>
                </a:solidFill>
                <a:latin typeface="Calibri" pitchFamily="34" charset="0"/>
                <a:ea typeface="Calibri" pitchFamily="34" charset="-122"/>
                <a:cs typeface="Calibri" pitchFamily="34" charset="-120"/>
              </a:rPr>
              <a:t>CRM systems are excellent at managing structured customer and sales data over time. </a:t>
            </a:r>
            <a:r>
              <a:rPr lang="en-US" sz="1400" dirty="0">
                <a:solidFill>
                  <a:srgbClr val="CBD5E1"/>
                </a:solidFill>
                <a:latin typeface="Calibri" pitchFamily="34" charset="0"/>
                <a:ea typeface="Calibri" pitchFamily="34" charset="-122"/>
                <a:cs typeface="Calibri" pitchFamily="34" charset="-120"/>
              </a:rPr>
              <a:t>ExpoLead is purpose-built for the high-volume, fast-moving environment of exhibitions, helping teams organise what they want to achieve before the show, capture what happens on the floor, and turn conversations into structured opportunities and actions immediately afterwards.</a:t>
            </a:r>
            <a:endParaRPr lang="en-US" sz="1400" dirty="0"/>
          </a:p>
        </p:txBody>
      </p:sp>
      <p:sp>
        <p:nvSpPr>
          <p:cNvPr id="11" name="Shape 9"/>
          <p:cNvSpPr/>
          <p:nvPr/>
        </p:nvSpPr>
        <p:spPr>
          <a:xfrm>
            <a:off x="502920" y="3520440"/>
            <a:ext cx="11185855" cy="1097280"/>
          </a:xfrm>
          <a:prstGeom prst="roundRect">
            <a:avLst>
              <a:gd name="adj" fmla="val 8333"/>
            </a:avLst>
          </a:prstGeom>
          <a:solidFill>
            <a:srgbClr val="F8FAFC"/>
          </a:solidFill>
          <a:ln w="12700">
            <a:solidFill>
              <a:srgbClr val="E2E8F0"/>
            </a:solidFill>
            <a:prstDash val="solid"/>
          </a:ln>
        </p:spPr>
        <p:txBody>
          <a:bodyPr/>
          <a:lstStyle/>
          <a:p>
            <a:endParaRPr lang="en-US"/>
          </a:p>
        </p:txBody>
      </p:sp>
      <p:sp>
        <p:nvSpPr>
          <p:cNvPr id="12" name="Text 10"/>
          <p:cNvSpPr/>
          <p:nvPr/>
        </p:nvSpPr>
        <p:spPr>
          <a:xfrm>
            <a:off x="777240" y="3657600"/>
            <a:ext cx="7315200" cy="256032"/>
          </a:xfrm>
          <a:prstGeom prst="rect">
            <a:avLst/>
          </a:prstGeom>
          <a:noFill/>
          <a:ln/>
        </p:spPr>
        <p:txBody>
          <a:bodyPr wrap="square" lIns="0" tIns="0" rIns="0" bIns="0" rtlCol="0" anchor="ctr"/>
          <a:lstStyle/>
          <a:p>
            <a:pPr marL="0" indent="0">
              <a:buNone/>
            </a:pPr>
            <a:r>
              <a:rPr lang="en-US" sz="1100" b="1" kern="0" spc="120" dirty="0">
                <a:solidFill>
                  <a:srgbClr val="64748B"/>
                </a:solidFill>
                <a:latin typeface="Calibri" pitchFamily="34" charset="0"/>
                <a:ea typeface="Calibri" pitchFamily="34" charset="-122"/>
                <a:cs typeface="Calibri" pitchFamily="34" charset="-120"/>
              </a:rPr>
              <a:t>CRM IS PRIMARILY RECORD-CENTRIC</a:t>
            </a:r>
            <a:endParaRPr lang="en-US" sz="1100" dirty="0"/>
          </a:p>
        </p:txBody>
      </p:sp>
      <p:sp>
        <p:nvSpPr>
          <p:cNvPr id="13" name="Shape 11"/>
          <p:cNvSpPr/>
          <p:nvPr/>
        </p:nvSpPr>
        <p:spPr>
          <a:xfrm>
            <a:off x="777240" y="4041648"/>
            <a:ext cx="627278" cy="310896"/>
          </a:xfrm>
          <a:prstGeom prst="roundRect">
            <a:avLst>
              <a:gd name="adj" fmla="val 17647"/>
            </a:avLst>
          </a:prstGeom>
          <a:solidFill>
            <a:srgbClr val="FFFFFF"/>
          </a:solidFill>
          <a:ln w="12700">
            <a:solidFill>
              <a:srgbClr val="E2E8F0"/>
            </a:solidFill>
            <a:prstDash val="solid"/>
          </a:ln>
        </p:spPr>
        <p:txBody>
          <a:bodyPr/>
          <a:lstStyle/>
          <a:p>
            <a:endParaRPr lang="en-US"/>
          </a:p>
        </p:txBody>
      </p:sp>
      <p:sp>
        <p:nvSpPr>
          <p:cNvPr id="14" name="Text 12"/>
          <p:cNvSpPr/>
          <p:nvPr/>
        </p:nvSpPr>
        <p:spPr>
          <a:xfrm>
            <a:off x="777240" y="4041648"/>
            <a:ext cx="627278" cy="310896"/>
          </a:xfrm>
          <a:prstGeom prst="rect">
            <a:avLst/>
          </a:prstGeom>
          <a:noFill/>
          <a:ln/>
        </p:spPr>
        <p:txBody>
          <a:bodyPr wrap="square" lIns="0" tIns="0" rIns="0" bIns="0" rtlCol="0" anchor="ctr"/>
          <a:lstStyle/>
          <a:p>
            <a:pPr marL="0" indent="0" algn="ctr">
              <a:buNone/>
            </a:pPr>
            <a:r>
              <a:rPr lang="en-US" sz="1050" b="1" dirty="0">
                <a:solidFill>
                  <a:srgbClr val="334155"/>
                </a:solidFill>
                <a:latin typeface="Calibri" pitchFamily="34" charset="0"/>
                <a:ea typeface="Calibri" pitchFamily="34" charset="-122"/>
                <a:cs typeface="Calibri" pitchFamily="34" charset="-120"/>
              </a:rPr>
              <a:t>Contact</a:t>
            </a:r>
            <a:endParaRPr lang="en-US" sz="1050" dirty="0"/>
          </a:p>
        </p:txBody>
      </p:sp>
      <p:sp>
        <p:nvSpPr>
          <p:cNvPr id="15" name="Text 13"/>
          <p:cNvSpPr/>
          <p:nvPr/>
        </p:nvSpPr>
        <p:spPr>
          <a:xfrm>
            <a:off x="1404518" y="4041648"/>
            <a:ext cx="274320" cy="310896"/>
          </a:xfrm>
          <a:prstGeom prst="rect">
            <a:avLst/>
          </a:prstGeom>
          <a:noFill/>
          <a:ln/>
        </p:spPr>
        <p:txBody>
          <a:bodyPr wrap="square" lIns="0" tIns="0" rIns="0" bIns="0" rtlCol="0" anchor="ctr"/>
          <a:lstStyle/>
          <a:p>
            <a:pPr marL="0" indent="0" algn="ctr">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1678838" y="4041648"/>
            <a:ext cx="627278" cy="310896"/>
          </a:xfrm>
          <a:prstGeom prst="roundRect">
            <a:avLst>
              <a:gd name="adj" fmla="val 17647"/>
            </a:avLst>
          </a:prstGeom>
          <a:solidFill>
            <a:srgbClr val="FFFFFF"/>
          </a:solidFill>
          <a:ln w="12700">
            <a:solidFill>
              <a:srgbClr val="E2E8F0"/>
            </a:solidFill>
            <a:prstDash val="solid"/>
          </a:ln>
        </p:spPr>
        <p:txBody>
          <a:bodyPr/>
          <a:lstStyle/>
          <a:p>
            <a:endParaRPr lang="en-US"/>
          </a:p>
        </p:txBody>
      </p:sp>
      <p:sp>
        <p:nvSpPr>
          <p:cNvPr id="17" name="Text 15"/>
          <p:cNvSpPr/>
          <p:nvPr/>
        </p:nvSpPr>
        <p:spPr>
          <a:xfrm>
            <a:off x="1678838" y="4041648"/>
            <a:ext cx="627278" cy="310896"/>
          </a:xfrm>
          <a:prstGeom prst="rect">
            <a:avLst/>
          </a:prstGeom>
          <a:noFill/>
          <a:ln/>
        </p:spPr>
        <p:txBody>
          <a:bodyPr wrap="square" lIns="0" tIns="0" rIns="0" bIns="0" rtlCol="0" anchor="ctr"/>
          <a:lstStyle/>
          <a:p>
            <a:pPr marL="0" indent="0" algn="ctr">
              <a:buNone/>
            </a:pPr>
            <a:r>
              <a:rPr lang="en-US" sz="1050" b="1" dirty="0">
                <a:solidFill>
                  <a:srgbClr val="334155"/>
                </a:solidFill>
                <a:latin typeface="Calibri" pitchFamily="34" charset="0"/>
                <a:ea typeface="Calibri" pitchFamily="34" charset="-122"/>
                <a:cs typeface="Calibri" pitchFamily="34" charset="-120"/>
              </a:rPr>
              <a:t>Company</a:t>
            </a:r>
            <a:endParaRPr lang="en-US" sz="1050" dirty="0"/>
          </a:p>
        </p:txBody>
      </p:sp>
      <p:sp>
        <p:nvSpPr>
          <p:cNvPr id="18" name="Text 16"/>
          <p:cNvSpPr/>
          <p:nvPr/>
        </p:nvSpPr>
        <p:spPr>
          <a:xfrm>
            <a:off x="2306117" y="4041648"/>
            <a:ext cx="274320" cy="310896"/>
          </a:xfrm>
          <a:prstGeom prst="rect">
            <a:avLst/>
          </a:prstGeom>
          <a:noFill/>
          <a:ln/>
        </p:spPr>
        <p:txBody>
          <a:bodyPr wrap="square" lIns="0" tIns="0" rIns="0" bIns="0" rtlCol="0" anchor="ctr"/>
          <a:lstStyle/>
          <a:p>
            <a:pPr marL="0" indent="0" algn="ctr">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2580437" y="4041648"/>
            <a:ext cx="413309" cy="310896"/>
          </a:xfrm>
          <a:prstGeom prst="roundRect">
            <a:avLst>
              <a:gd name="adj" fmla="val 17647"/>
            </a:avLst>
          </a:prstGeom>
          <a:solidFill>
            <a:srgbClr val="FFFFFF"/>
          </a:solidFill>
          <a:ln w="12700">
            <a:solidFill>
              <a:srgbClr val="E2E8F0"/>
            </a:solidFill>
            <a:prstDash val="solid"/>
          </a:ln>
        </p:spPr>
        <p:txBody>
          <a:bodyPr/>
          <a:lstStyle/>
          <a:p>
            <a:endParaRPr lang="en-US"/>
          </a:p>
        </p:txBody>
      </p:sp>
      <p:sp>
        <p:nvSpPr>
          <p:cNvPr id="20" name="Text 18"/>
          <p:cNvSpPr/>
          <p:nvPr/>
        </p:nvSpPr>
        <p:spPr>
          <a:xfrm>
            <a:off x="2580437" y="4041648"/>
            <a:ext cx="413309" cy="310896"/>
          </a:xfrm>
          <a:prstGeom prst="rect">
            <a:avLst/>
          </a:prstGeom>
          <a:noFill/>
          <a:ln/>
        </p:spPr>
        <p:txBody>
          <a:bodyPr wrap="square" lIns="0" tIns="0" rIns="0" bIns="0" rtlCol="0" anchor="ctr"/>
          <a:lstStyle/>
          <a:p>
            <a:pPr marL="0" indent="0" algn="ctr">
              <a:buNone/>
            </a:pPr>
            <a:r>
              <a:rPr lang="en-US" sz="1050" b="1" dirty="0">
                <a:solidFill>
                  <a:srgbClr val="334155"/>
                </a:solidFill>
                <a:latin typeface="Calibri" pitchFamily="34" charset="0"/>
                <a:ea typeface="Calibri" pitchFamily="34" charset="-122"/>
                <a:cs typeface="Calibri" pitchFamily="34" charset="-120"/>
              </a:rPr>
              <a:t>Deal</a:t>
            </a:r>
            <a:endParaRPr lang="en-US" sz="1050" dirty="0"/>
          </a:p>
        </p:txBody>
      </p:sp>
      <p:sp>
        <p:nvSpPr>
          <p:cNvPr id="21" name="Text 19"/>
          <p:cNvSpPr/>
          <p:nvPr/>
        </p:nvSpPr>
        <p:spPr>
          <a:xfrm>
            <a:off x="2993746" y="4041648"/>
            <a:ext cx="274320" cy="310896"/>
          </a:xfrm>
          <a:prstGeom prst="rect">
            <a:avLst/>
          </a:prstGeom>
          <a:noFill/>
          <a:ln/>
        </p:spPr>
        <p:txBody>
          <a:bodyPr wrap="square" lIns="0" tIns="0" rIns="0" bIns="0" rtlCol="0" anchor="ctr"/>
          <a:lstStyle/>
          <a:p>
            <a:pPr marL="0" indent="0" algn="ctr">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3268066" y="4041648"/>
            <a:ext cx="698602" cy="310896"/>
          </a:xfrm>
          <a:prstGeom prst="roundRect">
            <a:avLst>
              <a:gd name="adj" fmla="val 17647"/>
            </a:avLst>
          </a:prstGeom>
          <a:solidFill>
            <a:srgbClr val="FFFFFF"/>
          </a:solidFill>
          <a:ln w="12700">
            <a:solidFill>
              <a:srgbClr val="E2E8F0"/>
            </a:solidFill>
            <a:prstDash val="solid"/>
          </a:ln>
        </p:spPr>
        <p:txBody>
          <a:bodyPr/>
          <a:lstStyle/>
          <a:p>
            <a:endParaRPr lang="en-US"/>
          </a:p>
        </p:txBody>
      </p:sp>
      <p:sp>
        <p:nvSpPr>
          <p:cNvPr id="23" name="Text 21"/>
          <p:cNvSpPr/>
          <p:nvPr/>
        </p:nvSpPr>
        <p:spPr>
          <a:xfrm>
            <a:off x="3268066" y="4041648"/>
            <a:ext cx="698602" cy="310896"/>
          </a:xfrm>
          <a:prstGeom prst="rect">
            <a:avLst/>
          </a:prstGeom>
          <a:noFill/>
          <a:ln/>
        </p:spPr>
        <p:txBody>
          <a:bodyPr wrap="square" lIns="0" tIns="0" rIns="0" bIns="0" rtlCol="0" anchor="ctr"/>
          <a:lstStyle/>
          <a:p>
            <a:pPr marL="0" indent="0" algn="ctr">
              <a:buNone/>
            </a:pPr>
            <a:r>
              <a:rPr lang="en-US" sz="1050" b="1" dirty="0">
                <a:solidFill>
                  <a:srgbClr val="334155"/>
                </a:solidFill>
                <a:latin typeface="Calibri" pitchFamily="34" charset="0"/>
                <a:ea typeface="Calibri" pitchFamily="34" charset="-122"/>
                <a:cs typeface="Calibri" pitchFamily="34" charset="-120"/>
              </a:rPr>
              <a:t>Activity</a:t>
            </a:r>
            <a:endParaRPr lang="en-US" sz="1050" dirty="0"/>
          </a:p>
        </p:txBody>
      </p:sp>
      <p:sp>
        <p:nvSpPr>
          <p:cNvPr id="24" name="Text 22"/>
          <p:cNvSpPr/>
          <p:nvPr/>
        </p:nvSpPr>
        <p:spPr>
          <a:xfrm>
            <a:off x="3966667" y="4041648"/>
            <a:ext cx="274320" cy="310896"/>
          </a:xfrm>
          <a:prstGeom prst="rect">
            <a:avLst/>
          </a:prstGeom>
          <a:noFill/>
          <a:ln/>
        </p:spPr>
        <p:txBody>
          <a:bodyPr wrap="square" lIns="0" tIns="0" rIns="0" bIns="0" rtlCol="0" anchor="ctr"/>
          <a:lstStyle/>
          <a:p>
            <a:pPr marL="0" indent="0" algn="ctr">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25" name="Shape 23"/>
          <p:cNvSpPr/>
          <p:nvPr/>
        </p:nvSpPr>
        <p:spPr>
          <a:xfrm>
            <a:off x="4240987" y="4041648"/>
            <a:ext cx="698602" cy="310896"/>
          </a:xfrm>
          <a:prstGeom prst="roundRect">
            <a:avLst>
              <a:gd name="adj" fmla="val 17647"/>
            </a:avLst>
          </a:prstGeom>
          <a:solidFill>
            <a:srgbClr val="FFFFFF"/>
          </a:solidFill>
          <a:ln w="12700">
            <a:solidFill>
              <a:srgbClr val="E2E8F0"/>
            </a:solidFill>
            <a:prstDash val="solid"/>
          </a:ln>
        </p:spPr>
        <p:txBody>
          <a:bodyPr/>
          <a:lstStyle/>
          <a:p>
            <a:endParaRPr lang="en-US"/>
          </a:p>
        </p:txBody>
      </p:sp>
      <p:sp>
        <p:nvSpPr>
          <p:cNvPr id="26" name="Text 24"/>
          <p:cNvSpPr/>
          <p:nvPr/>
        </p:nvSpPr>
        <p:spPr>
          <a:xfrm>
            <a:off x="4240987" y="4041648"/>
            <a:ext cx="698602" cy="310896"/>
          </a:xfrm>
          <a:prstGeom prst="rect">
            <a:avLst/>
          </a:prstGeom>
          <a:noFill/>
          <a:ln/>
        </p:spPr>
        <p:txBody>
          <a:bodyPr wrap="square" lIns="0" tIns="0" rIns="0" bIns="0" rtlCol="0" anchor="ctr"/>
          <a:lstStyle/>
          <a:p>
            <a:pPr marL="0" indent="0" algn="ctr">
              <a:buNone/>
            </a:pPr>
            <a:r>
              <a:rPr lang="en-US" sz="1050" b="1" dirty="0">
                <a:solidFill>
                  <a:srgbClr val="334155"/>
                </a:solidFill>
                <a:latin typeface="Calibri" pitchFamily="34" charset="0"/>
                <a:ea typeface="Calibri" pitchFamily="34" charset="-122"/>
                <a:cs typeface="Calibri" pitchFamily="34" charset="-120"/>
              </a:rPr>
              <a:t>Pipeline</a:t>
            </a:r>
            <a:endParaRPr lang="en-US" sz="1050" dirty="0"/>
          </a:p>
        </p:txBody>
      </p:sp>
      <p:sp>
        <p:nvSpPr>
          <p:cNvPr id="27" name="Shape 25"/>
          <p:cNvSpPr/>
          <p:nvPr/>
        </p:nvSpPr>
        <p:spPr>
          <a:xfrm>
            <a:off x="502920" y="4800600"/>
            <a:ext cx="11185855" cy="1508760"/>
          </a:xfrm>
          <a:prstGeom prst="roundRect">
            <a:avLst>
              <a:gd name="adj" fmla="val 6061"/>
            </a:avLst>
          </a:prstGeom>
          <a:solidFill>
            <a:srgbClr val="ECFDF5"/>
          </a:solidFill>
          <a:ln w="12700">
            <a:solidFill>
              <a:srgbClr val="D1FAE5"/>
            </a:solidFill>
            <a:prstDash val="solid"/>
          </a:ln>
        </p:spPr>
        <p:txBody>
          <a:bodyPr/>
          <a:lstStyle/>
          <a:p>
            <a:endParaRPr lang="en-US"/>
          </a:p>
        </p:txBody>
      </p:sp>
      <p:sp>
        <p:nvSpPr>
          <p:cNvPr id="28" name="Text 26"/>
          <p:cNvSpPr/>
          <p:nvPr/>
        </p:nvSpPr>
        <p:spPr>
          <a:xfrm>
            <a:off x="777240" y="4937760"/>
            <a:ext cx="7315200" cy="256032"/>
          </a:xfrm>
          <a:prstGeom prst="rect">
            <a:avLst/>
          </a:prstGeom>
          <a:noFill/>
          <a:ln/>
        </p:spPr>
        <p:txBody>
          <a:bodyPr wrap="square" lIns="0" tIns="0" rIns="0" bIns="0" rtlCol="0" anchor="ctr"/>
          <a:lstStyle/>
          <a:p>
            <a:pPr marL="0" indent="0">
              <a:buNone/>
            </a:pPr>
            <a:r>
              <a:rPr lang="en-US" sz="1100" b="1" kern="0" spc="120" dirty="0">
                <a:solidFill>
                  <a:srgbClr val="047857"/>
                </a:solidFill>
                <a:latin typeface="Calibri" pitchFamily="34" charset="0"/>
                <a:ea typeface="Calibri" pitchFamily="34" charset="-122"/>
                <a:cs typeface="Calibri" pitchFamily="34" charset="-120"/>
              </a:rPr>
              <a:t>EXPOLEAD IS EXHIBITION-CENTRIC</a:t>
            </a:r>
            <a:endParaRPr lang="en-US" sz="1100" dirty="0"/>
          </a:p>
        </p:txBody>
      </p:sp>
      <p:sp>
        <p:nvSpPr>
          <p:cNvPr id="29" name="Shape 27"/>
          <p:cNvSpPr/>
          <p:nvPr/>
        </p:nvSpPr>
        <p:spPr>
          <a:xfrm>
            <a:off x="777240" y="5303520"/>
            <a:ext cx="841248"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30" name="Text 28"/>
          <p:cNvSpPr/>
          <p:nvPr/>
        </p:nvSpPr>
        <p:spPr>
          <a:xfrm>
            <a:off x="777240" y="5303520"/>
            <a:ext cx="841248"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Exhibition</a:t>
            </a:r>
            <a:endParaRPr lang="en-US" sz="1050" dirty="0"/>
          </a:p>
        </p:txBody>
      </p:sp>
      <p:sp>
        <p:nvSpPr>
          <p:cNvPr id="31" name="Text 29"/>
          <p:cNvSpPr/>
          <p:nvPr/>
        </p:nvSpPr>
        <p:spPr>
          <a:xfrm>
            <a:off x="1618488" y="5303520"/>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1892808" y="5303520"/>
            <a:ext cx="555955"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33" name="Text 31"/>
          <p:cNvSpPr/>
          <p:nvPr/>
        </p:nvSpPr>
        <p:spPr>
          <a:xfrm>
            <a:off x="1892808" y="5303520"/>
            <a:ext cx="555955"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Target</a:t>
            </a:r>
            <a:endParaRPr lang="en-US" sz="1050" dirty="0"/>
          </a:p>
        </p:txBody>
      </p:sp>
      <p:sp>
        <p:nvSpPr>
          <p:cNvPr id="34" name="Text 32"/>
          <p:cNvSpPr/>
          <p:nvPr/>
        </p:nvSpPr>
        <p:spPr>
          <a:xfrm>
            <a:off x="2448763" y="5303520"/>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35" name="Shape 33"/>
          <p:cNvSpPr/>
          <p:nvPr/>
        </p:nvSpPr>
        <p:spPr>
          <a:xfrm>
            <a:off x="2723083" y="5303520"/>
            <a:ext cx="484632"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36" name="Text 34"/>
          <p:cNvSpPr/>
          <p:nvPr/>
        </p:nvSpPr>
        <p:spPr>
          <a:xfrm>
            <a:off x="2723083" y="5303520"/>
            <a:ext cx="484632"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Booth</a:t>
            </a:r>
            <a:endParaRPr lang="en-US" sz="1050" dirty="0"/>
          </a:p>
        </p:txBody>
      </p:sp>
      <p:sp>
        <p:nvSpPr>
          <p:cNvPr id="37" name="Text 35"/>
          <p:cNvSpPr/>
          <p:nvPr/>
        </p:nvSpPr>
        <p:spPr>
          <a:xfrm>
            <a:off x="3207715" y="5303520"/>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38" name="Shape 36"/>
          <p:cNvSpPr/>
          <p:nvPr/>
        </p:nvSpPr>
        <p:spPr>
          <a:xfrm>
            <a:off x="3482035" y="5303520"/>
            <a:ext cx="555955"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39" name="Text 37"/>
          <p:cNvSpPr/>
          <p:nvPr/>
        </p:nvSpPr>
        <p:spPr>
          <a:xfrm>
            <a:off x="3482035" y="5303520"/>
            <a:ext cx="555955"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Person</a:t>
            </a:r>
            <a:endParaRPr lang="en-US" sz="1050" dirty="0"/>
          </a:p>
        </p:txBody>
      </p:sp>
      <p:sp>
        <p:nvSpPr>
          <p:cNvPr id="40" name="Text 38"/>
          <p:cNvSpPr/>
          <p:nvPr/>
        </p:nvSpPr>
        <p:spPr>
          <a:xfrm>
            <a:off x="4037990" y="5303520"/>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41" name="Shape 39"/>
          <p:cNvSpPr/>
          <p:nvPr/>
        </p:nvSpPr>
        <p:spPr>
          <a:xfrm>
            <a:off x="4312310" y="5303520"/>
            <a:ext cx="983894"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42" name="Text 40"/>
          <p:cNvSpPr/>
          <p:nvPr/>
        </p:nvSpPr>
        <p:spPr>
          <a:xfrm>
            <a:off x="4312310" y="5303520"/>
            <a:ext cx="983894"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Conversation</a:t>
            </a:r>
            <a:endParaRPr lang="en-US" sz="1050" dirty="0"/>
          </a:p>
        </p:txBody>
      </p:sp>
      <p:sp>
        <p:nvSpPr>
          <p:cNvPr id="43" name="Text 41"/>
          <p:cNvSpPr/>
          <p:nvPr/>
        </p:nvSpPr>
        <p:spPr>
          <a:xfrm>
            <a:off x="5296205" y="5303520"/>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44" name="Shape 42"/>
          <p:cNvSpPr/>
          <p:nvPr/>
        </p:nvSpPr>
        <p:spPr>
          <a:xfrm>
            <a:off x="5570525" y="5303520"/>
            <a:ext cx="1126541"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45" name="Text 43"/>
          <p:cNvSpPr/>
          <p:nvPr/>
        </p:nvSpPr>
        <p:spPr>
          <a:xfrm>
            <a:off x="5570525" y="5303520"/>
            <a:ext cx="1126541"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Product / need</a:t>
            </a:r>
            <a:endParaRPr lang="en-US" sz="1050" dirty="0"/>
          </a:p>
        </p:txBody>
      </p:sp>
      <p:sp>
        <p:nvSpPr>
          <p:cNvPr id="46" name="Shape 44"/>
          <p:cNvSpPr/>
          <p:nvPr/>
        </p:nvSpPr>
        <p:spPr>
          <a:xfrm>
            <a:off x="777240" y="5742432"/>
            <a:ext cx="912571"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47" name="Text 45"/>
          <p:cNvSpPr/>
          <p:nvPr/>
        </p:nvSpPr>
        <p:spPr>
          <a:xfrm>
            <a:off x="777240" y="5742432"/>
            <a:ext cx="912571"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Opportunity</a:t>
            </a:r>
            <a:endParaRPr lang="en-US" sz="1050" dirty="0"/>
          </a:p>
        </p:txBody>
      </p:sp>
      <p:sp>
        <p:nvSpPr>
          <p:cNvPr id="48" name="Text 46"/>
          <p:cNvSpPr/>
          <p:nvPr/>
        </p:nvSpPr>
        <p:spPr>
          <a:xfrm>
            <a:off x="1689811" y="5742432"/>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49" name="Shape 47"/>
          <p:cNvSpPr/>
          <p:nvPr/>
        </p:nvSpPr>
        <p:spPr>
          <a:xfrm>
            <a:off x="1964131" y="5742432"/>
            <a:ext cx="841248"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50" name="Text 48"/>
          <p:cNvSpPr/>
          <p:nvPr/>
        </p:nvSpPr>
        <p:spPr>
          <a:xfrm>
            <a:off x="1964131" y="5742432"/>
            <a:ext cx="841248"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Commitment</a:t>
            </a:r>
            <a:endParaRPr lang="en-US" sz="1050" dirty="0"/>
          </a:p>
        </p:txBody>
      </p:sp>
      <p:sp>
        <p:nvSpPr>
          <p:cNvPr id="51" name="Text 49"/>
          <p:cNvSpPr/>
          <p:nvPr/>
        </p:nvSpPr>
        <p:spPr>
          <a:xfrm>
            <a:off x="2805379" y="5742432"/>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52" name="Shape 50"/>
          <p:cNvSpPr/>
          <p:nvPr/>
        </p:nvSpPr>
        <p:spPr>
          <a:xfrm>
            <a:off x="3079699" y="5742432"/>
            <a:ext cx="769925"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53" name="Text 51"/>
          <p:cNvSpPr/>
          <p:nvPr/>
        </p:nvSpPr>
        <p:spPr>
          <a:xfrm>
            <a:off x="3079699" y="5742432"/>
            <a:ext cx="769925"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Follow-up</a:t>
            </a:r>
            <a:endParaRPr lang="en-US" sz="1050" dirty="0"/>
          </a:p>
        </p:txBody>
      </p:sp>
      <p:sp>
        <p:nvSpPr>
          <p:cNvPr id="54" name="Text 52"/>
          <p:cNvSpPr/>
          <p:nvPr/>
        </p:nvSpPr>
        <p:spPr>
          <a:xfrm>
            <a:off x="3849624" y="5742432"/>
            <a:ext cx="274320" cy="310896"/>
          </a:xfrm>
          <a:prstGeom prst="rect">
            <a:avLst/>
          </a:prstGeom>
          <a:noFill/>
          <a:ln/>
        </p:spPr>
        <p:txBody>
          <a:bodyPr wrap="square" lIns="0" tIns="0" rIns="0" bIns="0" rtlCol="0" anchor="ctr"/>
          <a:lstStyle/>
          <a:p>
            <a:pPr marL="0" indent="0" algn="ctr">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55" name="Shape 53"/>
          <p:cNvSpPr/>
          <p:nvPr/>
        </p:nvSpPr>
        <p:spPr>
          <a:xfrm>
            <a:off x="4123944" y="5742432"/>
            <a:ext cx="627278" cy="310896"/>
          </a:xfrm>
          <a:prstGeom prst="roundRect">
            <a:avLst>
              <a:gd name="adj" fmla="val 17647"/>
            </a:avLst>
          </a:prstGeom>
          <a:solidFill>
            <a:srgbClr val="FFFFFF"/>
          </a:solidFill>
          <a:ln w="12700">
            <a:solidFill>
              <a:srgbClr val="D1FAE5"/>
            </a:solidFill>
            <a:prstDash val="solid"/>
          </a:ln>
        </p:spPr>
        <p:txBody>
          <a:bodyPr/>
          <a:lstStyle/>
          <a:p>
            <a:endParaRPr lang="en-US"/>
          </a:p>
        </p:txBody>
      </p:sp>
      <p:sp>
        <p:nvSpPr>
          <p:cNvPr id="56" name="Text 54"/>
          <p:cNvSpPr/>
          <p:nvPr/>
        </p:nvSpPr>
        <p:spPr>
          <a:xfrm>
            <a:off x="4123944" y="5742432"/>
            <a:ext cx="627278" cy="310896"/>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Outcome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6" name="Text 4"/>
          <p:cNvSpPr/>
          <p:nvPr/>
        </p:nvSpPr>
        <p:spPr>
          <a:xfrm>
            <a:off x="502920" y="352287"/>
            <a:ext cx="2011680" cy="329184"/>
          </a:xfrm>
          <a:prstGeom prst="rect">
            <a:avLst/>
          </a:prstGeom>
          <a:noFill/>
          <a:ln/>
        </p:spPr>
        <p:txBody>
          <a:bodyPr wrap="square" lIns="0" tIns="0" rIns="0" bIns="0" rtlCol="0" anchor="ctr"/>
          <a:lstStyle/>
          <a:p>
            <a:pPr marL="0" indent="0" algn="l">
              <a:buNone/>
            </a:pPr>
            <a:r>
              <a:rPr lang="en-US" sz="1500" b="1" dirty="0">
                <a:solidFill>
                  <a:srgbClr val="0F172A"/>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425135" y="384048"/>
            <a:ext cx="6263640" cy="274320"/>
          </a:xfrm>
          <a:prstGeom prst="rect">
            <a:avLst/>
          </a:prstGeom>
          <a:noFill/>
          <a:ln/>
        </p:spPr>
        <p:txBody>
          <a:bodyPr wrap="square" lIns="0" tIns="0" rIns="0" bIns="0" rtlCol="0" anchor="ctr"/>
          <a:lstStyle/>
          <a:p>
            <a:pPr marL="0" indent="0" algn="r">
              <a:buNone/>
            </a:pPr>
            <a:r>
              <a:rPr lang="en-US" sz="1000" b="1" kern="0" spc="140" dirty="0">
                <a:solidFill>
                  <a:srgbClr val="94A3B8"/>
                </a:solidFill>
                <a:latin typeface="Calibri" pitchFamily="34" charset="0"/>
                <a:ea typeface="Calibri" pitchFamily="34" charset="-122"/>
                <a:cs typeface="Calibri" pitchFamily="34" charset="-120"/>
              </a:rPr>
              <a:t>IF YOU ALREADY USE A CRM  ·  THIS IS WHERE EXPOLEAD FITS</a:t>
            </a:r>
            <a:endParaRPr lang="en-US" sz="1000" dirty="0"/>
          </a:p>
        </p:txBody>
      </p:sp>
      <p:sp>
        <p:nvSpPr>
          <p:cNvPr id="8" name="Text 6"/>
          <p:cNvSpPr/>
          <p:nvPr/>
        </p:nvSpPr>
        <p:spPr>
          <a:xfrm>
            <a:off x="502920" y="960120"/>
            <a:ext cx="8229600" cy="274320"/>
          </a:xfrm>
          <a:prstGeom prst="rect">
            <a:avLst/>
          </a:prstGeom>
          <a:noFill/>
          <a:ln/>
        </p:spPr>
        <p:txBody>
          <a:bodyPr wrap="square" lIns="0" tIns="0" rIns="0" bIns="0" rtlCol="0" anchor="ctr"/>
          <a:lstStyle/>
          <a:p>
            <a:pPr marL="0" indent="0" algn="l">
              <a:buNone/>
            </a:pPr>
            <a:r>
              <a:rPr lang="en-US" sz="1100" b="1" kern="0" spc="220" dirty="0">
                <a:solidFill>
                  <a:srgbClr val="059669"/>
                </a:solidFill>
                <a:latin typeface="Calibri" pitchFamily="34" charset="0"/>
                <a:ea typeface="Calibri" pitchFamily="34" charset="-122"/>
                <a:cs typeface="Calibri" pitchFamily="34" charset="-120"/>
              </a:rPr>
              <a:t>TWO JOBS, ONE HANDOFF</a:t>
            </a:r>
            <a:endParaRPr lang="en-US" sz="1100" dirty="0"/>
          </a:p>
        </p:txBody>
      </p:sp>
      <p:sp>
        <p:nvSpPr>
          <p:cNvPr id="9" name="Text 7"/>
          <p:cNvSpPr/>
          <p:nvPr/>
        </p:nvSpPr>
        <p:spPr>
          <a:xfrm>
            <a:off x="502920" y="1216152"/>
            <a:ext cx="10972800" cy="502920"/>
          </a:xfrm>
          <a:prstGeom prst="rect">
            <a:avLst/>
          </a:prstGeom>
          <a:noFill/>
          <a:ln/>
        </p:spPr>
        <p:txBody>
          <a:bodyPr wrap="square" lIns="0" tIns="0" rIns="0" bIns="0" rtlCol="0" anchor="t"/>
          <a:lstStyle/>
          <a:p>
            <a:pPr marL="0" indent="0" algn="l">
              <a:buNone/>
            </a:pPr>
            <a:r>
              <a:rPr lang="en-US" sz="2700" b="1" dirty="0">
                <a:solidFill>
                  <a:srgbClr val="0F172A"/>
                </a:solidFill>
                <a:latin typeface="Calibri" pitchFamily="34" charset="0"/>
                <a:ea typeface="Calibri" pitchFamily="34" charset="-122"/>
                <a:cs typeface="Calibri" pitchFamily="34" charset="-120"/>
              </a:rPr>
              <a:t>A CRM begins where the exhibition </a:t>
            </a:r>
            <a:r>
              <a:rPr lang="en-US" sz="2700" b="1" dirty="0">
                <a:solidFill>
                  <a:srgbClr val="059669"/>
                </a:solidFill>
                <a:latin typeface="Calibri" pitchFamily="34" charset="0"/>
                <a:ea typeface="Calibri" pitchFamily="34" charset="-122"/>
                <a:cs typeface="Calibri" pitchFamily="34" charset="-120"/>
              </a:rPr>
              <a:t>ends.</a:t>
            </a:r>
            <a:endParaRPr lang="en-US" sz="2700" dirty="0"/>
          </a:p>
        </p:txBody>
      </p:sp>
      <p:sp>
        <p:nvSpPr>
          <p:cNvPr id="10" name="Text 8"/>
          <p:cNvSpPr/>
          <p:nvPr/>
        </p:nvSpPr>
        <p:spPr>
          <a:xfrm>
            <a:off x="502920" y="1783080"/>
            <a:ext cx="10789920" cy="457200"/>
          </a:xfrm>
          <a:prstGeom prst="rect">
            <a:avLst/>
          </a:prstGeom>
          <a:noFill/>
          <a:ln/>
        </p:spPr>
        <p:txBody>
          <a:bodyPr wrap="square" lIns="0" tIns="0" rIns="0" bIns="0" rtlCol="0" anchor="t"/>
          <a:lstStyle/>
          <a:p>
            <a:pPr marL="0" indent="0" algn="l">
              <a:lnSpc>
                <a:spcPct val="110000"/>
              </a:lnSpc>
              <a:buNone/>
            </a:pPr>
            <a:r>
              <a:rPr lang="en-US" sz="1300" dirty="0">
                <a:solidFill>
                  <a:srgbClr val="475569"/>
                </a:solidFill>
                <a:latin typeface="Calibri" pitchFamily="34" charset="0"/>
                <a:ea typeface="Calibri" pitchFamily="34" charset="-122"/>
                <a:cs typeface="Calibri" pitchFamily="34" charset="-120"/>
              </a:rPr>
              <a:t>Your CRM starts with the lead. ExpoLead is everything that happens before it becomes one, then it hands your CRM a clean, qualified opportunity when the show is done.</a:t>
            </a:r>
            <a:endParaRPr lang="en-US" sz="1300" dirty="0"/>
          </a:p>
        </p:txBody>
      </p:sp>
      <p:sp>
        <p:nvSpPr>
          <p:cNvPr id="11" name="Shape 9"/>
          <p:cNvSpPr/>
          <p:nvPr/>
        </p:nvSpPr>
        <p:spPr>
          <a:xfrm>
            <a:off x="502920" y="2514600"/>
            <a:ext cx="5669280" cy="2148840"/>
          </a:xfrm>
          <a:prstGeom prst="roundRect">
            <a:avLst>
              <a:gd name="adj" fmla="val 5106"/>
            </a:avLst>
          </a:prstGeom>
          <a:solidFill>
            <a:srgbClr val="ECFDF5"/>
          </a:solidFill>
          <a:ln w="15240">
            <a:solidFill>
              <a:srgbClr val="D1FAE5"/>
            </a:solidFill>
            <a:prstDash val="solid"/>
          </a:ln>
        </p:spPr>
        <p:txBody>
          <a:bodyPr/>
          <a:lstStyle/>
          <a:p>
            <a:endParaRPr lang="en-US"/>
          </a:p>
        </p:txBody>
      </p:sp>
      <p:sp>
        <p:nvSpPr>
          <p:cNvPr id="12" name="Text 10"/>
          <p:cNvSpPr/>
          <p:nvPr/>
        </p:nvSpPr>
        <p:spPr>
          <a:xfrm>
            <a:off x="731520" y="2697480"/>
            <a:ext cx="5212080" cy="256032"/>
          </a:xfrm>
          <a:prstGeom prst="rect">
            <a:avLst/>
          </a:prstGeom>
          <a:noFill/>
          <a:ln/>
        </p:spPr>
        <p:txBody>
          <a:bodyPr wrap="square" lIns="0" tIns="0" rIns="0" bIns="0" rtlCol="0" anchor="ctr"/>
          <a:lstStyle/>
          <a:p>
            <a:pPr marL="0" indent="0">
              <a:buNone/>
            </a:pPr>
            <a:r>
              <a:rPr lang="en-US" sz="1050" b="1" kern="0" spc="100" dirty="0">
                <a:solidFill>
                  <a:srgbClr val="047857"/>
                </a:solidFill>
                <a:latin typeface="Calibri" pitchFamily="34" charset="0"/>
                <a:ea typeface="Calibri" pitchFamily="34" charset="-122"/>
                <a:cs typeface="Calibri" pitchFamily="34" charset="-120"/>
              </a:rPr>
              <a:t>THE EXHIBITION · EXPOLEAD RUNS THIS</a:t>
            </a:r>
            <a:endParaRPr lang="en-US" sz="1050" dirty="0"/>
          </a:p>
        </p:txBody>
      </p:sp>
      <p:sp>
        <p:nvSpPr>
          <p:cNvPr id="13" name="Shape 11"/>
          <p:cNvSpPr/>
          <p:nvPr/>
        </p:nvSpPr>
        <p:spPr>
          <a:xfrm>
            <a:off x="731520" y="3081528"/>
            <a:ext cx="1753819" cy="329184"/>
          </a:xfrm>
          <a:prstGeom prst="roundRect">
            <a:avLst>
              <a:gd name="adj" fmla="val 16667"/>
            </a:avLst>
          </a:prstGeom>
          <a:solidFill>
            <a:srgbClr val="FFFFFF"/>
          </a:solidFill>
          <a:ln w="12700">
            <a:solidFill>
              <a:srgbClr val="D1FAE5"/>
            </a:solidFill>
            <a:prstDash val="solid"/>
          </a:ln>
        </p:spPr>
        <p:txBody>
          <a:bodyPr/>
          <a:lstStyle/>
          <a:p>
            <a:endParaRPr lang="en-US"/>
          </a:p>
        </p:txBody>
      </p:sp>
      <p:sp>
        <p:nvSpPr>
          <p:cNvPr id="14" name="Text 12"/>
          <p:cNvSpPr/>
          <p:nvPr/>
        </p:nvSpPr>
        <p:spPr>
          <a:xfrm>
            <a:off x="731520" y="3081528"/>
            <a:ext cx="1753819" cy="329184"/>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Plan targets &amp; booths</a:t>
            </a:r>
            <a:endParaRPr lang="en-US" sz="1050" dirty="0"/>
          </a:p>
        </p:txBody>
      </p:sp>
      <p:sp>
        <p:nvSpPr>
          <p:cNvPr id="15" name="Text 13"/>
          <p:cNvSpPr/>
          <p:nvPr/>
        </p:nvSpPr>
        <p:spPr>
          <a:xfrm>
            <a:off x="2485339" y="3081528"/>
            <a:ext cx="201168" cy="329184"/>
          </a:xfrm>
          <a:prstGeom prst="rect">
            <a:avLst/>
          </a:prstGeom>
          <a:noFill/>
          <a:ln/>
        </p:spPr>
        <p:txBody>
          <a:bodyPr wrap="square" lIns="0" tIns="0" rIns="0" bIns="0" rtlCol="0" anchor="ctr"/>
          <a:lstStyle/>
          <a:p>
            <a:pPr marL="0" indent="0" algn="ctr">
              <a:buNone/>
            </a:pPr>
            <a:r>
              <a:rPr lang="en-US" sz="1200" b="1" dirty="0">
                <a:solidFill>
                  <a:srgbClr val="34D399"/>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2686507" y="3081528"/>
            <a:ext cx="1682496" cy="329184"/>
          </a:xfrm>
          <a:prstGeom prst="roundRect">
            <a:avLst>
              <a:gd name="adj" fmla="val 16667"/>
            </a:avLst>
          </a:prstGeom>
          <a:solidFill>
            <a:srgbClr val="FFFFFF"/>
          </a:solidFill>
          <a:ln w="12700">
            <a:solidFill>
              <a:srgbClr val="D1FAE5"/>
            </a:solidFill>
            <a:prstDash val="solid"/>
          </a:ln>
        </p:spPr>
        <p:txBody>
          <a:bodyPr/>
          <a:lstStyle/>
          <a:p>
            <a:endParaRPr lang="en-US"/>
          </a:p>
        </p:txBody>
      </p:sp>
      <p:sp>
        <p:nvSpPr>
          <p:cNvPr id="17" name="Text 15"/>
          <p:cNvSpPr/>
          <p:nvPr/>
        </p:nvSpPr>
        <p:spPr>
          <a:xfrm>
            <a:off x="2686507" y="3081528"/>
            <a:ext cx="1682496" cy="329184"/>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Capture on the floor</a:t>
            </a:r>
            <a:endParaRPr lang="en-US" sz="1050" dirty="0"/>
          </a:p>
        </p:txBody>
      </p:sp>
      <p:sp>
        <p:nvSpPr>
          <p:cNvPr id="18" name="Shape 16"/>
          <p:cNvSpPr/>
          <p:nvPr/>
        </p:nvSpPr>
        <p:spPr>
          <a:xfrm>
            <a:off x="731520" y="3529584"/>
            <a:ext cx="1825142" cy="329184"/>
          </a:xfrm>
          <a:prstGeom prst="roundRect">
            <a:avLst>
              <a:gd name="adj" fmla="val 16667"/>
            </a:avLst>
          </a:prstGeom>
          <a:solidFill>
            <a:srgbClr val="FFFFFF"/>
          </a:solidFill>
          <a:ln w="12700">
            <a:solidFill>
              <a:srgbClr val="D1FAE5"/>
            </a:solidFill>
            <a:prstDash val="solid"/>
          </a:ln>
        </p:spPr>
        <p:txBody>
          <a:bodyPr/>
          <a:lstStyle/>
          <a:p>
            <a:endParaRPr lang="en-US"/>
          </a:p>
        </p:txBody>
      </p:sp>
      <p:sp>
        <p:nvSpPr>
          <p:cNvPr id="19" name="Text 17"/>
          <p:cNvSpPr/>
          <p:nvPr/>
        </p:nvSpPr>
        <p:spPr>
          <a:xfrm>
            <a:off x="731520" y="3529584"/>
            <a:ext cx="1825142" cy="329184"/>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Prioritise on the spot</a:t>
            </a:r>
            <a:endParaRPr lang="en-US" sz="1050" dirty="0"/>
          </a:p>
        </p:txBody>
      </p:sp>
      <p:sp>
        <p:nvSpPr>
          <p:cNvPr id="20" name="Text 18"/>
          <p:cNvSpPr/>
          <p:nvPr/>
        </p:nvSpPr>
        <p:spPr>
          <a:xfrm>
            <a:off x="2556662" y="3529584"/>
            <a:ext cx="201168" cy="329184"/>
          </a:xfrm>
          <a:prstGeom prst="rect">
            <a:avLst/>
          </a:prstGeom>
          <a:noFill/>
          <a:ln/>
        </p:spPr>
        <p:txBody>
          <a:bodyPr wrap="square" lIns="0" tIns="0" rIns="0" bIns="0" rtlCol="0" anchor="ctr"/>
          <a:lstStyle/>
          <a:p>
            <a:pPr marL="0" indent="0" algn="ctr">
              <a:buNone/>
            </a:pPr>
            <a:r>
              <a:rPr lang="en-US" sz="1200" b="1" dirty="0">
                <a:solidFill>
                  <a:srgbClr val="34D399"/>
                </a:solidFill>
                <a:latin typeface="Calibri" pitchFamily="34" charset="0"/>
                <a:ea typeface="Calibri" pitchFamily="34" charset="-122"/>
                <a:cs typeface="Calibri" pitchFamily="34" charset="-120"/>
              </a:rPr>
              <a:t>›</a:t>
            </a:r>
            <a:endParaRPr lang="en-US" sz="1200" dirty="0"/>
          </a:p>
        </p:txBody>
      </p:sp>
      <p:sp>
        <p:nvSpPr>
          <p:cNvPr id="21" name="Shape 19"/>
          <p:cNvSpPr/>
          <p:nvPr/>
        </p:nvSpPr>
        <p:spPr>
          <a:xfrm>
            <a:off x="2757830" y="3529584"/>
            <a:ext cx="1468526" cy="329184"/>
          </a:xfrm>
          <a:prstGeom prst="roundRect">
            <a:avLst>
              <a:gd name="adj" fmla="val 16667"/>
            </a:avLst>
          </a:prstGeom>
          <a:solidFill>
            <a:srgbClr val="FFFFFF"/>
          </a:solidFill>
          <a:ln w="12700">
            <a:solidFill>
              <a:srgbClr val="D1FAE5"/>
            </a:solidFill>
            <a:prstDash val="solid"/>
          </a:ln>
        </p:spPr>
        <p:txBody>
          <a:bodyPr/>
          <a:lstStyle/>
          <a:p>
            <a:endParaRPr lang="en-US"/>
          </a:p>
        </p:txBody>
      </p:sp>
      <p:sp>
        <p:nvSpPr>
          <p:cNvPr id="22" name="Text 20"/>
          <p:cNvSpPr/>
          <p:nvPr/>
        </p:nvSpPr>
        <p:spPr>
          <a:xfrm>
            <a:off x="2757830" y="3529584"/>
            <a:ext cx="1468526" cy="329184"/>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Track commitments</a:t>
            </a:r>
            <a:endParaRPr lang="en-US" sz="1050" dirty="0"/>
          </a:p>
        </p:txBody>
      </p:sp>
      <p:sp>
        <p:nvSpPr>
          <p:cNvPr id="23" name="Shape 21"/>
          <p:cNvSpPr/>
          <p:nvPr/>
        </p:nvSpPr>
        <p:spPr>
          <a:xfrm>
            <a:off x="731520" y="3977640"/>
            <a:ext cx="1753819" cy="329184"/>
          </a:xfrm>
          <a:prstGeom prst="roundRect">
            <a:avLst>
              <a:gd name="adj" fmla="val 16667"/>
            </a:avLst>
          </a:prstGeom>
          <a:solidFill>
            <a:srgbClr val="FFFFFF"/>
          </a:solidFill>
          <a:ln w="12700">
            <a:solidFill>
              <a:srgbClr val="D1FAE5"/>
            </a:solidFill>
            <a:prstDash val="solid"/>
          </a:ln>
        </p:spPr>
        <p:txBody>
          <a:bodyPr/>
          <a:lstStyle/>
          <a:p>
            <a:endParaRPr lang="en-US"/>
          </a:p>
        </p:txBody>
      </p:sp>
      <p:sp>
        <p:nvSpPr>
          <p:cNvPr id="24" name="Text 22"/>
          <p:cNvSpPr/>
          <p:nvPr/>
        </p:nvSpPr>
        <p:spPr>
          <a:xfrm>
            <a:off x="731520" y="3977640"/>
            <a:ext cx="1753819" cy="329184"/>
          </a:xfrm>
          <a:prstGeom prst="rect">
            <a:avLst/>
          </a:prstGeom>
          <a:noFill/>
          <a:ln/>
        </p:spPr>
        <p:txBody>
          <a:bodyPr wrap="square" lIns="0" tIns="0" rIns="0" bIns="0" rtlCol="0" anchor="ctr"/>
          <a:lstStyle/>
          <a:p>
            <a:pPr marL="0" indent="0" algn="ctr">
              <a:buNone/>
            </a:pPr>
            <a:r>
              <a:rPr lang="en-US" sz="1050" b="1" dirty="0">
                <a:solidFill>
                  <a:srgbClr val="047857"/>
                </a:solidFill>
                <a:latin typeface="Calibri" pitchFamily="34" charset="0"/>
                <a:ea typeface="Calibri" pitchFamily="34" charset="-122"/>
                <a:cs typeface="Calibri" pitchFamily="34" charset="-120"/>
              </a:rPr>
              <a:t>Structure the outcome</a:t>
            </a:r>
            <a:endParaRPr lang="en-US" sz="1050" dirty="0"/>
          </a:p>
        </p:txBody>
      </p:sp>
      <p:sp>
        <p:nvSpPr>
          <p:cNvPr id="25" name="Text 23"/>
          <p:cNvSpPr/>
          <p:nvPr/>
        </p:nvSpPr>
        <p:spPr>
          <a:xfrm>
            <a:off x="731520" y="4005072"/>
            <a:ext cx="5212080" cy="548640"/>
          </a:xfrm>
          <a:prstGeom prst="rect">
            <a:avLst/>
          </a:prstGeom>
          <a:noFill/>
          <a:ln/>
        </p:spPr>
        <p:txBody>
          <a:bodyPr wrap="square" lIns="0" tIns="0" rIns="0" bIns="0" rtlCol="0" anchor="t"/>
          <a:lstStyle/>
          <a:p>
            <a:pPr marL="0" indent="0" algn="l">
              <a:lnSpc>
                <a:spcPct val="110000"/>
              </a:lnSpc>
              <a:buNone/>
            </a:pPr>
            <a:r>
              <a:rPr lang="en-US" sz="1100" dirty="0">
                <a:solidFill>
                  <a:srgbClr val="475569"/>
                </a:solidFill>
                <a:latin typeface="Calibri" pitchFamily="34" charset="0"/>
                <a:ea typeface="Calibri" pitchFamily="34" charset="-122"/>
                <a:cs typeface="Calibri" pitchFamily="34" charset="-120"/>
              </a:rPr>
              <a:t>Hall, booth, product and conversation context, captured at booth speed across dozens of meetings, then turned into structured opportunities.</a:t>
            </a:r>
            <a:endParaRPr lang="en-US" sz="1100" dirty="0"/>
          </a:p>
        </p:txBody>
      </p:sp>
      <p:sp>
        <p:nvSpPr>
          <p:cNvPr id="26" name="Text 24"/>
          <p:cNvSpPr/>
          <p:nvPr/>
        </p:nvSpPr>
        <p:spPr>
          <a:xfrm>
            <a:off x="6172200" y="2514600"/>
            <a:ext cx="320040" cy="2148840"/>
          </a:xfrm>
          <a:prstGeom prst="rect">
            <a:avLst/>
          </a:prstGeom>
          <a:noFill/>
          <a:ln/>
        </p:spPr>
        <p:txBody>
          <a:bodyPr wrap="square" lIns="0" tIns="0" rIns="0" bIns="0" rtlCol="0" anchor="ctr"/>
          <a:lstStyle/>
          <a:p>
            <a:pPr marL="0" indent="0" algn="ctr">
              <a:buNone/>
            </a:pPr>
            <a:r>
              <a:rPr lang="en-US" sz="2600" b="1" dirty="0">
                <a:solidFill>
                  <a:srgbClr val="CBD5E1"/>
                </a:solidFill>
                <a:latin typeface="Calibri" pitchFamily="34" charset="0"/>
                <a:ea typeface="Calibri" pitchFamily="34" charset="-122"/>
                <a:cs typeface="Calibri" pitchFamily="34" charset="-120"/>
              </a:rPr>
              <a:t>›</a:t>
            </a:r>
            <a:endParaRPr lang="en-US" sz="2600" dirty="0"/>
          </a:p>
        </p:txBody>
      </p:sp>
      <p:sp>
        <p:nvSpPr>
          <p:cNvPr id="27" name="Text 25"/>
          <p:cNvSpPr/>
          <p:nvPr/>
        </p:nvSpPr>
        <p:spPr>
          <a:xfrm>
            <a:off x="8778240" y="2514600"/>
            <a:ext cx="320040" cy="2148840"/>
          </a:xfrm>
          <a:prstGeom prst="rect">
            <a:avLst/>
          </a:prstGeom>
          <a:noFill/>
          <a:ln/>
        </p:spPr>
        <p:txBody>
          <a:bodyPr wrap="square" lIns="0" tIns="0" rIns="0" bIns="0" rtlCol="0" anchor="ctr"/>
          <a:lstStyle/>
          <a:p>
            <a:pPr marL="0" indent="0" algn="ctr">
              <a:buNone/>
            </a:pPr>
            <a:r>
              <a:rPr lang="en-US" sz="2600" b="1" dirty="0">
                <a:solidFill>
                  <a:srgbClr val="CBD5E1"/>
                </a:solidFill>
                <a:latin typeface="Calibri" pitchFamily="34" charset="0"/>
                <a:ea typeface="Calibri" pitchFamily="34" charset="-122"/>
                <a:cs typeface="Calibri" pitchFamily="34" charset="-120"/>
              </a:rPr>
              <a:t>›</a:t>
            </a:r>
            <a:endParaRPr lang="en-US" sz="2600" dirty="0"/>
          </a:p>
        </p:txBody>
      </p:sp>
      <p:sp>
        <p:nvSpPr>
          <p:cNvPr id="28" name="Shape 26"/>
          <p:cNvSpPr/>
          <p:nvPr/>
        </p:nvSpPr>
        <p:spPr>
          <a:xfrm>
            <a:off x="6492240" y="2880360"/>
            <a:ext cx="2286000" cy="1417320"/>
          </a:xfrm>
          <a:prstGeom prst="roundRect">
            <a:avLst>
              <a:gd name="adj" fmla="val 6452"/>
            </a:avLst>
          </a:prstGeom>
          <a:solidFill>
            <a:srgbClr val="FFFFFF"/>
          </a:solidFill>
          <a:ln w="19050">
            <a:solidFill>
              <a:srgbClr val="34D399"/>
            </a:solidFill>
            <a:prstDash val="solid"/>
          </a:ln>
          <a:effectLst>
            <a:outerShdw blurRad="127000" dist="38100" dir="5400000" algn="bl" rotWithShape="0">
              <a:srgbClr val="10B981">
                <a:alpha val="22000"/>
              </a:srgbClr>
            </a:outerShdw>
          </a:effectLst>
        </p:spPr>
        <p:txBody>
          <a:bodyPr/>
          <a:lstStyle/>
          <a:p>
            <a:endParaRPr lang="en-US"/>
          </a:p>
        </p:txBody>
      </p:sp>
      <p:sp>
        <p:nvSpPr>
          <p:cNvPr id="29" name="Shape 27"/>
          <p:cNvSpPr/>
          <p:nvPr/>
        </p:nvSpPr>
        <p:spPr>
          <a:xfrm>
            <a:off x="6656832" y="3044952"/>
            <a:ext cx="1783080" cy="237744"/>
          </a:xfrm>
          <a:prstGeom prst="roundRect">
            <a:avLst>
              <a:gd name="adj" fmla="val 19231"/>
            </a:avLst>
          </a:prstGeom>
          <a:solidFill>
            <a:srgbClr val="ECFDF5"/>
          </a:solidFill>
          <a:ln w="12700">
            <a:solidFill>
              <a:srgbClr val="D1FAE5"/>
            </a:solidFill>
            <a:prstDash val="solid"/>
          </a:ln>
        </p:spPr>
        <p:txBody>
          <a:bodyPr/>
          <a:lstStyle/>
          <a:p>
            <a:endParaRPr lang="en-US"/>
          </a:p>
        </p:txBody>
      </p:sp>
      <p:sp>
        <p:nvSpPr>
          <p:cNvPr id="30" name="Text 28"/>
          <p:cNvSpPr/>
          <p:nvPr/>
        </p:nvSpPr>
        <p:spPr>
          <a:xfrm>
            <a:off x="6656832" y="3044952"/>
            <a:ext cx="1783080" cy="237744"/>
          </a:xfrm>
          <a:prstGeom prst="rect">
            <a:avLst/>
          </a:prstGeom>
          <a:noFill/>
          <a:ln/>
        </p:spPr>
        <p:txBody>
          <a:bodyPr wrap="square" lIns="0" tIns="0" rIns="0" bIns="0" rtlCol="0" anchor="ctr"/>
          <a:lstStyle/>
          <a:p>
            <a:pPr marL="0" indent="0" algn="ctr">
              <a:buNone/>
            </a:pPr>
            <a:r>
              <a:rPr lang="en-US" sz="800" b="1" dirty="0">
                <a:solidFill>
                  <a:srgbClr val="047857"/>
                </a:solidFill>
                <a:latin typeface="Calibri" pitchFamily="34" charset="0"/>
                <a:ea typeface="Calibri" pitchFamily="34" charset="-122"/>
                <a:cs typeface="Calibri" pitchFamily="34" charset="-120"/>
              </a:rPr>
              <a:t>ONE CLEAN, QUALIFIED LEAD</a:t>
            </a:r>
            <a:endParaRPr lang="en-US" sz="800" dirty="0"/>
          </a:p>
        </p:txBody>
      </p:sp>
      <p:sp>
        <p:nvSpPr>
          <p:cNvPr id="31" name="Text 29"/>
          <p:cNvSpPr/>
          <p:nvPr/>
        </p:nvSpPr>
        <p:spPr>
          <a:xfrm>
            <a:off x="6675120" y="3355848"/>
            <a:ext cx="1920240" cy="274320"/>
          </a:xfrm>
          <a:prstGeom prst="rect">
            <a:avLst/>
          </a:prstGeom>
          <a:noFill/>
          <a:ln/>
        </p:spPr>
        <p:txBody>
          <a:bodyPr wrap="square" lIns="0" tIns="0" rIns="0" bIns="0" rtlCol="0" anchor="ctr"/>
          <a:lstStyle/>
          <a:p>
            <a:pPr marL="0" indent="0" algn="l">
              <a:buNone/>
            </a:pPr>
            <a:r>
              <a:rPr lang="en-US" sz="1400" b="1" dirty="0">
                <a:solidFill>
                  <a:srgbClr val="0F172A"/>
                </a:solidFill>
                <a:latin typeface="Calibri" pitchFamily="34" charset="0"/>
                <a:ea typeface="Calibri" pitchFamily="34" charset="-122"/>
                <a:cs typeface="Calibri" pitchFamily="34" charset="-120"/>
              </a:rPr>
              <a:t>Acme Foods Ltd</a:t>
            </a:r>
            <a:endParaRPr lang="en-US" sz="1400" dirty="0"/>
          </a:p>
        </p:txBody>
      </p:sp>
      <p:sp>
        <p:nvSpPr>
          <p:cNvPr id="32" name="Text 30"/>
          <p:cNvSpPr/>
          <p:nvPr/>
        </p:nvSpPr>
        <p:spPr>
          <a:xfrm>
            <a:off x="6675120" y="3630168"/>
            <a:ext cx="1920240" cy="201168"/>
          </a:xfrm>
          <a:prstGeom prst="rect">
            <a:avLst/>
          </a:prstGeom>
          <a:noFill/>
          <a:ln/>
        </p:spPr>
        <p:txBody>
          <a:bodyPr wrap="square" lIns="0" tIns="0" rIns="0" bIns="0" rtlCol="0" anchor="ctr"/>
          <a:lstStyle/>
          <a:p>
            <a:pPr marL="0" indent="0" algn="l">
              <a:buNone/>
            </a:pPr>
            <a:r>
              <a:rPr lang="en-US" sz="1050" b="1" dirty="0">
                <a:solidFill>
                  <a:srgbClr val="334155"/>
                </a:solidFill>
                <a:latin typeface="Calibri" pitchFamily="34" charset="0"/>
                <a:ea typeface="Calibri" pitchFamily="34" charset="-122"/>
                <a:cs typeface="Calibri" pitchFamily="34" charset="-120"/>
              </a:rPr>
              <a:t>John Perera</a:t>
            </a:r>
            <a:r>
              <a:rPr lang="en-US" sz="1050" dirty="0">
                <a:solidFill>
                  <a:srgbClr val="475569"/>
                </a:solidFill>
                <a:latin typeface="Calibri" pitchFamily="34" charset="0"/>
                <a:ea typeface="Calibri" pitchFamily="34" charset="-122"/>
                <a:cs typeface="Calibri" pitchFamily="34" charset="-120"/>
              </a:rPr>
              <a:t>, Buyer</a:t>
            </a:r>
            <a:endParaRPr lang="en-US" sz="1050" dirty="0"/>
          </a:p>
        </p:txBody>
      </p:sp>
      <p:sp>
        <p:nvSpPr>
          <p:cNvPr id="33" name="Text 31"/>
          <p:cNvSpPr/>
          <p:nvPr/>
        </p:nvSpPr>
        <p:spPr>
          <a:xfrm>
            <a:off x="6675120" y="3822192"/>
            <a:ext cx="1920240" cy="201168"/>
          </a:xfrm>
          <a:prstGeom prst="rect">
            <a:avLst/>
          </a:prstGeom>
          <a:noFill/>
          <a:ln/>
        </p:spPr>
        <p:txBody>
          <a:bodyPr wrap="square" lIns="0" tIns="0" rIns="0" bIns="0" rtlCol="0" anchor="ctr"/>
          <a:lstStyle/>
          <a:p>
            <a:pPr marL="0" indent="0" algn="l">
              <a:buNone/>
            </a:pPr>
            <a:r>
              <a:rPr lang="en-US" sz="1050" dirty="0">
                <a:solidFill>
                  <a:srgbClr val="475569"/>
                </a:solidFill>
                <a:latin typeface="Calibri" pitchFamily="34" charset="0"/>
                <a:ea typeface="Calibri" pitchFamily="34" charset="-122"/>
                <a:cs typeface="Calibri" pitchFamily="34" charset="-120"/>
              </a:rPr>
              <a:t>Needs: 500 MT, monthly</a:t>
            </a:r>
            <a:endParaRPr lang="en-US" sz="1050" dirty="0"/>
          </a:p>
        </p:txBody>
      </p:sp>
      <p:sp>
        <p:nvSpPr>
          <p:cNvPr id="34" name="Text 32"/>
          <p:cNvSpPr/>
          <p:nvPr/>
        </p:nvSpPr>
        <p:spPr>
          <a:xfrm>
            <a:off x="6675120" y="4014216"/>
            <a:ext cx="1920240" cy="201168"/>
          </a:xfrm>
          <a:prstGeom prst="rect">
            <a:avLst/>
          </a:prstGeom>
          <a:noFill/>
          <a:ln/>
        </p:spPr>
        <p:txBody>
          <a:bodyPr wrap="square" lIns="0" tIns="0" rIns="0" bIns="0" rtlCol="0" anchor="ctr"/>
          <a:lstStyle/>
          <a:p>
            <a:pPr marL="0" indent="0" algn="l">
              <a:buNone/>
            </a:pPr>
            <a:r>
              <a:rPr lang="en-US" sz="1050" dirty="0">
                <a:solidFill>
                  <a:srgbClr val="475569"/>
                </a:solidFill>
                <a:latin typeface="Calibri" pitchFamily="34" charset="0"/>
                <a:ea typeface="Calibri" pitchFamily="34" charset="-122"/>
                <a:cs typeface="Calibri" pitchFamily="34" charset="-120"/>
              </a:rPr>
              <a:t>Priority: High, sample promised</a:t>
            </a:r>
            <a:endParaRPr lang="en-US" sz="1050" dirty="0"/>
          </a:p>
        </p:txBody>
      </p:sp>
      <p:sp>
        <p:nvSpPr>
          <p:cNvPr id="35" name="Shape 33"/>
          <p:cNvSpPr/>
          <p:nvPr/>
        </p:nvSpPr>
        <p:spPr>
          <a:xfrm>
            <a:off x="9098280" y="2514600"/>
            <a:ext cx="2590495" cy="2148840"/>
          </a:xfrm>
          <a:prstGeom prst="roundRect">
            <a:avLst>
              <a:gd name="adj" fmla="val 5106"/>
            </a:avLst>
          </a:prstGeom>
          <a:solidFill>
            <a:srgbClr val="F8FAFC"/>
          </a:solidFill>
          <a:ln w="15240">
            <a:solidFill>
              <a:srgbClr val="E2E8F0"/>
            </a:solidFill>
            <a:prstDash val="solid"/>
          </a:ln>
        </p:spPr>
        <p:txBody>
          <a:bodyPr/>
          <a:lstStyle/>
          <a:p>
            <a:endParaRPr lang="en-US"/>
          </a:p>
        </p:txBody>
      </p:sp>
      <p:sp>
        <p:nvSpPr>
          <p:cNvPr id="36" name="Text 34"/>
          <p:cNvSpPr/>
          <p:nvPr/>
        </p:nvSpPr>
        <p:spPr>
          <a:xfrm>
            <a:off x="9299448" y="2697480"/>
            <a:ext cx="2188159" cy="256032"/>
          </a:xfrm>
          <a:prstGeom prst="rect">
            <a:avLst/>
          </a:prstGeom>
          <a:noFill/>
          <a:ln/>
        </p:spPr>
        <p:txBody>
          <a:bodyPr wrap="square" lIns="0" tIns="0" rIns="0" bIns="0" rtlCol="0" anchor="ctr"/>
          <a:lstStyle/>
          <a:p>
            <a:pPr marL="0" indent="0">
              <a:buNone/>
            </a:pPr>
            <a:r>
              <a:rPr lang="en-US" sz="1050" b="1" kern="0" spc="100" dirty="0">
                <a:solidFill>
                  <a:srgbClr val="475569"/>
                </a:solidFill>
                <a:latin typeface="Calibri" pitchFamily="34" charset="0"/>
                <a:ea typeface="Calibri" pitchFamily="34" charset="-122"/>
                <a:cs typeface="Calibri" pitchFamily="34" charset="-120"/>
              </a:rPr>
              <a:t>YOUR CRM STARTS HERE</a:t>
            </a:r>
            <a:endParaRPr lang="en-US" sz="1050" dirty="0"/>
          </a:p>
        </p:txBody>
      </p:sp>
      <p:sp>
        <p:nvSpPr>
          <p:cNvPr id="37" name="Shape 35"/>
          <p:cNvSpPr/>
          <p:nvPr/>
        </p:nvSpPr>
        <p:spPr>
          <a:xfrm>
            <a:off x="9299448" y="3063240"/>
            <a:ext cx="2188159" cy="1399032"/>
          </a:xfrm>
          <a:prstGeom prst="roundRect">
            <a:avLst>
              <a:gd name="adj" fmla="val 5882"/>
            </a:avLst>
          </a:prstGeom>
          <a:solidFill>
            <a:srgbClr val="FFFFFF"/>
          </a:solidFill>
          <a:ln w="12700">
            <a:solidFill>
              <a:srgbClr val="E2E8F0"/>
            </a:solidFill>
            <a:prstDash val="solid"/>
          </a:ln>
        </p:spPr>
        <p:txBody>
          <a:bodyPr/>
          <a:lstStyle/>
          <a:p>
            <a:endParaRPr lang="en-US"/>
          </a:p>
        </p:txBody>
      </p:sp>
      <p:sp>
        <p:nvSpPr>
          <p:cNvPr id="38" name="Text 36"/>
          <p:cNvSpPr/>
          <p:nvPr/>
        </p:nvSpPr>
        <p:spPr>
          <a:xfrm>
            <a:off x="9482328" y="3227832"/>
            <a:ext cx="1822399" cy="237744"/>
          </a:xfrm>
          <a:prstGeom prst="rect">
            <a:avLst/>
          </a:prstGeom>
          <a:noFill/>
          <a:ln/>
        </p:spPr>
        <p:txBody>
          <a:bodyPr wrap="square" lIns="0" tIns="0" rIns="0" bIns="0" rtlCol="0" anchor="ctr"/>
          <a:lstStyle/>
          <a:p>
            <a:pPr marL="0" indent="0" algn="l">
              <a:buNone/>
            </a:pPr>
            <a:r>
              <a:rPr lang="en-US" sz="1150" b="1" dirty="0">
                <a:solidFill>
                  <a:srgbClr val="0F172A"/>
                </a:solidFill>
                <a:latin typeface="Calibri" pitchFamily="34" charset="0"/>
                <a:ea typeface="Calibri" pitchFamily="34" charset="-122"/>
                <a:cs typeface="Calibri" pitchFamily="34" charset="-120"/>
              </a:rPr>
              <a:t>Contact &amp; deal created</a:t>
            </a:r>
            <a:endParaRPr lang="en-US" sz="1150" dirty="0"/>
          </a:p>
        </p:txBody>
      </p:sp>
      <p:sp>
        <p:nvSpPr>
          <p:cNvPr id="39" name="Text 37"/>
          <p:cNvSpPr/>
          <p:nvPr/>
        </p:nvSpPr>
        <p:spPr>
          <a:xfrm>
            <a:off x="9482328" y="3483864"/>
            <a:ext cx="1822399" cy="201168"/>
          </a:xfrm>
          <a:prstGeom prst="rect">
            <a:avLst/>
          </a:prstGeom>
          <a:noFill/>
          <a:ln/>
        </p:spPr>
        <p:txBody>
          <a:bodyPr wrap="square" lIns="0" tIns="0" rIns="0" bIns="0" rtlCol="0" anchor="ctr"/>
          <a:lstStyle/>
          <a:p>
            <a:pPr marL="0" indent="0" algn="l">
              <a:buNone/>
            </a:pPr>
            <a:r>
              <a:rPr lang="en-US" sz="1050" dirty="0">
                <a:solidFill>
                  <a:srgbClr val="475569"/>
                </a:solidFill>
                <a:latin typeface="Calibri" pitchFamily="34" charset="0"/>
                <a:ea typeface="Calibri" pitchFamily="34" charset="-122"/>
                <a:cs typeface="Calibri" pitchFamily="34" charset="-120"/>
              </a:rPr>
              <a:t>Stage: open</a:t>
            </a:r>
            <a:endParaRPr lang="en-US" sz="1050" dirty="0"/>
          </a:p>
        </p:txBody>
      </p:sp>
      <p:sp>
        <p:nvSpPr>
          <p:cNvPr id="40" name="Text 38"/>
          <p:cNvSpPr/>
          <p:nvPr/>
        </p:nvSpPr>
        <p:spPr>
          <a:xfrm>
            <a:off x="9482328" y="3685032"/>
            <a:ext cx="1822399" cy="201168"/>
          </a:xfrm>
          <a:prstGeom prst="rect">
            <a:avLst/>
          </a:prstGeom>
          <a:noFill/>
          <a:ln/>
        </p:spPr>
        <p:txBody>
          <a:bodyPr wrap="square" lIns="0" tIns="0" rIns="0" bIns="0" rtlCol="0" anchor="ctr"/>
          <a:lstStyle/>
          <a:p>
            <a:pPr marL="0" indent="0" algn="l">
              <a:buNone/>
            </a:pPr>
            <a:r>
              <a:rPr lang="en-US" sz="1050" dirty="0">
                <a:solidFill>
                  <a:srgbClr val="475569"/>
                </a:solidFill>
                <a:latin typeface="Calibri" pitchFamily="34" charset="0"/>
                <a:ea typeface="Calibri" pitchFamily="34" charset="-122"/>
                <a:cs typeface="Calibri" pitchFamily="34" charset="-120"/>
              </a:rPr>
              <a:t>Owner assigned</a:t>
            </a:r>
            <a:endParaRPr lang="en-US" sz="1050" dirty="0"/>
          </a:p>
        </p:txBody>
      </p:sp>
      <p:sp>
        <p:nvSpPr>
          <p:cNvPr id="41" name="Text 39"/>
          <p:cNvSpPr/>
          <p:nvPr/>
        </p:nvSpPr>
        <p:spPr>
          <a:xfrm>
            <a:off x="9482328" y="3977640"/>
            <a:ext cx="1822399" cy="548640"/>
          </a:xfrm>
          <a:prstGeom prst="rect">
            <a:avLst/>
          </a:prstGeom>
          <a:noFill/>
          <a:ln/>
        </p:spPr>
        <p:txBody>
          <a:bodyPr wrap="square" lIns="0" tIns="0" rIns="0" bIns="0" rtlCol="0" anchor="t"/>
          <a:lstStyle/>
          <a:p>
            <a:pPr marL="0" indent="0" algn="l">
              <a:lnSpc>
                <a:spcPct val="110000"/>
              </a:lnSpc>
              <a:buNone/>
            </a:pPr>
            <a:r>
              <a:rPr lang="en-US" sz="950" dirty="0">
                <a:solidFill>
                  <a:srgbClr val="64748B"/>
                </a:solidFill>
                <a:latin typeface="Calibri" pitchFamily="34" charset="0"/>
                <a:ea typeface="Calibri" pitchFamily="34" charset="-122"/>
                <a:cs typeface="Calibri" pitchFamily="34" charset="-120"/>
              </a:rPr>
              <a:t>From here your CRM does what it does best: long-term relationship, pipeline and revenue.</a:t>
            </a:r>
            <a:endParaRPr lang="en-US" sz="950" dirty="0"/>
          </a:p>
        </p:txBody>
      </p:sp>
      <p:sp>
        <p:nvSpPr>
          <p:cNvPr id="42" name="Shape 40"/>
          <p:cNvSpPr/>
          <p:nvPr/>
        </p:nvSpPr>
        <p:spPr>
          <a:xfrm>
            <a:off x="502920" y="4983480"/>
            <a:ext cx="11185855" cy="1371600"/>
          </a:xfrm>
          <a:prstGeom prst="roundRect">
            <a:avLst>
              <a:gd name="adj" fmla="val 8000"/>
            </a:avLst>
          </a:prstGeom>
          <a:solidFill>
            <a:srgbClr val="0F172A"/>
          </a:solidFill>
          <a:ln/>
        </p:spPr>
        <p:txBody>
          <a:bodyPr/>
          <a:lstStyle/>
          <a:p>
            <a:endParaRPr lang="en-US"/>
          </a:p>
        </p:txBody>
      </p:sp>
      <p:sp>
        <p:nvSpPr>
          <p:cNvPr id="43" name="Text 41"/>
          <p:cNvSpPr/>
          <p:nvPr/>
        </p:nvSpPr>
        <p:spPr>
          <a:xfrm>
            <a:off x="822960" y="5212080"/>
            <a:ext cx="10545775" cy="457200"/>
          </a:xfrm>
          <a:prstGeom prst="rect">
            <a:avLst/>
          </a:prstGeom>
          <a:noFill/>
          <a:ln/>
        </p:spPr>
        <p:txBody>
          <a:bodyPr wrap="square" lIns="0" tIns="0" rIns="0" bIns="0" rtlCol="0" anchor="t"/>
          <a:lstStyle/>
          <a:p>
            <a:pPr marL="0" indent="0" algn="l">
              <a:buNone/>
            </a:pPr>
            <a:r>
              <a:rPr lang="en-US" sz="1900" b="1" dirty="0">
                <a:solidFill>
                  <a:srgbClr val="FFFFFF"/>
                </a:solidFill>
                <a:latin typeface="Calibri" pitchFamily="34" charset="0"/>
                <a:ea typeface="Calibri" pitchFamily="34" charset="-122"/>
                <a:cs typeface="Calibri" pitchFamily="34" charset="-120"/>
              </a:rPr>
              <a:t>Both hold a contact. </a:t>
            </a:r>
            <a:r>
              <a:rPr lang="en-US" sz="1900" b="1" dirty="0">
                <a:solidFill>
                  <a:srgbClr val="34D399"/>
                </a:solidFill>
                <a:latin typeface="Calibri" pitchFamily="34" charset="0"/>
                <a:ea typeface="Calibri" pitchFamily="34" charset="-122"/>
                <a:cs typeface="Calibri" pitchFamily="34" charset="-120"/>
              </a:rPr>
              <a:t>Only one ran the exhibition that produced it.</a:t>
            </a:r>
            <a:endParaRPr lang="en-US" sz="1900" dirty="0"/>
          </a:p>
        </p:txBody>
      </p:sp>
      <p:sp>
        <p:nvSpPr>
          <p:cNvPr id="44" name="Text 42"/>
          <p:cNvSpPr/>
          <p:nvPr/>
        </p:nvSpPr>
        <p:spPr>
          <a:xfrm>
            <a:off x="822960" y="5742432"/>
            <a:ext cx="10545775" cy="502920"/>
          </a:xfrm>
          <a:prstGeom prst="rect">
            <a:avLst/>
          </a:prstGeom>
          <a:noFill/>
          <a:ln/>
        </p:spPr>
        <p:txBody>
          <a:bodyPr wrap="square" lIns="0" tIns="0" rIns="0" bIns="0" rtlCol="0" anchor="t"/>
          <a:lstStyle/>
          <a:p>
            <a:pPr marL="0" indent="0" algn="l">
              <a:lnSpc>
                <a:spcPct val="112000"/>
              </a:lnSpc>
              <a:buNone/>
            </a:pPr>
            <a:r>
              <a:rPr lang="en-US" sz="1250" dirty="0">
                <a:solidFill>
                  <a:srgbClr val="CBD5E1"/>
                </a:solidFill>
                <a:latin typeface="Calibri" pitchFamily="34" charset="0"/>
                <a:ea typeface="Calibri" pitchFamily="34" charset="-122"/>
                <a:cs typeface="Calibri" pitchFamily="34" charset="-120"/>
              </a:rPr>
              <a:t>A CRM begins with the finished lead. Everything before that clean record, the plan, the floor and the follow-through, is the ExpoLead job. You then take that clean lead into whatever CRM you already use.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6" name="Text 4"/>
          <p:cNvSpPr/>
          <p:nvPr/>
        </p:nvSpPr>
        <p:spPr>
          <a:xfrm>
            <a:off x="502920" y="320040"/>
            <a:ext cx="2011680" cy="329184"/>
          </a:xfrm>
          <a:prstGeom prst="rect">
            <a:avLst/>
          </a:prstGeom>
          <a:noFill/>
          <a:ln/>
        </p:spPr>
        <p:txBody>
          <a:bodyPr wrap="square" lIns="0" tIns="0" rIns="0" bIns="0" rtlCol="0" anchor="ctr"/>
          <a:lstStyle/>
          <a:p>
            <a:pPr marL="0" indent="0" algn="l">
              <a:buNone/>
            </a:pPr>
            <a:r>
              <a:rPr lang="en-US" sz="1500" b="1" dirty="0">
                <a:solidFill>
                  <a:srgbClr val="0F172A"/>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7162495" y="384048"/>
            <a:ext cx="4526280" cy="274320"/>
          </a:xfrm>
          <a:prstGeom prst="rect">
            <a:avLst/>
          </a:prstGeom>
          <a:noFill/>
          <a:ln/>
        </p:spPr>
        <p:txBody>
          <a:bodyPr wrap="square" lIns="0" tIns="0" rIns="0" bIns="0" rtlCol="0" anchor="ctr"/>
          <a:lstStyle/>
          <a:p>
            <a:pPr marL="0" indent="0" algn="r">
              <a:buNone/>
            </a:pPr>
            <a:r>
              <a:rPr lang="en-US" sz="1000" b="1" kern="0" spc="140" dirty="0">
                <a:solidFill>
                  <a:srgbClr val="94A3B8"/>
                </a:solidFill>
                <a:latin typeface="Calibri" pitchFamily="34" charset="0"/>
                <a:ea typeface="Calibri" pitchFamily="34" charset="-122"/>
                <a:cs typeface="Calibri" pitchFamily="34" charset="-120"/>
              </a:rPr>
              <a:t>THE EXHIBITION WORKFLOW</a:t>
            </a:r>
            <a:endParaRPr lang="en-US" sz="1000" dirty="0"/>
          </a:p>
        </p:txBody>
      </p:sp>
      <p:sp>
        <p:nvSpPr>
          <p:cNvPr id="8" name="Text 6"/>
          <p:cNvSpPr/>
          <p:nvPr/>
        </p:nvSpPr>
        <p:spPr>
          <a:xfrm>
            <a:off x="502920" y="960120"/>
            <a:ext cx="8229600" cy="274320"/>
          </a:xfrm>
          <a:prstGeom prst="rect">
            <a:avLst/>
          </a:prstGeom>
          <a:noFill/>
          <a:ln/>
        </p:spPr>
        <p:txBody>
          <a:bodyPr wrap="square" lIns="0" tIns="0" rIns="0" bIns="0" rtlCol="0" anchor="ctr"/>
          <a:lstStyle/>
          <a:p>
            <a:pPr marL="0" indent="0" algn="l">
              <a:buNone/>
            </a:pPr>
            <a:r>
              <a:rPr lang="en-US" sz="1100" b="1" kern="0" spc="220" dirty="0">
                <a:solidFill>
                  <a:srgbClr val="059669"/>
                </a:solidFill>
                <a:latin typeface="Calibri" pitchFamily="34" charset="0"/>
                <a:ea typeface="Calibri" pitchFamily="34" charset="-122"/>
                <a:cs typeface="Calibri" pitchFamily="34" charset="-120"/>
              </a:rPr>
              <a:t>THE MISSING LAYER</a:t>
            </a:r>
            <a:endParaRPr lang="en-US" sz="1100" dirty="0"/>
          </a:p>
        </p:txBody>
      </p:sp>
      <p:sp>
        <p:nvSpPr>
          <p:cNvPr id="9" name="Text 7"/>
          <p:cNvSpPr/>
          <p:nvPr/>
        </p:nvSpPr>
        <p:spPr>
          <a:xfrm>
            <a:off x="502920" y="1207008"/>
            <a:ext cx="11064240" cy="822960"/>
          </a:xfrm>
          <a:prstGeom prst="rect">
            <a:avLst/>
          </a:prstGeom>
          <a:noFill/>
          <a:ln/>
        </p:spPr>
        <p:txBody>
          <a:bodyPr wrap="square" lIns="0" tIns="0" rIns="0" bIns="0" rtlCol="0" anchor="t"/>
          <a:lstStyle/>
          <a:p>
            <a:pPr marL="0" indent="0" algn="l">
              <a:lnSpc>
                <a:spcPct val="102000"/>
              </a:lnSpc>
              <a:buNone/>
            </a:pPr>
            <a:r>
              <a:rPr lang="en-US" sz="2300" b="1" dirty="0">
                <a:solidFill>
                  <a:srgbClr val="0F172A"/>
                </a:solidFill>
                <a:latin typeface="Calibri" pitchFamily="34" charset="0"/>
                <a:ea typeface="Calibri" pitchFamily="34" charset="-122"/>
                <a:cs typeface="Calibri" pitchFamily="34" charset="-120"/>
              </a:rPr>
              <a:t>ExpoLead is the </a:t>
            </a:r>
            <a:r>
              <a:rPr lang="en-US" sz="2300" b="1" dirty="0">
                <a:solidFill>
                  <a:srgbClr val="059669"/>
                </a:solidFill>
                <a:latin typeface="Calibri" pitchFamily="34" charset="0"/>
                <a:ea typeface="Calibri" pitchFamily="34" charset="-122"/>
                <a:cs typeface="Calibri" pitchFamily="34" charset="-120"/>
              </a:rPr>
              <a:t>missing layer</a:t>
            </a:r>
            <a:r>
              <a:rPr lang="en-US" sz="2300" b="1" dirty="0">
                <a:solidFill>
                  <a:srgbClr val="0F172A"/>
                </a:solidFill>
                <a:latin typeface="Calibri" pitchFamily="34" charset="0"/>
                <a:ea typeface="Calibri" pitchFamily="34" charset="-122"/>
                <a:cs typeface="Calibri" pitchFamily="34" charset="-120"/>
              </a:rPr>
              <a:t> between the exhibition floor and your CRM.</a:t>
            </a:r>
            <a:endParaRPr lang="en-US" sz="2300" dirty="0"/>
          </a:p>
        </p:txBody>
      </p:sp>
      <p:sp>
        <p:nvSpPr>
          <p:cNvPr id="10" name="Text 8"/>
          <p:cNvSpPr/>
          <p:nvPr/>
        </p:nvSpPr>
        <p:spPr>
          <a:xfrm>
            <a:off x="502920" y="2103120"/>
            <a:ext cx="10972800" cy="320040"/>
          </a:xfrm>
          <a:prstGeom prst="rect">
            <a:avLst/>
          </a:prstGeom>
          <a:noFill/>
          <a:ln/>
        </p:spPr>
        <p:txBody>
          <a:bodyPr wrap="square" lIns="0" tIns="0" rIns="0" bIns="0" rtlCol="0" anchor="t"/>
          <a:lstStyle/>
          <a:p>
            <a:pPr marL="0" indent="0" algn="l">
              <a:buNone/>
            </a:pPr>
            <a:r>
              <a:rPr lang="en-US" sz="1300" dirty="0">
                <a:solidFill>
                  <a:srgbClr val="475569"/>
                </a:solidFill>
                <a:latin typeface="Calibri" pitchFamily="34" charset="0"/>
                <a:ea typeface="Calibri" pitchFamily="34" charset="-122"/>
                <a:cs typeface="Calibri" pitchFamily="34" charset="-120"/>
              </a:rPr>
              <a:t>It captures opportunities on the floor. Your CRM manages them afterwards. Different purpose, different time, complete together.</a:t>
            </a:r>
            <a:endParaRPr lang="en-US" sz="1300" dirty="0"/>
          </a:p>
        </p:txBody>
      </p:sp>
      <p:sp>
        <p:nvSpPr>
          <p:cNvPr id="11" name="Text 9"/>
          <p:cNvSpPr/>
          <p:nvPr/>
        </p:nvSpPr>
        <p:spPr>
          <a:xfrm>
            <a:off x="502920" y="2560320"/>
            <a:ext cx="5486400" cy="237744"/>
          </a:xfrm>
          <a:prstGeom prst="rect">
            <a:avLst/>
          </a:prstGeom>
          <a:noFill/>
          <a:ln/>
        </p:spPr>
        <p:txBody>
          <a:bodyPr wrap="square" lIns="0" tIns="0" rIns="0" bIns="0" rtlCol="0" anchor="ctr"/>
          <a:lstStyle/>
          <a:p>
            <a:pPr marL="0" indent="0">
              <a:buNone/>
            </a:pPr>
            <a:r>
              <a:rPr lang="en-US" sz="1100" b="1" kern="0" spc="100" dirty="0">
                <a:solidFill>
                  <a:srgbClr val="B91C1C"/>
                </a:solidFill>
                <a:latin typeface="Calibri" pitchFamily="34" charset="0"/>
                <a:ea typeface="Calibri" pitchFamily="34" charset="-122"/>
                <a:cs typeface="Calibri" pitchFamily="34" charset="-120"/>
              </a:rPr>
              <a:t>WITHOUT EXPOLEAD</a:t>
            </a:r>
            <a:endParaRPr lang="en-US" sz="1100" dirty="0"/>
          </a:p>
        </p:txBody>
      </p:sp>
      <p:sp>
        <p:nvSpPr>
          <p:cNvPr id="12" name="Shape 10"/>
          <p:cNvSpPr/>
          <p:nvPr/>
        </p:nvSpPr>
        <p:spPr>
          <a:xfrm>
            <a:off x="502920" y="2816352"/>
            <a:ext cx="1394199" cy="603504"/>
          </a:xfrm>
          <a:prstGeom prst="roundRect">
            <a:avLst>
              <a:gd name="adj" fmla="val 10606"/>
            </a:avLst>
          </a:prstGeom>
          <a:solidFill>
            <a:srgbClr val="FFFFFF"/>
          </a:solidFill>
          <a:ln w="12700">
            <a:solidFill>
              <a:srgbClr val="E2E8F0"/>
            </a:solidFill>
            <a:prstDash val="solid"/>
          </a:ln>
        </p:spPr>
        <p:txBody>
          <a:bodyPr/>
          <a:lstStyle/>
          <a:p>
            <a:endParaRPr lang="en-US"/>
          </a:p>
        </p:txBody>
      </p:sp>
      <p:sp>
        <p:nvSpPr>
          <p:cNvPr id="13" name="Text 11"/>
          <p:cNvSpPr/>
          <p:nvPr/>
        </p:nvSpPr>
        <p:spPr>
          <a:xfrm>
            <a:off x="530352"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475569"/>
                </a:solidFill>
                <a:latin typeface="Calibri" pitchFamily="34" charset="0"/>
                <a:ea typeface="Calibri" pitchFamily="34" charset="-122"/>
                <a:cs typeface="Calibri" pitchFamily="34" charset="-120"/>
              </a:rPr>
              <a:t>Visit booth</a:t>
            </a:r>
            <a:endParaRPr lang="en-US" sz="870" dirty="0"/>
          </a:p>
        </p:txBody>
      </p:sp>
      <p:sp>
        <p:nvSpPr>
          <p:cNvPr id="14" name="Text 12"/>
          <p:cNvSpPr/>
          <p:nvPr/>
        </p:nvSpPr>
        <p:spPr>
          <a:xfrm>
            <a:off x="1897119" y="2816352"/>
            <a:ext cx="237744" cy="603504"/>
          </a:xfrm>
          <a:prstGeom prst="rect">
            <a:avLst/>
          </a:prstGeom>
          <a:noFill/>
          <a:ln/>
        </p:spPr>
        <p:txBody>
          <a:bodyPr wrap="square" lIns="0" tIns="0" rIns="0" bIns="0" rtlCol="0" anchor="ctr"/>
          <a:lstStyle/>
          <a:p>
            <a:pPr marL="0" indent="0" algn="ctr">
              <a:buNone/>
            </a:pPr>
            <a:r>
              <a:rPr lang="en-US" sz="1100" b="1" dirty="0">
                <a:solidFill>
                  <a:srgbClr val="E2E8F0"/>
                </a:solidFill>
                <a:latin typeface="Calibri" pitchFamily="34" charset="0"/>
                <a:ea typeface="Calibri" pitchFamily="34" charset="-122"/>
                <a:cs typeface="Calibri" pitchFamily="34" charset="-120"/>
              </a:rPr>
              <a:t>→</a:t>
            </a:r>
            <a:endParaRPr lang="en-US" sz="1100" dirty="0"/>
          </a:p>
        </p:txBody>
      </p:sp>
      <p:sp>
        <p:nvSpPr>
          <p:cNvPr id="15" name="Shape 13"/>
          <p:cNvSpPr/>
          <p:nvPr/>
        </p:nvSpPr>
        <p:spPr>
          <a:xfrm>
            <a:off x="2134863" y="2816352"/>
            <a:ext cx="1394199" cy="603504"/>
          </a:xfrm>
          <a:prstGeom prst="roundRect">
            <a:avLst>
              <a:gd name="adj" fmla="val 10606"/>
            </a:avLst>
          </a:prstGeom>
          <a:solidFill>
            <a:srgbClr val="FFFFFF"/>
          </a:solidFill>
          <a:ln w="12700">
            <a:solidFill>
              <a:srgbClr val="E2E8F0"/>
            </a:solidFill>
            <a:prstDash val="solid"/>
          </a:ln>
        </p:spPr>
        <p:txBody>
          <a:bodyPr/>
          <a:lstStyle/>
          <a:p>
            <a:endParaRPr lang="en-US"/>
          </a:p>
        </p:txBody>
      </p:sp>
      <p:sp>
        <p:nvSpPr>
          <p:cNvPr id="16" name="Text 14"/>
          <p:cNvSpPr/>
          <p:nvPr/>
        </p:nvSpPr>
        <p:spPr>
          <a:xfrm>
            <a:off x="2162295"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475569"/>
                </a:solidFill>
                <a:latin typeface="Calibri" pitchFamily="34" charset="0"/>
                <a:ea typeface="Calibri" pitchFamily="34" charset="-122"/>
                <a:cs typeface="Calibri" pitchFamily="34" charset="-120"/>
              </a:rPr>
              <a:t>Talk</a:t>
            </a:r>
            <a:endParaRPr lang="en-US" sz="870" dirty="0"/>
          </a:p>
        </p:txBody>
      </p:sp>
      <p:sp>
        <p:nvSpPr>
          <p:cNvPr id="17" name="Text 15"/>
          <p:cNvSpPr/>
          <p:nvPr/>
        </p:nvSpPr>
        <p:spPr>
          <a:xfrm>
            <a:off x="3529061" y="2816352"/>
            <a:ext cx="237744" cy="603504"/>
          </a:xfrm>
          <a:prstGeom prst="rect">
            <a:avLst/>
          </a:prstGeom>
          <a:noFill/>
          <a:ln/>
        </p:spPr>
        <p:txBody>
          <a:bodyPr wrap="square" lIns="0" tIns="0" rIns="0" bIns="0" rtlCol="0" anchor="ctr"/>
          <a:lstStyle/>
          <a:p>
            <a:pPr marL="0" indent="0" algn="ctr">
              <a:buNone/>
            </a:pPr>
            <a:r>
              <a:rPr lang="en-US" sz="1100" b="1" dirty="0">
                <a:solidFill>
                  <a:srgbClr val="E2E8F0"/>
                </a:solidFill>
                <a:latin typeface="Calibri" pitchFamily="34" charset="0"/>
                <a:ea typeface="Calibri" pitchFamily="34" charset="-122"/>
                <a:cs typeface="Calibri" pitchFamily="34" charset="-120"/>
              </a:rPr>
              <a:t>→</a:t>
            </a:r>
            <a:endParaRPr lang="en-US" sz="1100" dirty="0"/>
          </a:p>
        </p:txBody>
      </p:sp>
      <p:sp>
        <p:nvSpPr>
          <p:cNvPr id="18" name="Shape 16"/>
          <p:cNvSpPr/>
          <p:nvPr/>
        </p:nvSpPr>
        <p:spPr>
          <a:xfrm>
            <a:off x="3766805" y="2816352"/>
            <a:ext cx="1394199" cy="603504"/>
          </a:xfrm>
          <a:prstGeom prst="roundRect">
            <a:avLst>
              <a:gd name="adj" fmla="val 10606"/>
            </a:avLst>
          </a:prstGeom>
          <a:solidFill>
            <a:srgbClr val="FFFFFF"/>
          </a:solidFill>
          <a:ln w="12700">
            <a:solidFill>
              <a:srgbClr val="E2E8F0"/>
            </a:solidFill>
            <a:prstDash val="solid"/>
          </a:ln>
        </p:spPr>
        <p:txBody>
          <a:bodyPr/>
          <a:lstStyle/>
          <a:p>
            <a:endParaRPr lang="en-US"/>
          </a:p>
        </p:txBody>
      </p:sp>
      <p:sp>
        <p:nvSpPr>
          <p:cNvPr id="19" name="Text 17"/>
          <p:cNvSpPr/>
          <p:nvPr/>
        </p:nvSpPr>
        <p:spPr>
          <a:xfrm>
            <a:off x="3794237"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475569"/>
                </a:solidFill>
                <a:latin typeface="Calibri" pitchFamily="34" charset="0"/>
                <a:ea typeface="Calibri" pitchFamily="34" charset="-122"/>
                <a:cs typeface="Calibri" pitchFamily="34" charset="-120"/>
              </a:rPr>
              <a:t>Collect card</a:t>
            </a:r>
            <a:endParaRPr lang="en-US" sz="870" dirty="0"/>
          </a:p>
        </p:txBody>
      </p:sp>
      <p:sp>
        <p:nvSpPr>
          <p:cNvPr id="20" name="Text 18"/>
          <p:cNvSpPr/>
          <p:nvPr/>
        </p:nvSpPr>
        <p:spPr>
          <a:xfrm>
            <a:off x="5161004" y="2816352"/>
            <a:ext cx="237744" cy="603504"/>
          </a:xfrm>
          <a:prstGeom prst="rect">
            <a:avLst/>
          </a:prstGeom>
          <a:noFill/>
          <a:ln/>
        </p:spPr>
        <p:txBody>
          <a:bodyPr wrap="square" lIns="0" tIns="0" rIns="0" bIns="0" rtlCol="0" anchor="ctr"/>
          <a:lstStyle/>
          <a:p>
            <a:pPr marL="0" indent="0" algn="ctr">
              <a:buNone/>
            </a:pPr>
            <a:r>
              <a:rPr lang="en-US" sz="1100" b="1" dirty="0">
                <a:solidFill>
                  <a:srgbClr val="E2E8F0"/>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5398748" y="2816352"/>
            <a:ext cx="1394199" cy="603504"/>
          </a:xfrm>
          <a:prstGeom prst="roundRect">
            <a:avLst>
              <a:gd name="adj" fmla="val 10606"/>
            </a:avLst>
          </a:prstGeom>
          <a:solidFill>
            <a:srgbClr val="FFFFFF"/>
          </a:solidFill>
          <a:ln w="12700">
            <a:solidFill>
              <a:srgbClr val="E2E8F0"/>
            </a:solidFill>
            <a:prstDash val="solid"/>
          </a:ln>
        </p:spPr>
        <p:txBody>
          <a:bodyPr/>
          <a:lstStyle/>
          <a:p>
            <a:endParaRPr lang="en-US"/>
          </a:p>
        </p:txBody>
      </p:sp>
      <p:sp>
        <p:nvSpPr>
          <p:cNvPr id="22" name="Text 20"/>
          <p:cNvSpPr/>
          <p:nvPr/>
        </p:nvSpPr>
        <p:spPr>
          <a:xfrm>
            <a:off x="5426180"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475569"/>
                </a:solidFill>
                <a:latin typeface="Calibri" pitchFamily="34" charset="0"/>
                <a:ea typeface="Calibri" pitchFamily="34" charset="-122"/>
                <a:cs typeface="Calibri" pitchFamily="34" charset="-120"/>
              </a:rPr>
              <a:t>Notebook &amp; photos</a:t>
            </a:r>
            <a:endParaRPr lang="en-US" sz="870" dirty="0"/>
          </a:p>
        </p:txBody>
      </p:sp>
      <p:sp>
        <p:nvSpPr>
          <p:cNvPr id="23" name="Text 21"/>
          <p:cNvSpPr/>
          <p:nvPr/>
        </p:nvSpPr>
        <p:spPr>
          <a:xfrm>
            <a:off x="6792947" y="2816352"/>
            <a:ext cx="237744" cy="603504"/>
          </a:xfrm>
          <a:prstGeom prst="rect">
            <a:avLst/>
          </a:prstGeom>
          <a:noFill/>
          <a:ln/>
        </p:spPr>
        <p:txBody>
          <a:bodyPr wrap="square" lIns="0" tIns="0" rIns="0" bIns="0" rtlCol="0" anchor="ctr"/>
          <a:lstStyle/>
          <a:p>
            <a:pPr marL="0" indent="0" algn="ctr">
              <a:buNone/>
            </a:pPr>
            <a:r>
              <a:rPr lang="en-US" sz="1100" b="1" dirty="0">
                <a:solidFill>
                  <a:srgbClr val="E2E8F0"/>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7030691" y="2816352"/>
            <a:ext cx="1394199" cy="603504"/>
          </a:xfrm>
          <a:prstGeom prst="roundRect">
            <a:avLst>
              <a:gd name="adj" fmla="val 10606"/>
            </a:avLst>
          </a:prstGeom>
          <a:solidFill>
            <a:srgbClr val="FFFFFF"/>
          </a:solidFill>
          <a:ln w="12700">
            <a:solidFill>
              <a:srgbClr val="E2E8F0"/>
            </a:solidFill>
            <a:prstDash val="solid"/>
          </a:ln>
        </p:spPr>
        <p:txBody>
          <a:bodyPr/>
          <a:lstStyle/>
          <a:p>
            <a:endParaRPr lang="en-US"/>
          </a:p>
        </p:txBody>
      </p:sp>
      <p:sp>
        <p:nvSpPr>
          <p:cNvPr id="25" name="Text 23"/>
          <p:cNvSpPr/>
          <p:nvPr/>
        </p:nvSpPr>
        <p:spPr>
          <a:xfrm>
            <a:off x="7058123"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475569"/>
                </a:solidFill>
                <a:latin typeface="Calibri" pitchFamily="34" charset="0"/>
                <a:ea typeface="Calibri" pitchFamily="34" charset="-122"/>
                <a:cs typeface="Calibri" pitchFamily="34" charset="-120"/>
              </a:rPr>
              <a:t>Back to office</a:t>
            </a:r>
            <a:endParaRPr lang="en-US" sz="870" dirty="0"/>
          </a:p>
        </p:txBody>
      </p:sp>
      <p:sp>
        <p:nvSpPr>
          <p:cNvPr id="26" name="Text 24"/>
          <p:cNvSpPr/>
          <p:nvPr/>
        </p:nvSpPr>
        <p:spPr>
          <a:xfrm>
            <a:off x="8424890" y="2816352"/>
            <a:ext cx="237744" cy="603504"/>
          </a:xfrm>
          <a:prstGeom prst="rect">
            <a:avLst/>
          </a:prstGeom>
          <a:noFill/>
          <a:ln/>
        </p:spPr>
        <p:txBody>
          <a:bodyPr wrap="square" lIns="0" tIns="0" rIns="0" bIns="0" rtlCol="0" anchor="ctr"/>
          <a:lstStyle/>
          <a:p>
            <a:pPr marL="0" indent="0" algn="ctr">
              <a:buNone/>
            </a:pPr>
            <a:r>
              <a:rPr lang="en-US" sz="1100" b="1" dirty="0">
                <a:solidFill>
                  <a:srgbClr val="E2E8F0"/>
                </a:solidFill>
                <a:latin typeface="Calibri" pitchFamily="34" charset="0"/>
                <a:ea typeface="Calibri" pitchFamily="34" charset="-122"/>
                <a:cs typeface="Calibri" pitchFamily="34" charset="-120"/>
              </a:rPr>
              <a:t>→</a:t>
            </a:r>
            <a:endParaRPr lang="en-US" sz="1100" dirty="0"/>
          </a:p>
        </p:txBody>
      </p:sp>
      <p:sp>
        <p:nvSpPr>
          <p:cNvPr id="27" name="Shape 25"/>
          <p:cNvSpPr/>
          <p:nvPr/>
        </p:nvSpPr>
        <p:spPr>
          <a:xfrm>
            <a:off x="8662634" y="2816352"/>
            <a:ext cx="1394199" cy="603504"/>
          </a:xfrm>
          <a:prstGeom prst="roundRect">
            <a:avLst>
              <a:gd name="adj" fmla="val 10606"/>
            </a:avLst>
          </a:prstGeom>
          <a:solidFill>
            <a:srgbClr val="FFFFFF"/>
          </a:solidFill>
          <a:ln w="12700">
            <a:solidFill>
              <a:srgbClr val="E2E8F0"/>
            </a:solidFill>
            <a:prstDash val="solid"/>
          </a:ln>
        </p:spPr>
        <p:txBody>
          <a:bodyPr/>
          <a:lstStyle/>
          <a:p>
            <a:endParaRPr lang="en-US"/>
          </a:p>
        </p:txBody>
      </p:sp>
      <p:sp>
        <p:nvSpPr>
          <p:cNvPr id="28" name="Text 26"/>
          <p:cNvSpPr/>
          <p:nvPr/>
        </p:nvSpPr>
        <p:spPr>
          <a:xfrm>
            <a:off x="8690066"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475569"/>
                </a:solidFill>
                <a:latin typeface="Calibri" pitchFamily="34" charset="0"/>
                <a:ea typeface="Calibri" pitchFamily="34" charset="-122"/>
                <a:cs typeface="Calibri" pitchFamily="34" charset="-120"/>
              </a:rPr>
              <a:t>Manual entry</a:t>
            </a:r>
            <a:endParaRPr lang="en-US" sz="870" dirty="0"/>
          </a:p>
        </p:txBody>
      </p:sp>
      <p:sp>
        <p:nvSpPr>
          <p:cNvPr id="29" name="Text 27"/>
          <p:cNvSpPr/>
          <p:nvPr/>
        </p:nvSpPr>
        <p:spPr>
          <a:xfrm>
            <a:off x="10056832" y="2816352"/>
            <a:ext cx="237744" cy="603504"/>
          </a:xfrm>
          <a:prstGeom prst="rect">
            <a:avLst/>
          </a:prstGeom>
          <a:noFill/>
          <a:ln/>
        </p:spPr>
        <p:txBody>
          <a:bodyPr wrap="square" lIns="0" tIns="0" rIns="0" bIns="0" rtlCol="0" anchor="ctr"/>
          <a:lstStyle/>
          <a:p>
            <a:pPr marL="0" indent="0" algn="ctr">
              <a:buNone/>
            </a:pPr>
            <a:r>
              <a:rPr lang="en-US" sz="1100" b="1" dirty="0">
                <a:solidFill>
                  <a:srgbClr val="E2E8F0"/>
                </a:solidFill>
                <a:latin typeface="Calibri" pitchFamily="34" charset="0"/>
                <a:ea typeface="Calibri" pitchFamily="34" charset="-122"/>
                <a:cs typeface="Calibri" pitchFamily="34" charset="-120"/>
              </a:rPr>
              <a:t>→</a:t>
            </a:r>
            <a:endParaRPr lang="en-US" sz="1100" dirty="0"/>
          </a:p>
        </p:txBody>
      </p:sp>
      <p:sp>
        <p:nvSpPr>
          <p:cNvPr id="30" name="Shape 28"/>
          <p:cNvSpPr/>
          <p:nvPr/>
        </p:nvSpPr>
        <p:spPr>
          <a:xfrm>
            <a:off x="10294576" y="2816352"/>
            <a:ext cx="1394199" cy="603504"/>
          </a:xfrm>
          <a:prstGeom prst="roundRect">
            <a:avLst>
              <a:gd name="adj" fmla="val 10606"/>
            </a:avLst>
          </a:prstGeom>
          <a:solidFill>
            <a:srgbClr val="FEF2F2"/>
          </a:solidFill>
          <a:ln w="12700">
            <a:solidFill>
              <a:srgbClr val="FECACA"/>
            </a:solidFill>
            <a:prstDash val="solid"/>
          </a:ln>
        </p:spPr>
        <p:txBody>
          <a:bodyPr/>
          <a:lstStyle/>
          <a:p>
            <a:endParaRPr lang="en-US"/>
          </a:p>
        </p:txBody>
      </p:sp>
      <p:sp>
        <p:nvSpPr>
          <p:cNvPr id="31" name="Text 29"/>
          <p:cNvSpPr/>
          <p:nvPr/>
        </p:nvSpPr>
        <p:spPr>
          <a:xfrm>
            <a:off x="10322008" y="2816352"/>
            <a:ext cx="1339335" cy="603504"/>
          </a:xfrm>
          <a:prstGeom prst="rect">
            <a:avLst/>
          </a:prstGeom>
          <a:noFill/>
          <a:ln/>
        </p:spPr>
        <p:txBody>
          <a:bodyPr wrap="square" lIns="0" tIns="0" rIns="0" bIns="0" rtlCol="0" anchor="ctr"/>
          <a:lstStyle/>
          <a:p>
            <a:pPr marL="0" indent="0" algn="ctr">
              <a:lnSpc>
                <a:spcPct val="95000"/>
              </a:lnSpc>
              <a:buNone/>
            </a:pPr>
            <a:r>
              <a:rPr lang="en-US" sz="870" b="1" dirty="0">
                <a:solidFill>
                  <a:srgbClr val="B91C1C"/>
                </a:solidFill>
                <a:latin typeface="Calibri" pitchFamily="34" charset="0"/>
                <a:ea typeface="Calibri" pitchFamily="34" charset="-122"/>
                <a:cs typeface="Calibri" pitchFamily="34" charset="-120"/>
              </a:rPr>
              <a:t>Lost &amp; missed leads</a:t>
            </a:r>
            <a:endParaRPr lang="en-US" sz="870" dirty="0"/>
          </a:p>
        </p:txBody>
      </p:sp>
      <p:sp>
        <p:nvSpPr>
          <p:cNvPr id="32" name="Text 30"/>
          <p:cNvSpPr/>
          <p:nvPr/>
        </p:nvSpPr>
        <p:spPr>
          <a:xfrm>
            <a:off x="502920" y="3730752"/>
            <a:ext cx="5486400" cy="237744"/>
          </a:xfrm>
          <a:prstGeom prst="rect">
            <a:avLst/>
          </a:prstGeom>
          <a:noFill/>
          <a:ln/>
        </p:spPr>
        <p:txBody>
          <a:bodyPr wrap="square" lIns="0" tIns="0" rIns="0" bIns="0" rtlCol="0" anchor="ctr"/>
          <a:lstStyle/>
          <a:p>
            <a:pPr marL="0" indent="0">
              <a:buNone/>
            </a:pPr>
            <a:r>
              <a:rPr lang="en-US" sz="1100" b="1" kern="0" spc="100" dirty="0">
                <a:solidFill>
                  <a:srgbClr val="047857"/>
                </a:solidFill>
                <a:latin typeface="Calibri" pitchFamily="34" charset="0"/>
                <a:ea typeface="Calibri" pitchFamily="34" charset="-122"/>
                <a:cs typeface="Calibri" pitchFamily="34" charset="-120"/>
              </a:rPr>
              <a:t>WITH EXPOLEAD</a:t>
            </a:r>
            <a:endParaRPr lang="en-US" sz="1100" dirty="0"/>
          </a:p>
        </p:txBody>
      </p:sp>
      <p:sp>
        <p:nvSpPr>
          <p:cNvPr id="33" name="Shape 31"/>
          <p:cNvSpPr/>
          <p:nvPr/>
        </p:nvSpPr>
        <p:spPr>
          <a:xfrm>
            <a:off x="502920"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34" name="Text 32"/>
          <p:cNvSpPr/>
          <p:nvPr/>
        </p:nvSpPr>
        <p:spPr>
          <a:xfrm>
            <a:off x="530352"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Visit booth</a:t>
            </a:r>
            <a:endParaRPr lang="en-US" sz="870" dirty="0"/>
          </a:p>
        </p:txBody>
      </p:sp>
      <p:sp>
        <p:nvSpPr>
          <p:cNvPr id="35" name="Text 33"/>
          <p:cNvSpPr/>
          <p:nvPr/>
        </p:nvSpPr>
        <p:spPr>
          <a:xfrm>
            <a:off x="1693126"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36" name="Shape 34"/>
          <p:cNvSpPr/>
          <p:nvPr/>
        </p:nvSpPr>
        <p:spPr>
          <a:xfrm>
            <a:off x="1930870"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37" name="Text 35"/>
          <p:cNvSpPr/>
          <p:nvPr/>
        </p:nvSpPr>
        <p:spPr>
          <a:xfrm>
            <a:off x="1958302"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Open ExpoLead</a:t>
            </a:r>
            <a:endParaRPr lang="en-US" sz="870" dirty="0"/>
          </a:p>
        </p:txBody>
      </p:sp>
      <p:sp>
        <p:nvSpPr>
          <p:cNvPr id="38" name="Text 36"/>
          <p:cNvSpPr/>
          <p:nvPr/>
        </p:nvSpPr>
        <p:spPr>
          <a:xfrm>
            <a:off x="3121076"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39" name="Shape 37"/>
          <p:cNvSpPr/>
          <p:nvPr/>
        </p:nvSpPr>
        <p:spPr>
          <a:xfrm>
            <a:off x="3358820"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40" name="Text 38"/>
          <p:cNvSpPr/>
          <p:nvPr/>
        </p:nvSpPr>
        <p:spPr>
          <a:xfrm>
            <a:off x="3386252"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Capture info</a:t>
            </a:r>
            <a:endParaRPr lang="en-US" sz="870" dirty="0"/>
          </a:p>
        </p:txBody>
      </p:sp>
      <p:sp>
        <p:nvSpPr>
          <p:cNvPr id="41" name="Text 39"/>
          <p:cNvSpPr/>
          <p:nvPr/>
        </p:nvSpPr>
        <p:spPr>
          <a:xfrm>
            <a:off x="4549026"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42" name="Shape 40"/>
          <p:cNvSpPr/>
          <p:nvPr/>
        </p:nvSpPr>
        <p:spPr>
          <a:xfrm>
            <a:off x="4786770"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43" name="Text 41"/>
          <p:cNvSpPr/>
          <p:nvPr/>
        </p:nvSpPr>
        <p:spPr>
          <a:xfrm>
            <a:off x="4814202"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Product &amp; booth</a:t>
            </a:r>
            <a:endParaRPr lang="en-US" sz="870" dirty="0"/>
          </a:p>
        </p:txBody>
      </p:sp>
      <p:sp>
        <p:nvSpPr>
          <p:cNvPr id="44" name="Text 42"/>
          <p:cNvSpPr/>
          <p:nvPr/>
        </p:nvSpPr>
        <p:spPr>
          <a:xfrm>
            <a:off x="5976976"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45" name="Shape 43"/>
          <p:cNvSpPr/>
          <p:nvPr/>
        </p:nvSpPr>
        <p:spPr>
          <a:xfrm>
            <a:off x="6214720"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46" name="Text 44"/>
          <p:cNvSpPr/>
          <p:nvPr/>
        </p:nvSpPr>
        <p:spPr>
          <a:xfrm>
            <a:off x="6242152"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Follow-up tasks</a:t>
            </a:r>
            <a:endParaRPr lang="en-US" sz="870" dirty="0"/>
          </a:p>
        </p:txBody>
      </p:sp>
      <p:sp>
        <p:nvSpPr>
          <p:cNvPr id="47" name="Text 45"/>
          <p:cNvSpPr/>
          <p:nvPr/>
        </p:nvSpPr>
        <p:spPr>
          <a:xfrm>
            <a:off x="7404926"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48" name="Shape 46"/>
          <p:cNvSpPr/>
          <p:nvPr/>
        </p:nvSpPr>
        <p:spPr>
          <a:xfrm>
            <a:off x="7642669"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49" name="Text 47"/>
          <p:cNvSpPr/>
          <p:nvPr/>
        </p:nvSpPr>
        <p:spPr>
          <a:xfrm>
            <a:off x="7670101"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Export (CSV)</a:t>
            </a:r>
            <a:endParaRPr lang="en-US" sz="870" dirty="0"/>
          </a:p>
        </p:txBody>
      </p:sp>
      <p:sp>
        <p:nvSpPr>
          <p:cNvPr id="50" name="Text 48"/>
          <p:cNvSpPr/>
          <p:nvPr/>
        </p:nvSpPr>
        <p:spPr>
          <a:xfrm>
            <a:off x="8832875"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51" name="Shape 49"/>
          <p:cNvSpPr/>
          <p:nvPr/>
        </p:nvSpPr>
        <p:spPr>
          <a:xfrm>
            <a:off x="9070619" y="3986784"/>
            <a:ext cx="1190206" cy="603504"/>
          </a:xfrm>
          <a:prstGeom prst="roundRect">
            <a:avLst>
              <a:gd name="adj" fmla="val 10606"/>
            </a:avLst>
          </a:prstGeom>
          <a:solidFill>
            <a:srgbClr val="FFFFFF"/>
          </a:solidFill>
          <a:ln w="12700">
            <a:solidFill>
              <a:srgbClr val="D1FAE5"/>
            </a:solidFill>
            <a:prstDash val="solid"/>
          </a:ln>
        </p:spPr>
        <p:txBody>
          <a:bodyPr/>
          <a:lstStyle/>
          <a:p>
            <a:endParaRPr lang="en-US"/>
          </a:p>
        </p:txBody>
      </p:sp>
      <p:sp>
        <p:nvSpPr>
          <p:cNvPr id="52" name="Text 50"/>
          <p:cNvSpPr/>
          <p:nvPr/>
        </p:nvSpPr>
        <p:spPr>
          <a:xfrm>
            <a:off x="9098051"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047857"/>
                </a:solidFill>
                <a:latin typeface="Calibri" pitchFamily="34" charset="0"/>
                <a:ea typeface="Calibri" pitchFamily="34" charset="-122"/>
                <a:cs typeface="Calibri" pitchFamily="34" charset="-120"/>
              </a:rPr>
              <a:t>Your CRM</a:t>
            </a:r>
            <a:endParaRPr lang="en-US" sz="870" dirty="0"/>
          </a:p>
        </p:txBody>
      </p:sp>
      <p:sp>
        <p:nvSpPr>
          <p:cNvPr id="53" name="Text 51"/>
          <p:cNvSpPr/>
          <p:nvPr/>
        </p:nvSpPr>
        <p:spPr>
          <a:xfrm>
            <a:off x="10260825" y="3986784"/>
            <a:ext cx="237744" cy="603504"/>
          </a:xfrm>
          <a:prstGeom prst="rect">
            <a:avLst/>
          </a:prstGeom>
          <a:noFill/>
          <a:ln/>
        </p:spPr>
        <p:txBody>
          <a:bodyPr wrap="square" lIns="0" tIns="0" rIns="0" bIns="0" rtlCol="0" anchor="ctr"/>
          <a:lstStyle/>
          <a:p>
            <a:pPr marL="0" indent="0" algn="ctr">
              <a:buNone/>
            </a:pPr>
            <a:r>
              <a:rPr lang="en-US" sz="1100" b="1" dirty="0">
                <a:solidFill>
                  <a:srgbClr val="D1FAE5"/>
                </a:solidFill>
                <a:latin typeface="Calibri" pitchFamily="34" charset="0"/>
                <a:ea typeface="Calibri" pitchFamily="34" charset="-122"/>
                <a:cs typeface="Calibri" pitchFamily="34" charset="-120"/>
              </a:rPr>
              <a:t>→</a:t>
            </a:r>
            <a:endParaRPr lang="en-US" sz="1100" dirty="0"/>
          </a:p>
        </p:txBody>
      </p:sp>
      <p:sp>
        <p:nvSpPr>
          <p:cNvPr id="54" name="Shape 52"/>
          <p:cNvSpPr/>
          <p:nvPr/>
        </p:nvSpPr>
        <p:spPr>
          <a:xfrm>
            <a:off x="10498569" y="3986784"/>
            <a:ext cx="1190206" cy="603504"/>
          </a:xfrm>
          <a:prstGeom prst="roundRect">
            <a:avLst>
              <a:gd name="adj" fmla="val 10606"/>
            </a:avLst>
          </a:prstGeom>
          <a:solidFill>
            <a:srgbClr val="10B981"/>
          </a:solidFill>
          <a:ln w="12700">
            <a:solidFill>
              <a:srgbClr val="10B981"/>
            </a:solidFill>
            <a:prstDash val="solid"/>
          </a:ln>
        </p:spPr>
        <p:txBody>
          <a:bodyPr/>
          <a:lstStyle/>
          <a:p>
            <a:endParaRPr lang="en-US"/>
          </a:p>
        </p:txBody>
      </p:sp>
      <p:sp>
        <p:nvSpPr>
          <p:cNvPr id="55" name="Text 53"/>
          <p:cNvSpPr/>
          <p:nvPr/>
        </p:nvSpPr>
        <p:spPr>
          <a:xfrm>
            <a:off x="10526001" y="3986784"/>
            <a:ext cx="1135342" cy="603504"/>
          </a:xfrm>
          <a:prstGeom prst="rect">
            <a:avLst/>
          </a:prstGeom>
          <a:noFill/>
          <a:ln/>
        </p:spPr>
        <p:txBody>
          <a:bodyPr wrap="square" lIns="0" tIns="0" rIns="0" bIns="0" rtlCol="0" anchor="ctr"/>
          <a:lstStyle/>
          <a:p>
            <a:pPr marL="0" indent="0" algn="ctr">
              <a:lnSpc>
                <a:spcPct val="95000"/>
              </a:lnSpc>
              <a:buNone/>
            </a:pPr>
            <a:r>
              <a:rPr lang="en-US" sz="870" b="1" dirty="0">
                <a:solidFill>
                  <a:srgbClr val="FFFFFF"/>
                </a:solidFill>
                <a:latin typeface="Calibri" pitchFamily="34" charset="0"/>
                <a:ea typeface="Calibri" pitchFamily="34" charset="-122"/>
                <a:cs typeface="Calibri" pitchFamily="34" charset="-120"/>
              </a:rPr>
              <a:t>Successful follow-up</a:t>
            </a:r>
            <a:endParaRPr lang="en-US" sz="870" dirty="0"/>
          </a:p>
        </p:txBody>
      </p:sp>
      <p:sp>
        <p:nvSpPr>
          <p:cNvPr id="56" name="Shape 54"/>
          <p:cNvSpPr/>
          <p:nvPr/>
        </p:nvSpPr>
        <p:spPr>
          <a:xfrm>
            <a:off x="502920" y="5029200"/>
            <a:ext cx="11185855" cy="914400"/>
          </a:xfrm>
          <a:prstGeom prst="roundRect">
            <a:avLst>
              <a:gd name="adj" fmla="val 12000"/>
            </a:avLst>
          </a:prstGeom>
          <a:solidFill>
            <a:srgbClr val="0F172A"/>
          </a:solidFill>
          <a:ln/>
        </p:spPr>
        <p:txBody>
          <a:bodyPr/>
          <a:lstStyle/>
          <a:p>
            <a:endParaRPr lang="en-US"/>
          </a:p>
        </p:txBody>
      </p:sp>
      <p:sp>
        <p:nvSpPr>
          <p:cNvPr id="57" name="Text 55"/>
          <p:cNvSpPr/>
          <p:nvPr/>
        </p:nvSpPr>
        <p:spPr>
          <a:xfrm>
            <a:off x="822960" y="5029200"/>
            <a:ext cx="10545775" cy="914400"/>
          </a:xfrm>
          <a:prstGeom prst="rect">
            <a:avLst/>
          </a:prstGeom>
          <a:noFill/>
          <a:ln/>
        </p:spPr>
        <p:txBody>
          <a:bodyPr wrap="square" lIns="0" tIns="0" rIns="0" bIns="0" rtlCol="0" anchor="ctr"/>
          <a:lstStyle/>
          <a:p>
            <a:pPr marL="0" indent="0" algn="l">
              <a:buNone/>
            </a:pPr>
            <a:r>
              <a:rPr lang="en-US" sz="1800" b="1" dirty="0">
                <a:solidFill>
                  <a:srgbClr val="FFFFFF"/>
                </a:solidFill>
                <a:latin typeface="Calibri" pitchFamily="34" charset="0"/>
                <a:ea typeface="Calibri" pitchFamily="34" charset="-122"/>
                <a:cs typeface="Calibri" pitchFamily="34" charset="-120"/>
              </a:rPr>
              <a:t>ExpoLead captures the moment. </a:t>
            </a:r>
            <a:r>
              <a:rPr lang="en-US" sz="1800" b="1" dirty="0">
                <a:solidFill>
                  <a:srgbClr val="34D399"/>
                </a:solidFill>
                <a:latin typeface="Calibri" pitchFamily="34" charset="0"/>
                <a:ea typeface="Calibri" pitchFamily="34" charset="-122"/>
                <a:cs typeface="Calibri" pitchFamily="34" charset="-120"/>
              </a:rPr>
              <a:t>Your CRM builds the future. </a:t>
            </a:r>
            <a:r>
              <a:rPr lang="en-US" sz="1800" b="1" dirty="0">
                <a:solidFill>
                  <a:srgbClr val="CBD5E1"/>
                </a:solidFill>
                <a:latin typeface="Calibri" pitchFamily="34" charset="0"/>
                <a:ea typeface="Calibri" pitchFamily="34" charset="-122"/>
                <a:cs typeface="Calibri" pitchFamily="34" charset="-120"/>
              </a:rPr>
              <a:t>Together, they drive revenue.</a:t>
            </a:r>
            <a:endParaRPr lang="en-US" sz="1800" dirty="0"/>
          </a:p>
        </p:txBody>
      </p:sp>
      <p:sp>
        <p:nvSpPr>
          <p:cNvPr id="58" name="Text 56"/>
          <p:cNvSpPr/>
          <p:nvPr/>
        </p:nvSpPr>
        <p:spPr>
          <a:xfrm>
            <a:off x="502920" y="6108192"/>
            <a:ext cx="10972800" cy="320040"/>
          </a:xfrm>
          <a:prstGeom prst="rect">
            <a:avLst/>
          </a:prstGeom>
          <a:noFill/>
          <a:ln/>
        </p:spPr>
        <p:txBody>
          <a:bodyPr wrap="square" lIns="0" tIns="0" rIns="0" bIns="0" rtlCol="0" anchor="ctr"/>
          <a:lstStyle/>
          <a:p>
            <a:pPr marL="0" indent="0" algn="l">
              <a:buNone/>
            </a:pPr>
            <a:r>
              <a:rPr lang="en-US" sz="1150" b="1" dirty="0">
                <a:solidFill>
                  <a:srgbClr val="475569"/>
                </a:solidFill>
                <a:latin typeface="Calibri" pitchFamily="34" charset="0"/>
                <a:ea typeface="Calibri" pitchFamily="34" charset="-122"/>
                <a:cs typeface="Calibri" pitchFamily="34" charset="-120"/>
              </a:rPr>
              <a:t>Built for product exhibitions:  </a:t>
            </a:r>
            <a:r>
              <a:rPr lang="en-US" sz="1150" dirty="0">
                <a:solidFill>
                  <a:srgbClr val="64748B"/>
                </a:solidFill>
                <a:latin typeface="Calibri" pitchFamily="34" charset="0"/>
                <a:ea typeface="Calibri" pitchFamily="34" charset="-122"/>
                <a:cs typeface="Calibri" pitchFamily="34" charset="-120"/>
              </a:rPr>
              <a:t>Tea · Chemicals · Food &amp; Beverage · Packaging · Machinery, and more.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6" name="Text 4"/>
          <p:cNvSpPr/>
          <p:nvPr/>
        </p:nvSpPr>
        <p:spPr>
          <a:xfrm>
            <a:off x="502920" y="397764"/>
            <a:ext cx="2011680" cy="329184"/>
          </a:xfrm>
          <a:prstGeom prst="rect">
            <a:avLst/>
          </a:prstGeom>
          <a:noFill/>
          <a:ln/>
        </p:spPr>
        <p:txBody>
          <a:bodyPr wrap="square" lIns="0" tIns="0" rIns="0" bIns="0" rtlCol="0" anchor="ctr"/>
          <a:lstStyle/>
          <a:p>
            <a:pPr marL="0" indent="0" algn="l">
              <a:buNone/>
            </a:pPr>
            <a:r>
              <a:rPr lang="en-US" sz="1500" b="1" dirty="0">
                <a:solidFill>
                  <a:srgbClr val="0F172A"/>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marL="0" indent="0" algn="l">
              <a:buNone/>
            </a:pPr>
            <a:r>
              <a:rPr lang="en-US" sz="1100" b="1" kern="0" spc="220" dirty="0">
                <a:solidFill>
                  <a:srgbClr val="059669"/>
                </a:solidFill>
                <a:latin typeface="Calibri" pitchFamily="34" charset="0"/>
                <a:ea typeface="Calibri" pitchFamily="34" charset="-122"/>
                <a:cs typeface="Calibri" pitchFamily="34" charset="-120"/>
              </a:rPr>
              <a:t>WHY CONTEXT MATTERS</a:t>
            </a:r>
            <a:endParaRPr lang="en-US" sz="1100" dirty="0"/>
          </a:p>
        </p:txBody>
      </p:sp>
      <p:sp>
        <p:nvSpPr>
          <p:cNvPr id="8" name="Text 6"/>
          <p:cNvSpPr/>
          <p:nvPr/>
        </p:nvSpPr>
        <p:spPr>
          <a:xfrm>
            <a:off x="502920" y="1325880"/>
            <a:ext cx="10972800" cy="502920"/>
          </a:xfrm>
          <a:prstGeom prst="rect">
            <a:avLst/>
          </a:prstGeom>
          <a:noFill/>
          <a:ln/>
        </p:spPr>
        <p:txBody>
          <a:bodyPr wrap="square" lIns="0" tIns="0" rIns="0" bIns="0" rtlCol="0" anchor="t"/>
          <a:lstStyle/>
          <a:p>
            <a:pPr marL="0" indent="0" algn="l">
              <a:buNone/>
            </a:pPr>
            <a:r>
              <a:rPr lang="en-US" sz="2600" b="1" dirty="0">
                <a:solidFill>
                  <a:srgbClr val="0F172A"/>
                </a:solidFill>
                <a:latin typeface="Calibri" pitchFamily="34" charset="0"/>
                <a:ea typeface="Calibri" pitchFamily="34" charset="-122"/>
                <a:cs typeface="Calibri" pitchFamily="34" charset="-120"/>
              </a:rPr>
              <a:t>The exhibition floor is not a quiet desk</a:t>
            </a:r>
            <a:endParaRPr lang="en-US" sz="2600" dirty="0"/>
          </a:p>
        </p:txBody>
      </p:sp>
      <p:sp>
        <p:nvSpPr>
          <p:cNvPr id="9" name="Shape 7"/>
          <p:cNvSpPr/>
          <p:nvPr/>
        </p:nvSpPr>
        <p:spPr>
          <a:xfrm>
            <a:off x="502920" y="2148840"/>
            <a:ext cx="5486400" cy="3977640"/>
          </a:xfrm>
          <a:prstGeom prst="roundRect">
            <a:avLst>
              <a:gd name="adj" fmla="val 2299"/>
            </a:avLst>
          </a:prstGeom>
          <a:solidFill>
            <a:srgbClr val="0F172A"/>
          </a:solidFill>
          <a:ln/>
        </p:spPr>
        <p:txBody>
          <a:bodyPr/>
          <a:lstStyle/>
          <a:p>
            <a:endParaRPr lang="en-US"/>
          </a:p>
        </p:txBody>
      </p:sp>
      <p:sp>
        <p:nvSpPr>
          <p:cNvPr id="10" name="Text 8"/>
          <p:cNvSpPr/>
          <p:nvPr/>
        </p:nvSpPr>
        <p:spPr>
          <a:xfrm>
            <a:off x="822960" y="2423160"/>
            <a:ext cx="4846320" cy="274320"/>
          </a:xfrm>
          <a:prstGeom prst="rect">
            <a:avLst/>
          </a:prstGeom>
          <a:noFill/>
          <a:ln/>
        </p:spPr>
        <p:txBody>
          <a:bodyPr wrap="square" lIns="0" tIns="0" rIns="0" bIns="0" rtlCol="0" anchor="ctr"/>
          <a:lstStyle/>
          <a:p>
            <a:pPr marL="0" indent="0">
              <a:buNone/>
            </a:pPr>
            <a:r>
              <a:rPr lang="en-US" sz="1100" b="1" kern="0" spc="120" dirty="0">
                <a:solidFill>
                  <a:srgbClr val="34D399"/>
                </a:solidFill>
                <a:latin typeface="Calibri" pitchFamily="34" charset="0"/>
                <a:ea typeface="Calibri" pitchFamily="34" charset="-122"/>
                <a:cs typeface="Calibri" pitchFamily="34" charset="-120"/>
              </a:rPr>
              <a:t>THE EXHIBITION REALITY</a:t>
            </a:r>
            <a:endParaRPr lang="en-US" sz="1100" dirty="0"/>
          </a:p>
        </p:txBody>
      </p:sp>
      <p:sp>
        <p:nvSpPr>
          <p:cNvPr id="11" name="Shape 9"/>
          <p:cNvSpPr/>
          <p:nvPr/>
        </p:nvSpPr>
        <p:spPr>
          <a:xfrm>
            <a:off x="822960" y="2880360"/>
            <a:ext cx="1629461"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12" name="Text 10"/>
          <p:cNvSpPr/>
          <p:nvPr/>
        </p:nvSpPr>
        <p:spPr>
          <a:xfrm>
            <a:off x="822960" y="2880360"/>
            <a:ext cx="1629461"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Where do I go next?</a:t>
            </a:r>
            <a:endParaRPr lang="en-US" sz="1100" dirty="0"/>
          </a:p>
        </p:txBody>
      </p:sp>
      <p:sp>
        <p:nvSpPr>
          <p:cNvPr id="13" name="Shape 11"/>
          <p:cNvSpPr/>
          <p:nvPr/>
        </p:nvSpPr>
        <p:spPr>
          <a:xfrm>
            <a:off x="2562149" y="2880360"/>
            <a:ext cx="1700784"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14" name="Text 12"/>
          <p:cNvSpPr/>
          <p:nvPr/>
        </p:nvSpPr>
        <p:spPr>
          <a:xfrm>
            <a:off x="2562149" y="2880360"/>
            <a:ext cx="1700784"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Which booth is this?</a:t>
            </a:r>
            <a:endParaRPr lang="en-US" sz="1100" dirty="0"/>
          </a:p>
        </p:txBody>
      </p:sp>
      <p:sp>
        <p:nvSpPr>
          <p:cNvPr id="15" name="Shape 13"/>
          <p:cNvSpPr/>
          <p:nvPr/>
        </p:nvSpPr>
        <p:spPr>
          <a:xfrm>
            <a:off x="822960" y="3355848"/>
            <a:ext cx="2342693"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16" name="Text 14"/>
          <p:cNvSpPr/>
          <p:nvPr/>
        </p:nvSpPr>
        <p:spPr>
          <a:xfrm>
            <a:off x="822960" y="3355848"/>
            <a:ext cx="2342693"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Has a colleague visited them?</a:t>
            </a:r>
            <a:endParaRPr lang="en-US" sz="1100" dirty="0"/>
          </a:p>
        </p:txBody>
      </p:sp>
      <p:sp>
        <p:nvSpPr>
          <p:cNvPr id="17" name="Shape 15"/>
          <p:cNvSpPr/>
          <p:nvPr/>
        </p:nvSpPr>
        <p:spPr>
          <a:xfrm>
            <a:off x="3275381" y="3355848"/>
            <a:ext cx="1629461"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18" name="Text 16"/>
          <p:cNvSpPr/>
          <p:nvPr/>
        </p:nvSpPr>
        <p:spPr>
          <a:xfrm>
            <a:off x="3275381" y="3355848"/>
            <a:ext cx="1629461"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Who did I speak to?</a:t>
            </a:r>
            <a:endParaRPr lang="en-US" sz="1100" dirty="0"/>
          </a:p>
        </p:txBody>
      </p:sp>
      <p:sp>
        <p:nvSpPr>
          <p:cNvPr id="19" name="Shape 17"/>
          <p:cNvSpPr/>
          <p:nvPr/>
        </p:nvSpPr>
        <p:spPr>
          <a:xfrm>
            <a:off x="822960" y="3831336"/>
            <a:ext cx="2200046"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20" name="Text 18"/>
          <p:cNvSpPr/>
          <p:nvPr/>
        </p:nvSpPr>
        <p:spPr>
          <a:xfrm>
            <a:off x="822960" y="3831336"/>
            <a:ext cx="2200046"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What product did they want?</a:t>
            </a:r>
            <a:endParaRPr lang="en-US" sz="1100" dirty="0"/>
          </a:p>
        </p:txBody>
      </p:sp>
      <p:sp>
        <p:nvSpPr>
          <p:cNvPr id="21" name="Shape 19"/>
          <p:cNvSpPr/>
          <p:nvPr/>
        </p:nvSpPr>
        <p:spPr>
          <a:xfrm>
            <a:off x="3132734" y="3831336"/>
            <a:ext cx="1914754"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22" name="Text 20"/>
          <p:cNvSpPr/>
          <p:nvPr/>
        </p:nvSpPr>
        <p:spPr>
          <a:xfrm>
            <a:off x="3132734" y="3831336"/>
            <a:ext cx="1914754"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Did I promise a sample?</a:t>
            </a:r>
            <a:endParaRPr lang="en-US" sz="1100" dirty="0"/>
          </a:p>
        </p:txBody>
      </p:sp>
      <p:sp>
        <p:nvSpPr>
          <p:cNvPr id="23" name="Shape 21"/>
          <p:cNvSpPr/>
          <p:nvPr/>
        </p:nvSpPr>
        <p:spPr>
          <a:xfrm>
            <a:off x="822960" y="4306824"/>
            <a:ext cx="1700784"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24" name="Text 22"/>
          <p:cNvSpPr/>
          <p:nvPr/>
        </p:nvSpPr>
        <p:spPr>
          <a:xfrm>
            <a:off x="822960" y="4306824"/>
            <a:ext cx="1700784"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Is this one serious?</a:t>
            </a:r>
            <a:endParaRPr lang="en-US" sz="1100" dirty="0"/>
          </a:p>
        </p:txBody>
      </p:sp>
      <p:sp>
        <p:nvSpPr>
          <p:cNvPr id="25" name="Shape 23"/>
          <p:cNvSpPr/>
          <p:nvPr/>
        </p:nvSpPr>
        <p:spPr>
          <a:xfrm>
            <a:off x="2633472" y="4306824"/>
            <a:ext cx="1344168" cy="365760"/>
          </a:xfrm>
          <a:prstGeom prst="roundRect">
            <a:avLst>
              <a:gd name="adj" fmla="val 50000"/>
            </a:avLst>
          </a:prstGeom>
          <a:solidFill>
            <a:srgbClr val="1E293B"/>
          </a:solidFill>
          <a:ln w="12700">
            <a:solidFill>
              <a:srgbClr val="334155"/>
            </a:solidFill>
            <a:prstDash val="solid"/>
          </a:ln>
        </p:spPr>
        <p:txBody>
          <a:bodyPr/>
          <a:lstStyle/>
          <a:p>
            <a:endParaRPr lang="en-US"/>
          </a:p>
        </p:txBody>
      </p:sp>
      <p:sp>
        <p:nvSpPr>
          <p:cNvPr id="26" name="Text 24"/>
          <p:cNvSpPr/>
          <p:nvPr/>
        </p:nvSpPr>
        <p:spPr>
          <a:xfrm>
            <a:off x="2633472" y="4306824"/>
            <a:ext cx="1344168" cy="365760"/>
          </a:xfrm>
          <a:prstGeom prst="rect">
            <a:avLst/>
          </a:prstGeom>
          <a:noFill/>
          <a:ln/>
        </p:spPr>
        <p:txBody>
          <a:bodyPr wrap="square" lIns="0" tIns="0" rIns="0" bIns="0" rtlCol="0" anchor="ctr"/>
          <a:lstStyle/>
          <a:p>
            <a:pPr marL="0" indent="0" algn="ctr">
              <a:buNone/>
            </a:pPr>
            <a:r>
              <a:rPr lang="en-US" sz="1100" b="1" dirty="0">
                <a:solidFill>
                  <a:srgbClr val="DBEAFE"/>
                </a:solidFill>
                <a:latin typeface="Calibri" pitchFamily="34" charset="0"/>
                <a:ea typeface="Calibri" pitchFamily="34" charset="-122"/>
                <a:cs typeface="Calibri" pitchFamily="34" charset="-120"/>
              </a:rPr>
              <a:t>Who follows up?</a:t>
            </a:r>
            <a:endParaRPr lang="en-US" sz="1100" dirty="0"/>
          </a:p>
        </p:txBody>
      </p:sp>
      <p:sp>
        <p:nvSpPr>
          <p:cNvPr id="27" name="Text 25"/>
          <p:cNvSpPr/>
          <p:nvPr/>
        </p:nvSpPr>
        <p:spPr>
          <a:xfrm>
            <a:off x="822960" y="5257800"/>
            <a:ext cx="4846320" cy="685800"/>
          </a:xfrm>
          <a:prstGeom prst="rect">
            <a:avLst/>
          </a:prstGeom>
          <a:noFill/>
          <a:ln/>
        </p:spPr>
        <p:txBody>
          <a:bodyPr wrap="square" lIns="0" tIns="0" rIns="0" bIns="0" rtlCol="0" anchor="ctr"/>
          <a:lstStyle/>
          <a:p>
            <a:pPr marL="0" indent="0" algn="l">
              <a:lnSpc>
                <a:spcPct val="115000"/>
              </a:lnSpc>
              <a:buNone/>
            </a:pPr>
            <a:r>
              <a:rPr lang="en-US" sz="1250" dirty="0">
                <a:solidFill>
                  <a:srgbClr val="94A3B8"/>
                </a:solidFill>
                <a:latin typeface="Calibri" pitchFamily="34" charset="0"/>
                <a:ea typeface="Calibri" pitchFamily="34" charset="-122"/>
                <a:cs typeface="Calibri" pitchFamily="34" charset="-120"/>
              </a:rPr>
              <a:t>Dozens, sometimes hundreds of conversations, moving fast. </a:t>
            </a:r>
            <a:r>
              <a:rPr lang="en-US" sz="1250" b="1" dirty="0">
                <a:solidFill>
                  <a:srgbClr val="34D399"/>
                </a:solidFill>
                <a:latin typeface="Calibri" pitchFamily="34" charset="0"/>
                <a:ea typeface="Calibri" pitchFamily="34" charset="-122"/>
                <a:cs typeface="Calibri" pitchFamily="34" charset="-120"/>
              </a:rPr>
              <a:t>ExpoLead is being designed around this environment.</a:t>
            </a:r>
            <a:endParaRPr lang="en-US" sz="1250" dirty="0"/>
          </a:p>
        </p:txBody>
      </p:sp>
      <p:sp>
        <p:nvSpPr>
          <p:cNvPr id="28" name="Text 26"/>
          <p:cNvSpPr/>
          <p:nvPr/>
        </p:nvSpPr>
        <p:spPr>
          <a:xfrm>
            <a:off x="6355080" y="2286000"/>
            <a:ext cx="5333695" cy="274320"/>
          </a:xfrm>
          <a:prstGeom prst="rect">
            <a:avLst/>
          </a:prstGeom>
          <a:noFill/>
          <a:ln/>
        </p:spPr>
        <p:txBody>
          <a:bodyPr wrap="square" lIns="0" tIns="0" rIns="0" bIns="0" rtlCol="0" anchor="ctr"/>
          <a:lstStyle/>
          <a:p>
            <a:pPr marL="0" indent="0">
              <a:buNone/>
            </a:pPr>
            <a:r>
              <a:rPr lang="en-US" sz="1100" b="1" kern="0" spc="100" dirty="0">
                <a:solidFill>
                  <a:srgbClr val="059669"/>
                </a:solidFill>
                <a:latin typeface="Calibri" pitchFamily="34" charset="0"/>
                <a:ea typeface="Calibri" pitchFamily="34" charset="-122"/>
                <a:cs typeface="Calibri" pitchFamily="34" charset="-120"/>
              </a:rPr>
              <a:t>THE REAL PROBLEM IS FRAGMENTED EXECUTION</a:t>
            </a:r>
            <a:endParaRPr lang="en-US" sz="1100" dirty="0"/>
          </a:p>
        </p:txBody>
      </p:sp>
      <p:sp>
        <p:nvSpPr>
          <p:cNvPr id="29" name="Shape 27"/>
          <p:cNvSpPr/>
          <p:nvPr/>
        </p:nvSpPr>
        <p:spPr>
          <a:xfrm>
            <a:off x="6355080" y="2743200"/>
            <a:ext cx="1177747"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30" name="Text 28"/>
          <p:cNvSpPr/>
          <p:nvPr/>
        </p:nvSpPr>
        <p:spPr>
          <a:xfrm>
            <a:off x="6355080" y="2743200"/>
            <a:ext cx="1177747"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Business cards</a:t>
            </a:r>
            <a:endParaRPr lang="en-US" sz="1000" dirty="0"/>
          </a:p>
        </p:txBody>
      </p:sp>
      <p:sp>
        <p:nvSpPr>
          <p:cNvPr id="31" name="Shape 29"/>
          <p:cNvSpPr/>
          <p:nvPr/>
        </p:nvSpPr>
        <p:spPr>
          <a:xfrm>
            <a:off x="7642555" y="2743200"/>
            <a:ext cx="1177747"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32" name="Text 30"/>
          <p:cNvSpPr/>
          <p:nvPr/>
        </p:nvSpPr>
        <p:spPr>
          <a:xfrm>
            <a:off x="7642555" y="2743200"/>
            <a:ext cx="1177747"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Phone contacts</a:t>
            </a:r>
            <a:endParaRPr lang="en-US" sz="1000" dirty="0"/>
          </a:p>
        </p:txBody>
      </p:sp>
      <p:sp>
        <p:nvSpPr>
          <p:cNvPr id="33" name="Shape 31"/>
          <p:cNvSpPr/>
          <p:nvPr/>
        </p:nvSpPr>
        <p:spPr>
          <a:xfrm>
            <a:off x="6355080" y="3218688"/>
            <a:ext cx="782726"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34" name="Text 32"/>
          <p:cNvSpPr/>
          <p:nvPr/>
        </p:nvSpPr>
        <p:spPr>
          <a:xfrm>
            <a:off x="6355080" y="3218688"/>
            <a:ext cx="782726"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WhatsApp</a:t>
            </a:r>
            <a:endParaRPr lang="en-US" sz="1000" dirty="0"/>
          </a:p>
        </p:txBody>
      </p:sp>
      <p:sp>
        <p:nvSpPr>
          <p:cNvPr id="35" name="Shape 33"/>
          <p:cNvSpPr/>
          <p:nvPr/>
        </p:nvSpPr>
        <p:spPr>
          <a:xfrm>
            <a:off x="7247534" y="3218688"/>
            <a:ext cx="1177747"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36" name="Text 34"/>
          <p:cNvSpPr/>
          <p:nvPr/>
        </p:nvSpPr>
        <p:spPr>
          <a:xfrm>
            <a:off x="7247534" y="3218688"/>
            <a:ext cx="1177747"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Notebook notes</a:t>
            </a:r>
            <a:endParaRPr lang="en-US" sz="1000" dirty="0"/>
          </a:p>
        </p:txBody>
      </p:sp>
      <p:sp>
        <p:nvSpPr>
          <p:cNvPr id="37" name="Shape 35"/>
          <p:cNvSpPr/>
          <p:nvPr/>
        </p:nvSpPr>
        <p:spPr>
          <a:xfrm>
            <a:off x="6355080" y="3694176"/>
            <a:ext cx="651053"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38" name="Text 36"/>
          <p:cNvSpPr/>
          <p:nvPr/>
        </p:nvSpPr>
        <p:spPr>
          <a:xfrm>
            <a:off x="6355080" y="3694176"/>
            <a:ext cx="651053"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Photos</a:t>
            </a:r>
            <a:endParaRPr lang="en-US" sz="1000" dirty="0"/>
          </a:p>
        </p:txBody>
      </p:sp>
      <p:sp>
        <p:nvSpPr>
          <p:cNvPr id="39" name="Shape 37"/>
          <p:cNvSpPr/>
          <p:nvPr/>
        </p:nvSpPr>
        <p:spPr>
          <a:xfrm>
            <a:off x="7115861" y="3694176"/>
            <a:ext cx="1046074"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40" name="Text 38"/>
          <p:cNvSpPr/>
          <p:nvPr/>
        </p:nvSpPr>
        <p:spPr>
          <a:xfrm>
            <a:off x="7115861" y="3694176"/>
            <a:ext cx="1046074"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Spreadsheets</a:t>
            </a:r>
            <a:endParaRPr lang="en-US" sz="1000" dirty="0"/>
          </a:p>
        </p:txBody>
      </p:sp>
      <p:sp>
        <p:nvSpPr>
          <p:cNvPr id="41" name="Shape 39"/>
          <p:cNvSpPr/>
          <p:nvPr/>
        </p:nvSpPr>
        <p:spPr>
          <a:xfrm>
            <a:off x="8271662" y="3694176"/>
            <a:ext cx="651053"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42" name="Text 40"/>
          <p:cNvSpPr/>
          <p:nvPr/>
        </p:nvSpPr>
        <p:spPr>
          <a:xfrm>
            <a:off x="8271662" y="3694176"/>
            <a:ext cx="651053"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Memory</a:t>
            </a:r>
            <a:endParaRPr lang="en-US" sz="1000" dirty="0"/>
          </a:p>
        </p:txBody>
      </p:sp>
      <p:sp>
        <p:nvSpPr>
          <p:cNvPr id="43" name="Shape 41"/>
          <p:cNvSpPr/>
          <p:nvPr/>
        </p:nvSpPr>
        <p:spPr>
          <a:xfrm>
            <a:off x="6355080" y="4169664"/>
            <a:ext cx="1770278" cy="365760"/>
          </a:xfrm>
          <a:prstGeom prst="roundRect">
            <a:avLst>
              <a:gd name="adj" fmla="val 17500"/>
            </a:avLst>
          </a:prstGeom>
          <a:solidFill>
            <a:srgbClr val="F8FAFC"/>
          </a:solidFill>
          <a:ln w="12700">
            <a:solidFill>
              <a:srgbClr val="E2E8F0"/>
            </a:solidFill>
            <a:prstDash val="solid"/>
          </a:ln>
        </p:spPr>
        <p:txBody>
          <a:bodyPr/>
          <a:lstStyle/>
          <a:p>
            <a:endParaRPr lang="en-US"/>
          </a:p>
        </p:txBody>
      </p:sp>
      <p:sp>
        <p:nvSpPr>
          <p:cNvPr id="44" name="Text 42"/>
          <p:cNvSpPr/>
          <p:nvPr/>
        </p:nvSpPr>
        <p:spPr>
          <a:xfrm>
            <a:off x="6355080" y="4169664"/>
            <a:ext cx="1770278" cy="365760"/>
          </a:xfrm>
          <a:prstGeom prst="rect">
            <a:avLst/>
          </a:prstGeom>
          <a:noFill/>
          <a:ln/>
        </p:spPr>
        <p:txBody>
          <a:bodyPr wrap="square" lIns="0" tIns="0" rIns="0" bIns="0" rtlCol="0" anchor="ctr"/>
          <a:lstStyle/>
          <a:p>
            <a:pPr marL="0" indent="0" algn="ctr">
              <a:buNone/>
            </a:pPr>
            <a:r>
              <a:rPr lang="en-US" sz="1000" dirty="0">
                <a:solidFill>
                  <a:srgbClr val="475569"/>
                </a:solidFill>
                <a:latin typeface="Calibri" pitchFamily="34" charset="0"/>
                <a:ea typeface="Calibri" pitchFamily="34" charset="-122"/>
                <a:cs typeface="Calibri" pitchFamily="34" charset="-120"/>
              </a:rPr>
              <a:t>Unstructured follow-ups</a:t>
            </a:r>
            <a:endParaRPr lang="en-US" sz="1000" dirty="0"/>
          </a:p>
        </p:txBody>
      </p:sp>
      <p:sp>
        <p:nvSpPr>
          <p:cNvPr id="45" name="Text 43"/>
          <p:cNvSpPr/>
          <p:nvPr/>
        </p:nvSpPr>
        <p:spPr>
          <a:xfrm>
            <a:off x="9174175" y="3108960"/>
            <a:ext cx="457200" cy="640080"/>
          </a:xfrm>
          <a:prstGeom prst="rect">
            <a:avLst/>
          </a:prstGeom>
          <a:noFill/>
          <a:ln/>
        </p:spPr>
        <p:txBody>
          <a:bodyPr wrap="square" lIns="0" tIns="0" rIns="0" bIns="0" rtlCol="0" anchor="ctr"/>
          <a:lstStyle/>
          <a:p>
            <a:pPr marL="0" indent="0" algn="ctr">
              <a:buNone/>
            </a:pPr>
            <a:r>
              <a:rPr lang="en-US" sz="3400" b="1" dirty="0">
                <a:solidFill>
                  <a:srgbClr val="CBD5E1"/>
                </a:solidFill>
                <a:latin typeface="Calibri" pitchFamily="34" charset="0"/>
                <a:ea typeface="Calibri" pitchFamily="34" charset="-122"/>
                <a:cs typeface="Calibri" pitchFamily="34" charset="-120"/>
              </a:rPr>
              <a:t>›</a:t>
            </a:r>
            <a:endParaRPr lang="en-US" sz="3400" dirty="0"/>
          </a:p>
        </p:txBody>
      </p:sp>
      <p:sp>
        <p:nvSpPr>
          <p:cNvPr id="46" name="Shape 44"/>
          <p:cNvSpPr/>
          <p:nvPr/>
        </p:nvSpPr>
        <p:spPr>
          <a:xfrm>
            <a:off x="9631375" y="2880360"/>
            <a:ext cx="2057400" cy="1188720"/>
          </a:xfrm>
          <a:prstGeom prst="roundRect">
            <a:avLst>
              <a:gd name="adj" fmla="val 9231"/>
            </a:avLst>
          </a:prstGeom>
          <a:solidFill>
            <a:srgbClr val="059669"/>
          </a:solidFill>
          <a:ln/>
          <a:effectLst>
            <a:outerShdw blurRad="127000" dist="38100" dir="5400000" algn="bl" rotWithShape="0">
              <a:srgbClr val="10B981">
                <a:alpha val="35000"/>
              </a:srgbClr>
            </a:outerShdw>
          </a:effectLst>
        </p:spPr>
        <p:txBody>
          <a:bodyPr/>
          <a:lstStyle/>
          <a:p>
            <a:endParaRPr lang="en-US"/>
          </a:p>
        </p:txBody>
      </p:sp>
      <p:sp>
        <p:nvSpPr>
          <p:cNvPr id="47" name="Text 45"/>
          <p:cNvSpPr/>
          <p:nvPr/>
        </p:nvSpPr>
        <p:spPr>
          <a:xfrm>
            <a:off x="9631375" y="2880360"/>
            <a:ext cx="2057400" cy="1188720"/>
          </a:xfrm>
          <a:prstGeom prst="rect">
            <a:avLst/>
          </a:prstGeom>
          <a:noFill/>
          <a:ln/>
        </p:spPr>
        <p:txBody>
          <a:bodyPr wrap="square" lIns="0" tIns="0" rIns="0" bIns="0" rtlCol="0" anchor="ctr"/>
          <a:lstStyle/>
          <a:p>
            <a:pPr marL="0" indent="0" algn="ctr">
              <a:lnSpc>
                <a:spcPct val="100000"/>
              </a:lnSpc>
              <a:buNone/>
            </a:pPr>
            <a:r>
              <a:rPr lang="en-US" sz="1400" b="1" dirty="0">
                <a:solidFill>
                  <a:srgbClr val="FFFFFF"/>
                </a:solidFill>
                <a:latin typeface="Calibri" pitchFamily="34" charset="0"/>
                <a:ea typeface="Calibri" pitchFamily="34" charset="-122"/>
                <a:cs typeface="Calibri" pitchFamily="34" charset="-120"/>
              </a:rPr>
              <a:t>One exhibition</a:t>
            </a:r>
            <a:endParaRPr lang="en-US" sz="1400" dirty="0"/>
          </a:p>
          <a:p>
            <a:pPr marL="0" indent="0" algn="ctr">
              <a:lnSpc>
                <a:spcPct val="100000"/>
              </a:lnSpc>
              <a:buNone/>
            </a:pPr>
            <a:r>
              <a:rPr lang="en-US" sz="1400" b="1" dirty="0">
                <a:solidFill>
                  <a:srgbClr val="FFFFFF"/>
                </a:solidFill>
                <a:latin typeface="Calibri" pitchFamily="34" charset="0"/>
                <a:ea typeface="Calibri" pitchFamily="34" charset="-122"/>
                <a:cs typeface="Calibri" pitchFamily="34" charset="-120"/>
              </a:rPr>
              <a:t>workspace</a:t>
            </a:r>
            <a:endParaRPr lang="en-US" sz="1400" dirty="0"/>
          </a:p>
          <a:p>
            <a:pPr marL="0" indent="0" algn="ctr">
              <a:lnSpc>
                <a:spcPct val="100000"/>
              </a:lnSpc>
              <a:buNone/>
            </a:pPr>
            <a:r>
              <a:rPr lang="en-US" sz="1000" dirty="0">
                <a:solidFill>
                  <a:srgbClr val="D1FAE5"/>
                </a:solidFill>
                <a:latin typeface="Calibri" pitchFamily="34" charset="0"/>
                <a:ea typeface="Calibri" pitchFamily="34" charset="-122"/>
                <a:cs typeface="Calibri" pitchFamily="34" charset="-120"/>
              </a:rPr>
              <a:t>structured &amp; searchable</a:t>
            </a:r>
            <a:endParaRPr lang="en-US" sz="1400" dirty="0"/>
          </a:p>
        </p:txBody>
      </p:sp>
      <p:sp>
        <p:nvSpPr>
          <p:cNvPr id="48" name="Shape 46"/>
          <p:cNvSpPr/>
          <p:nvPr/>
        </p:nvSpPr>
        <p:spPr>
          <a:xfrm>
            <a:off x="6355080" y="4892040"/>
            <a:ext cx="5333695" cy="1234440"/>
          </a:xfrm>
          <a:prstGeom prst="roundRect">
            <a:avLst>
              <a:gd name="adj" fmla="val 7407"/>
            </a:avLst>
          </a:prstGeom>
          <a:solidFill>
            <a:srgbClr val="F8FAFC"/>
          </a:solidFill>
          <a:ln w="12700">
            <a:solidFill>
              <a:srgbClr val="E2E8F0"/>
            </a:solidFill>
            <a:prstDash val="solid"/>
          </a:ln>
        </p:spPr>
        <p:txBody>
          <a:bodyPr/>
          <a:lstStyle/>
          <a:p>
            <a:endParaRPr lang="en-US"/>
          </a:p>
        </p:txBody>
      </p:sp>
      <p:sp>
        <p:nvSpPr>
          <p:cNvPr id="49" name="Text 47"/>
          <p:cNvSpPr/>
          <p:nvPr/>
        </p:nvSpPr>
        <p:spPr>
          <a:xfrm>
            <a:off x="6629400" y="4892040"/>
            <a:ext cx="4785055" cy="1234440"/>
          </a:xfrm>
          <a:prstGeom prst="rect">
            <a:avLst/>
          </a:prstGeom>
          <a:noFill/>
          <a:ln/>
        </p:spPr>
        <p:txBody>
          <a:bodyPr wrap="square" lIns="0" tIns="0" rIns="0" bIns="0" rtlCol="0" anchor="ctr"/>
          <a:lstStyle/>
          <a:p>
            <a:pPr marL="0" indent="0" algn="l">
              <a:lnSpc>
                <a:spcPct val="120000"/>
              </a:lnSpc>
              <a:buNone/>
            </a:pPr>
            <a:r>
              <a:rPr lang="en-US" sz="1400" dirty="0">
                <a:solidFill>
                  <a:srgbClr val="475569"/>
                </a:solidFill>
                <a:latin typeface="Calibri" pitchFamily="34" charset="0"/>
                <a:ea typeface="Calibri" pitchFamily="34" charset="-122"/>
                <a:cs typeface="Calibri" pitchFamily="34" charset="-120"/>
              </a:rPr>
              <a:t>The real problem is not your CRM. </a:t>
            </a:r>
            <a:r>
              <a:rPr lang="en-US" sz="1400" b="1" dirty="0">
                <a:solidFill>
                  <a:srgbClr val="0F172A"/>
                </a:solidFill>
                <a:latin typeface="Calibri" pitchFamily="34" charset="0"/>
                <a:ea typeface="Calibri" pitchFamily="34" charset="-122"/>
                <a:cs typeface="Calibri" pitchFamily="34" charset="-120"/>
              </a:rPr>
              <a:t>It is fragmented exhibition execution,</a:t>
            </a:r>
            <a:r>
              <a:rPr lang="en-US" sz="1400" dirty="0">
                <a:solidFill>
                  <a:srgbClr val="475569"/>
                </a:solidFill>
                <a:latin typeface="Calibri" pitchFamily="34" charset="0"/>
                <a:ea typeface="Calibri" pitchFamily="34" charset="-122"/>
                <a:cs typeface="Calibri" pitchFamily="34" charset="-120"/>
              </a:rPr>
              <a:t> brought into one place.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6" name="Text 4"/>
          <p:cNvSpPr/>
          <p:nvPr/>
        </p:nvSpPr>
        <p:spPr>
          <a:xfrm>
            <a:off x="502920" y="396914"/>
            <a:ext cx="2011680" cy="329184"/>
          </a:xfrm>
          <a:prstGeom prst="rect">
            <a:avLst/>
          </a:prstGeom>
          <a:noFill/>
          <a:ln/>
        </p:spPr>
        <p:txBody>
          <a:bodyPr wrap="square" lIns="0" tIns="0" rIns="0" bIns="0" rtlCol="0" anchor="ctr"/>
          <a:lstStyle/>
          <a:p>
            <a:pPr marL="0" indent="0" algn="l">
              <a:buNone/>
            </a:pPr>
            <a:r>
              <a:rPr lang="en-US" sz="1500" b="1" dirty="0">
                <a:solidFill>
                  <a:srgbClr val="0F172A"/>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marL="0" indent="0" algn="l">
              <a:buNone/>
            </a:pPr>
            <a:r>
              <a:rPr lang="en-US" sz="1100" b="1" kern="0" spc="220" dirty="0">
                <a:solidFill>
                  <a:srgbClr val="059669"/>
                </a:solidFill>
                <a:latin typeface="Calibri" pitchFamily="34" charset="0"/>
                <a:ea typeface="Calibri" pitchFamily="34" charset="-122"/>
                <a:cs typeface="Calibri" pitchFamily="34" charset="-120"/>
              </a:rPr>
              <a:t>THE LONG-TERM VALUE</a:t>
            </a:r>
            <a:endParaRPr lang="en-US" sz="1100" dirty="0"/>
          </a:p>
        </p:txBody>
      </p:sp>
      <p:sp>
        <p:nvSpPr>
          <p:cNvPr id="8" name="Text 6"/>
          <p:cNvSpPr/>
          <p:nvPr/>
        </p:nvSpPr>
        <p:spPr>
          <a:xfrm>
            <a:off x="502920" y="1325880"/>
            <a:ext cx="10972800" cy="502920"/>
          </a:xfrm>
          <a:prstGeom prst="rect">
            <a:avLst/>
          </a:prstGeom>
          <a:noFill/>
          <a:ln/>
        </p:spPr>
        <p:txBody>
          <a:bodyPr wrap="square" lIns="0" tIns="0" rIns="0" bIns="0" rtlCol="0" anchor="t"/>
          <a:lstStyle/>
          <a:p>
            <a:pPr marL="0" indent="0" algn="l">
              <a:buNone/>
            </a:pPr>
            <a:r>
              <a:rPr lang="en-US" sz="2600" b="1" dirty="0">
                <a:solidFill>
                  <a:srgbClr val="0F172A"/>
                </a:solidFill>
                <a:latin typeface="Calibri" pitchFamily="34" charset="0"/>
                <a:ea typeface="Calibri" pitchFamily="34" charset="-122"/>
                <a:cs typeface="Calibri" pitchFamily="34" charset="-120"/>
              </a:rPr>
              <a:t>Not a business-card scanner. </a:t>
            </a:r>
            <a:r>
              <a:rPr lang="en-US" sz="2600" b="1" dirty="0">
                <a:solidFill>
                  <a:srgbClr val="059669"/>
                </a:solidFill>
                <a:latin typeface="Calibri" pitchFamily="34" charset="0"/>
                <a:ea typeface="Calibri" pitchFamily="34" charset="-122"/>
                <a:cs typeface="Calibri" pitchFamily="34" charset="-120"/>
              </a:rPr>
              <a:t>An Exhibition Intelligence Workspace.</a:t>
            </a:r>
            <a:endParaRPr lang="en-US" sz="2600" dirty="0"/>
          </a:p>
        </p:txBody>
      </p:sp>
      <p:sp>
        <p:nvSpPr>
          <p:cNvPr id="9" name="Text 7"/>
          <p:cNvSpPr/>
          <p:nvPr/>
        </p:nvSpPr>
        <p:spPr>
          <a:xfrm>
            <a:off x="502920" y="1920240"/>
            <a:ext cx="10515600" cy="457200"/>
          </a:xfrm>
          <a:prstGeom prst="rect">
            <a:avLst/>
          </a:prstGeom>
          <a:noFill/>
          <a:ln/>
        </p:spPr>
        <p:txBody>
          <a:bodyPr wrap="square" lIns="0" tIns="0" rIns="0" bIns="0" rtlCol="0" anchor="t"/>
          <a:lstStyle/>
          <a:p>
            <a:pPr marL="0" indent="0" algn="l">
              <a:buNone/>
            </a:pPr>
            <a:r>
              <a:rPr lang="en-US" sz="1300" dirty="0">
                <a:solidFill>
                  <a:srgbClr val="64748B"/>
                </a:solidFill>
                <a:latin typeface="Calibri" pitchFamily="34" charset="0"/>
                <a:ea typeface="Calibri" pitchFamily="34" charset="-122"/>
                <a:cs typeface="Calibri" pitchFamily="34" charset="-120"/>
              </a:rPr>
              <a:t>The value is turning exhibition activity into structured commercial intelligence, and helping management understand the performance of the show itself.</a:t>
            </a:r>
            <a:endParaRPr lang="en-US" sz="1300" dirty="0"/>
          </a:p>
        </p:txBody>
      </p:sp>
      <p:sp>
        <p:nvSpPr>
          <p:cNvPr id="10" name="Shape 8"/>
          <p:cNvSpPr/>
          <p:nvPr/>
        </p:nvSpPr>
        <p:spPr>
          <a:xfrm>
            <a:off x="502920" y="2606040"/>
            <a:ext cx="2625014" cy="3291840"/>
          </a:xfrm>
          <a:prstGeom prst="roundRect">
            <a:avLst>
              <a:gd name="adj" fmla="val 3135"/>
            </a:avLst>
          </a:prstGeom>
          <a:solidFill>
            <a:srgbClr val="F8FAFC"/>
          </a:solidFill>
          <a:ln w="15240">
            <a:solidFill>
              <a:srgbClr val="E2E8F0"/>
            </a:solidFill>
            <a:prstDash val="solid"/>
          </a:ln>
        </p:spPr>
        <p:txBody>
          <a:bodyPr/>
          <a:lstStyle/>
          <a:p>
            <a:endParaRPr lang="en-US"/>
          </a:p>
        </p:txBody>
      </p:sp>
      <p:sp>
        <p:nvSpPr>
          <p:cNvPr id="11" name="Shape 9"/>
          <p:cNvSpPr/>
          <p:nvPr/>
        </p:nvSpPr>
        <p:spPr>
          <a:xfrm>
            <a:off x="758952" y="2898648"/>
            <a:ext cx="128016" cy="128016"/>
          </a:xfrm>
          <a:prstGeom prst="roundRect">
            <a:avLst>
              <a:gd name="adj" fmla="val 50000"/>
            </a:avLst>
          </a:prstGeom>
          <a:solidFill>
            <a:srgbClr val="10B981"/>
          </a:solidFill>
          <a:ln/>
        </p:spPr>
        <p:txBody>
          <a:bodyPr/>
          <a:lstStyle/>
          <a:p>
            <a:endParaRPr lang="en-US"/>
          </a:p>
        </p:txBody>
      </p:sp>
      <p:sp>
        <p:nvSpPr>
          <p:cNvPr id="12" name="Text 10"/>
          <p:cNvSpPr/>
          <p:nvPr/>
        </p:nvSpPr>
        <p:spPr>
          <a:xfrm>
            <a:off x="960120" y="2807208"/>
            <a:ext cx="1984934" cy="274320"/>
          </a:xfrm>
          <a:prstGeom prst="rect">
            <a:avLst/>
          </a:prstGeom>
          <a:noFill/>
          <a:ln/>
        </p:spPr>
        <p:txBody>
          <a:bodyPr wrap="square" lIns="0" tIns="0" rIns="0" bIns="0" rtlCol="0" anchor="ctr"/>
          <a:lstStyle/>
          <a:p>
            <a:pPr marL="0" indent="0" algn="l">
              <a:buNone/>
            </a:pPr>
            <a:r>
              <a:rPr lang="en-US" sz="1300" b="1" kern="0" spc="60" dirty="0">
                <a:solidFill>
                  <a:srgbClr val="0F172A"/>
                </a:solidFill>
                <a:latin typeface="Calibri" pitchFamily="34" charset="0"/>
                <a:ea typeface="Calibri" pitchFamily="34" charset="-122"/>
                <a:cs typeface="Calibri" pitchFamily="34" charset="-120"/>
              </a:rPr>
              <a:t>BEFORE</a:t>
            </a:r>
            <a:endParaRPr lang="en-US" sz="1300" dirty="0"/>
          </a:p>
        </p:txBody>
      </p:sp>
      <p:sp>
        <p:nvSpPr>
          <p:cNvPr id="13" name="Text 11"/>
          <p:cNvSpPr/>
          <p:nvPr/>
        </p:nvSpPr>
        <p:spPr>
          <a:xfrm>
            <a:off x="758952" y="3291840"/>
            <a:ext cx="2167814" cy="2286000"/>
          </a:xfrm>
          <a:prstGeom prst="rect">
            <a:avLst/>
          </a:prstGeom>
          <a:noFill/>
          <a:ln/>
        </p:spPr>
        <p:txBody>
          <a:bodyPr wrap="square" lIns="0" tIns="0" rIns="0" bIns="0" rtlCol="0" anchor="t"/>
          <a:lstStyle/>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are our objectives?</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are our targets?</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Which companies and booths matter?</a:t>
            </a:r>
            <a:endParaRPr lang="en-US" sz="1100" dirty="0"/>
          </a:p>
        </p:txBody>
      </p:sp>
      <p:sp>
        <p:nvSpPr>
          <p:cNvPr id="14" name="Shape 12"/>
          <p:cNvSpPr/>
          <p:nvPr/>
        </p:nvSpPr>
        <p:spPr>
          <a:xfrm>
            <a:off x="3356534" y="2606040"/>
            <a:ext cx="2625014" cy="3291840"/>
          </a:xfrm>
          <a:prstGeom prst="roundRect">
            <a:avLst>
              <a:gd name="adj" fmla="val 3135"/>
            </a:avLst>
          </a:prstGeom>
          <a:solidFill>
            <a:srgbClr val="F8FAFC"/>
          </a:solidFill>
          <a:ln w="15240">
            <a:solidFill>
              <a:srgbClr val="E2E8F0"/>
            </a:solidFill>
            <a:prstDash val="solid"/>
          </a:ln>
        </p:spPr>
        <p:txBody>
          <a:bodyPr/>
          <a:lstStyle/>
          <a:p>
            <a:endParaRPr lang="en-US"/>
          </a:p>
        </p:txBody>
      </p:sp>
      <p:sp>
        <p:nvSpPr>
          <p:cNvPr id="15" name="Shape 13"/>
          <p:cNvSpPr/>
          <p:nvPr/>
        </p:nvSpPr>
        <p:spPr>
          <a:xfrm>
            <a:off x="3612566" y="2898648"/>
            <a:ext cx="128016" cy="128016"/>
          </a:xfrm>
          <a:prstGeom prst="roundRect">
            <a:avLst>
              <a:gd name="adj" fmla="val 50000"/>
            </a:avLst>
          </a:prstGeom>
          <a:solidFill>
            <a:srgbClr val="10B981"/>
          </a:solidFill>
          <a:ln/>
        </p:spPr>
        <p:txBody>
          <a:bodyPr/>
          <a:lstStyle/>
          <a:p>
            <a:endParaRPr lang="en-US"/>
          </a:p>
        </p:txBody>
      </p:sp>
      <p:sp>
        <p:nvSpPr>
          <p:cNvPr id="16" name="Text 14"/>
          <p:cNvSpPr/>
          <p:nvPr/>
        </p:nvSpPr>
        <p:spPr>
          <a:xfrm>
            <a:off x="3813734" y="2807208"/>
            <a:ext cx="1984934" cy="274320"/>
          </a:xfrm>
          <a:prstGeom prst="rect">
            <a:avLst/>
          </a:prstGeom>
          <a:noFill/>
          <a:ln/>
        </p:spPr>
        <p:txBody>
          <a:bodyPr wrap="square" lIns="0" tIns="0" rIns="0" bIns="0" rtlCol="0" anchor="ctr"/>
          <a:lstStyle/>
          <a:p>
            <a:pPr marL="0" indent="0" algn="l">
              <a:buNone/>
            </a:pPr>
            <a:r>
              <a:rPr lang="en-US" sz="1300" b="1" kern="0" spc="60" dirty="0">
                <a:solidFill>
                  <a:srgbClr val="0F172A"/>
                </a:solidFill>
                <a:latin typeface="Calibri" pitchFamily="34" charset="0"/>
                <a:ea typeface="Calibri" pitchFamily="34" charset="-122"/>
                <a:cs typeface="Calibri" pitchFamily="34" charset="-120"/>
              </a:rPr>
              <a:t>DURING</a:t>
            </a:r>
            <a:endParaRPr lang="en-US" sz="1300" dirty="0"/>
          </a:p>
        </p:txBody>
      </p:sp>
      <p:sp>
        <p:nvSpPr>
          <p:cNvPr id="17" name="Text 15"/>
          <p:cNvSpPr/>
          <p:nvPr/>
        </p:nvSpPr>
        <p:spPr>
          <a:xfrm>
            <a:off x="3612566" y="3291840"/>
            <a:ext cx="2167814" cy="2286000"/>
          </a:xfrm>
          <a:prstGeom prst="rect">
            <a:avLst/>
          </a:prstGeom>
          <a:noFill/>
          <a:ln/>
        </p:spPr>
        <p:txBody>
          <a:bodyPr wrap="square" lIns="0" tIns="0" rIns="0" bIns="0" rtlCol="0" anchor="t"/>
          <a:lstStyle/>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has the team met?</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opportunities are emerging?</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is high priority?</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commitments were made?</a:t>
            </a:r>
            <a:endParaRPr lang="en-US" sz="1100" dirty="0"/>
          </a:p>
        </p:txBody>
      </p:sp>
      <p:sp>
        <p:nvSpPr>
          <p:cNvPr id="18" name="Shape 16"/>
          <p:cNvSpPr/>
          <p:nvPr/>
        </p:nvSpPr>
        <p:spPr>
          <a:xfrm>
            <a:off x="6210148" y="2606040"/>
            <a:ext cx="2625014" cy="3291840"/>
          </a:xfrm>
          <a:prstGeom prst="roundRect">
            <a:avLst>
              <a:gd name="adj" fmla="val 3135"/>
            </a:avLst>
          </a:prstGeom>
          <a:solidFill>
            <a:srgbClr val="F8FAFC"/>
          </a:solidFill>
          <a:ln w="15240">
            <a:solidFill>
              <a:srgbClr val="E2E8F0"/>
            </a:solidFill>
            <a:prstDash val="solid"/>
          </a:ln>
        </p:spPr>
        <p:txBody>
          <a:bodyPr/>
          <a:lstStyle/>
          <a:p>
            <a:endParaRPr lang="en-US"/>
          </a:p>
        </p:txBody>
      </p:sp>
      <p:sp>
        <p:nvSpPr>
          <p:cNvPr id="19" name="Shape 17"/>
          <p:cNvSpPr/>
          <p:nvPr/>
        </p:nvSpPr>
        <p:spPr>
          <a:xfrm>
            <a:off x="6466180" y="2898648"/>
            <a:ext cx="128016" cy="128016"/>
          </a:xfrm>
          <a:prstGeom prst="roundRect">
            <a:avLst>
              <a:gd name="adj" fmla="val 50000"/>
            </a:avLst>
          </a:prstGeom>
          <a:solidFill>
            <a:srgbClr val="10B981"/>
          </a:solidFill>
          <a:ln/>
        </p:spPr>
        <p:txBody>
          <a:bodyPr/>
          <a:lstStyle/>
          <a:p>
            <a:endParaRPr lang="en-US"/>
          </a:p>
        </p:txBody>
      </p:sp>
      <p:sp>
        <p:nvSpPr>
          <p:cNvPr id="20" name="Text 18"/>
          <p:cNvSpPr/>
          <p:nvPr/>
        </p:nvSpPr>
        <p:spPr>
          <a:xfrm>
            <a:off x="6667348" y="2807208"/>
            <a:ext cx="1984934" cy="274320"/>
          </a:xfrm>
          <a:prstGeom prst="rect">
            <a:avLst/>
          </a:prstGeom>
          <a:noFill/>
          <a:ln/>
        </p:spPr>
        <p:txBody>
          <a:bodyPr wrap="square" lIns="0" tIns="0" rIns="0" bIns="0" rtlCol="0" anchor="ctr"/>
          <a:lstStyle/>
          <a:p>
            <a:pPr marL="0" indent="0" algn="l">
              <a:buNone/>
            </a:pPr>
            <a:r>
              <a:rPr lang="en-US" sz="1300" b="1" kern="0" spc="60" dirty="0">
                <a:solidFill>
                  <a:srgbClr val="0F172A"/>
                </a:solidFill>
                <a:latin typeface="Calibri" pitchFamily="34" charset="0"/>
                <a:ea typeface="Calibri" pitchFamily="34" charset="-122"/>
                <a:cs typeface="Calibri" pitchFamily="34" charset="-120"/>
              </a:rPr>
              <a:t>AFTER</a:t>
            </a:r>
            <a:endParaRPr lang="en-US" sz="1300" dirty="0"/>
          </a:p>
        </p:txBody>
      </p:sp>
      <p:sp>
        <p:nvSpPr>
          <p:cNvPr id="21" name="Text 19"/>
          <p:cNvSpPr/>
          <p:nvPr/>
        </p:nvSpPr>
        <p:spPr>
          <a:xfrm>
            <a:off x="6466180" y="3291840"/>
            <a:ext cx="2167814" cy="2286000"/>
          </a:xfrm>
          <a:prstGeom prst="rect">
            <a:avLst/>
          </a:prstGeom>
          <a:noFill/>
          <a:ln/>
        </p:spPr>
        <p:txBody>
          <a:bodyPr wrap="square" lIns="0" tIns="0" rIns="0" bIns="0" rtlCol="0" anchor="t"/>
          <a:lstStyle/>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came out of the show?</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Which opportunities need action?</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owns each follow-up?</a:t>
            </a:r>
            <a:endParaRPr lang="en-US" sz="1100" dirty="0"/>
          </a:p>
          <a:p>
            <a:pPr marL="139700" indent="-139700" algn="l">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Which products drew interest?</a:t>
            </a:r>
            <a:endParaRPr lang="en-US" sz="1100" dirty="0"/>
          </a:p>
        </p:txBody>
      </p:sp>
      <p:sp>
        <p:nvSpPr>
          <p:cNvPr id="22" name="Shape 20"/>
          <p:cNvSpPr/>
          <p:nvPr/>
        </p:nvSpPr>
        <p:spPr>
          <a:xfrm>
            <a:off x="9063761" y="2606040"/>
            <a:ext cx="2625014" cy="3291840"/>
          </a:xfrm>
          <a:prstGeom prst="roundRect">
            <a:avLst>
              <a:gd name="adj" fmla="val 3135"/>
            </a:avLst>
          </a:prstGeom>
          <a:solidFill>
            <a:srgbClr val="FFFBEB"/>
          </a:solidFill>
          <a:ln w="15240">
            <a:solidFill>
              <a:srgbClr val="FDE68A"/>
            </a:solidFill>
            <a:prstDash val="solid"/>
          </a:ln>
        </p:spPr>
        <p:txBody>
          <a:bodyPr/>
          <a:lstStyle/>
          <a:p>
            <a:endParaRPr lang="en-US"/>
          </a:p>
        </p:txBody>
      </p:sp>
      <p:sp>
        <p:nvSpPr>
          <p:cNvPr id="23" name="Shape 21"/>
          <p:cNvSpPr/>
          <p:nvPr/>
        </p:nvSpPr>
        <p:spPr>
          <a:xfrm>
            <a:off x="9319793" y="2898648"/>
            <a:ext cx="128016" cy="128016"/>
          </a:xfrm>
          <a:prstGeom prst="roundRect">
            <a:avLst>
              <a:gd name="adj" fmla="val 50000"/>
            </a:avLst>
          </a:prstGeom>
          <a:solidFill>
            <a:srgbClr val="F59E0B"/>
          </a:solidFill>
          <a:ln/>
        </p:spPr>
        <p:txBody>
          <a:bodyPr/>
          <a:lstStyle/>
          <a:p>
            <a:endParaRPr lang="en-US"/>
          </a:p>
        </p:txBody>
      </p:sp>
      <p:sp>
        <p:nvSpPr>
          <p:cNvPr id="24" name="Text 22"/>
          <p:cNvSpPr/>
          <p:nvPr/>
        </p:nvSpPr>
        <p:spPr>
          <a:xfrm>
            <a:off x="9520961" y="2807208"/>
            <a:ext cx="1984934" cy="274320"/>
          </a:xfrm>
          <a:prstGeom prst="rect">
            <a:avLst/>
          </a:prstGeom>
          <a:noFill/>
          <a:ln/>
        </p:spPr>
        <p:txBody>
          <a:bodyPr wrap="square" lIns="0" tIns="0" rIns="0" bIns="0" rtlCol="0" anchor="ctr"/>
          <a:lstStyle/>
          <a:p>
            <a:pPr marL="0" indent="0" algn="l">
              <a:buNone/>
            </a:pPr>
            <a:r>
              <a:rPr lang="en-US" sz="1300" b="1" kern="0" spc="60" dirty="0">
                <a:solidFill>
                  <a:srgbClr val="0F172A"/>
                </a:solidFill>
                <a:latin typeface="Calibri" pitchFamily="34" charset="0"/>
                <a:ea typeface="Calibri" pitchFamily="34" charset="-122"/>
                <a:cs typeface="Calibri" pitchFamily="34" charset="-120"/>
              </a:rPr>
              <a:t>OVER TIME</a:t>
            </a:r>
            <a:endParaRPr lang="en-US" sz="1300" dirty="0"/>
          </a:p>
        </p:txBody>
      </p:sp>
      <p:sp>
        <p:nvSpPr>
          <p:cNvPr id="25" name="Shape 23"/>
          <p:cNvSpPr/>
          <p:nvPr/>
        </p:nvSpPr>
        <p:spPr>
          <a:xfrm>
            <a:off x="9319793" y="3172968"/>
            <a:ext cx="1051560" cy="237744"/>
          </a:xfrm>
          <a:prstGeom prst="roundRect">
            <a:avLst>
              <a:gd name="adj" fmla="val 30769"/>
            </a:avLst>
          </a:prstGeom>
          <a:solidFill>
            <a:srgbClr val="FFFFFF"/>
          </a:solidFill>
          <a:ln w="12700">
            <a:solidFill>
              <a:srgbClr val="FDE68A"/>
            </a:solidFill>
            <a:prstDash val="solid"/>
          </a:ln>
        </p:spPr>
        <p:txBody>
          <a:bodyPr/>
          <a:lstStyle/>
          <a:p>
            <a:endParaRPr lang="en-US"/>
          </a:p>
        </p:txBody>
      </p:sp>
      <p:sp>
        <p:nvSpPr>
          <p:cNvPr id="26" name="Text 24"/>
          <p:cNvSpPr/>
          <p:nvPr/>
        </p:nvSpPr>
        <p:spPr>
          <a:xfrm>
            <a:off x="9319793" y="3172968"/>
            <a:ext cx="1051560" cy="237744"/>
          </a:xfrm>
          <a:prstGeom prst="rect">
            <a:avLst/>
          </a:prstGeom>
          <a:noFill/>
          <a:ln/>
        </p:spPr>
        <p:txBody>
          <a:bodyPr wrap="square" lIns="0" tIns="0" rIns="0" bIns="0" rtlCol="0" anchor="ctr"/>
          <a:lstStyle/>
          <a:p>
            <a:pPr marL="0" indent="0" algn="ctr">
              <a:buNone/>
            </a:pPr>
            <a:r>
              <a:rPr lang="en-US" sz="800" b="1" dirty="0">
                <a:solidFill>
                  <a:srgbClr val="7C5B16"/>
                </a:solidFill>
                <a:latin typeface="Calibri" pitchFamily="34" charset="0"/>
                <a:ea typeface="Calibri" pitchFamily="34" charset="-122"/>
                <a:cs typeface="Calibri" pitchFamily="34" charset="-120"/>
              </a:rPr>
              <a:t>● DIRECTION</a:t>
            </a:r>
            <a:endParaRPr lang="en-US" sz="800" dirty="0"/>
          </a:p>
        </p:txBody>
      </p:sp>
      <p:sp>
        <p:nvSpPr>
          <p:cNvPr id="27" name="Text 25"/>
          <p:cNvSpPr/>
          <p:nvPr/>
        </p:nvSpPr>
        <p:spPr>
          <a:xfrm>
            <a:off x="9319793" y="3566160"/>
            <a:ext cx="2167814" cy="2286000"/>
          </a:xfrm>
          <a:prstGeom prst="rect">
            <a:avLst/>
          </a:prstGeom>
          <a:noFill/>
          <a:ln/>
        </p:spPr>
        <p:txBody>
          <a:bodyPr wrap="square" lIns="0" tIns="0" rIns="0" bIns="0" rtlCol="0" anchor="t"/>
          <a:lstStyle/>
          <a:p>
            <a:pPr marL="139700" indent="-139700" algn="l">
              <a:spcAft>
                <a:spcPts val="700"/>
              </a:spcAft>
              <a:buSzPct val="100000"/>
              <a:buChar char="•"/>
            </a:pPr>
            <a:r>
              <a:rPr lang="en-US" sz="1100" dirty="0">
                <a:solidFill>
                  <a:srgbClr val="92600C"/>
                </a:solidFill>
                <a:latin typeface="Calibri" pitchFamily="34" charset="0"/>
                <a:ea typeface="Calibri" pitchFamily="34" charset="-122"/>
                <a:cs typeface="Calibri" pitchFamily="34" charset="-120"/>
              </a:rPr>
              <a:t>Which shows created real opportunities?</a:t>
            </a:r>
            <a:endParaRPr lang="en-US" sz="1100" dirty="0"/>
          </a:p>
          <a:p>
            <a:pPr marL="139700" indent="-139700" algn="l">
              <a:spcAft>
                <a:spcPts val="700"/>
              </a:spcAft>
              <a:buSzPct val="100000"/>
              <a:buChar char="•"/>
            </a:pPr>
            <a:r>
              <a:rPr lang="en-US" sz="1100" dirty="0">
                <a:solidFill>
                  <a:srgbClr val="92600C"/>
                </a:solidFill>
                <a:latin typeface="Calibri" pitchFamily="34" charset="0"/>
                <a:ea typeface="Calibri" pitchFamily="34" charset="-122"/>
                <a:cs typeface="Calibri" pitchFamily="34" charset="-120"/>
              </a:rPr>
              <a:t>Which led to samples, quotes or orders?</a:t>
            </a:r>
            <a:endParaRPr lang="en-US" sz="1100" dirty="0"/>
          </a:p>
          <a:p>
            <a:pPr marL="139700" indent="-139700" algn="l">
              <a:spcAft>
                <a:spcPts val="700"/>
              </a:spcAft>
              <a:buSzPct val="100000"/>
              <a:buChar char="•"/>
            </a:pPr>
            <a:r>
              <a:rPr lang="en-US" sz="1100" dirty="0">
                <a:solidFill>
                  <a:srgbClr val="92600C"/>
                </a:solidFill>
                <a:latin typeface="Calibri" pitchFamily="34" charset="0"/>
                <a:ea typeface="Calibri" pitchFamily="34" charset="-122"/>
                <a:cs typeface="Calibri" pitchFamily="34" charset="-120"/>
              </a:rPr>
              <a:t>Which shows deserve future investment?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6" name="Text 4"/>
          <p:cNvSpPr/>
          <p:nvPr/>
        </p:nvSpPr>
        <p:spPr>
          <a:xfrm>
            <a:off x="502920" y="457200"/>
            <a:ext cx="2011680" cy="329184"/>
          </a:xfrm>
          <a:prstGeom prst="rect">
            <a:avLst/>
          </a:prstGeom>
          <a:noFill/>
          <a:ln/>
        </p:spPr>
        <p:txBody>
          <a:bodyPr wrap="square" lIns="0" tIns="0" rIns="0" bIns="0" rtlCol="0" anchor="ctr"/>
          <a:lstStyle/>
          <a:p>
            <a:pPr marL="0" indent="0" algn="l">
              <a:buNone/>
            </a:pPr>
            <a:r>
              <a:rPr lang="en-US" sz="1500" b="1" dirty="0">
                <a:solidFill>
                  <a:srgbClr val="FFFFFF"/>
                </a:solidFill>
                <a:latin typeface="Calibri" pitchFamily="34" charset="0"/>
                <a:ea typeface="Calibri" pitchFamily="34" charset="-122"/>
                <a:cs typeface="Calibri" pitchFamily="34" charset="-120"/>
              </a:rPr>
              <a:t>Expo</a:t>
            </a:r>
            <a:r>
              <a:rPr lang="en-US" sz="1500" b="1" dirty="0">
                <a:solidFill>
                  <a:srgbClr val="10B981"/>
                </a:solidFill>
                <a:latin typeface="Calibri" pitchFamily="34" charset="0"/>
                <a:ea typeface="Calibri" pitchFamily="34" charset="-122"/>
                <a:cs typeface="Calibri" pitchFamily="34" charset="-120"/>
              </a:rPr>
              <a:t>Lead</a:t>
            </a: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737360"/>
            <a:ext cx="10972800" cy="1463040"/>
          </a:xfrm>
          <a:prstGeom prst="rect">
            <a:avLst/>
          </a:prstGeom>
          <a:noFill/>
          <a:ln/>
        </p:spPr>
        <p:txBody>
          <a:bodyPr wrap="square" lIns="0" tIns="0" rIns="0" bIns="0" rtlCol="0" anchor="t"/>
          <a:lstStyle/>
          <a:p>
            <a:pPr marL="0" indent="0" algn="l">
              <a:lnSpc>
                <a:spcPct val="103000"/>
              </a:lnSpc>
              <a:buNone/>
            </a:pPr>
            <a:r>
              <a:rPr lang="en-US" sz="3600" b="1" dirty="0">
                <a:solidFill>
                  <a:srgbClr val="FFFFFF"/>
                </a:solidFill>
                <a:latin typeface="Calibri" pitchFamily="34" charset="0"/>
                <a:ea typeface="Calibri" pitchFamily="34" charset="-122"/>
                <a:cs typeface="Calibri" pitchFamily="34" charset="-120"/>
              </a:rPr>
              <a:t>ExpoLead doesn’t replace your CRM.</a:t>
            </a:r>
            <a:endParaRPr lang="en-US" sz="3600" dirty="0"/>
          </a:p>
          <a:p>
            <a:pPr marL="0" indent="0" algn="l">
              <a:lnSpc>
                <a:spcPct val="103000"/>
              </a:lnSpc>
              <a:buNone/>
            </a:pPr>
            <a:r>
              <a:rPr lang="en-US" sz="3600" b="1" dirty="0">
                <a:solidFill>
                  <a:srgbClr val="34D399"/>
                </a:solidFill>
                <a:latin typeface="Calibri" pitchFamily="34" charset="0"/>
                <a:ea typeface="Calibri" pitchFamily="34" charset="-122"/>
                <a:cs typeface="Calibri" pitchFamily="34" charset="-120"/>
              </a:rPr>
              <a:t>It owns the exhibition layer.</a:t>
            </a:r>
            <a:endParaRPr lang="en-US" sz="3600" dirty="0"/>
          </a:p>
        </p:txBody>
      </p:sp>
      <p:sp>
        <p:nvSpPr>
          <p:cNvPr id="8" name="Text 6"/>
          <p:cNvSpPr/>
          <p:nvPr/>
        </p:nvSpPr>
        <p:spPr>
          <a:xfrm>
            <a:off x="502920" y="3200400"/>
            <a:ext cx="7772400" cy="548640"/>
          </a:xfrm>
          <a:prstGeom prst="rect">
            <a:avLst/>
          </a:prstGeom>
          <a:noFill/>
          <a:ln/>
        </p:spPr>
        <p:txBody>
          <a:bodyPr wrap="square" lIns="0" tIns="0" rIns="0" bIns="0" rtlCol="0" anchor="t"/>
          <a:lstStyle/>
          <a:p>
            <a:pPr marL="0" indent="0" algn="l">
              <a:lnSpc>
                <a:spcPct val="115000"/>
              </a:lnSpc>
              <a:buNone/>
            </a:pPr>
            <a:r>
              <a:rPr lang="en-US" sz="1500" dirty="0">
                <a:solidFill>
                  <a:srgbClr val="CBD5E1"/>
                </a:solidFill>
                <a:latin typeface="Calibri" pitchFamily="34" charset="0"/>
                <a:ea typeface="Calibri" pitchFamily="34" charset="-122"/>
                <a:cs typeface="Calibri" pitchFamily="34" charset="-120"/>
              </a:rPr>
              <a:t>Before, during and immediately after the show. Your CRM keeps the relationship, the pipeline and the revenue.</a:t>
            </a:r>
            <a:endParaRPr lang="en-US" sz="1500" dirty="0"/>
          </a:p>
        </p:txBody>
      </p:sp>
      <p:sp>
        <p:nvSpPr>
          <p:cNvPr id="9" name="Shape 7"/>
          <p:cNvSpPr/>
          <p:nvPr/>
        </p:nvSpPr>
        <p:spPr>
          <a:xfrm>
            <a:off x="502920" y="4023360"/>
            <a:ext cx="11185855" cy="1828800"/>
          </a:xfrm>
          <a:prstGeom prst="roundRect">
            <a:avLst>
              <a:gd name="adj" fmla="val 6000"/>
            </a:avLst>
          </a:prstGeom>
          <a:solidFill>
            <a:srgbClr val="12203A"/>
          </a:solidFill>
          <a:ln w="12700">
            <a:solidFill>
              <a:srgbClr val="334155"/>
            </a:solidFill>
            <a:prstDash val="solid"/>
          </a:ln>
        </p:spPr>
        <p:txBody>
          <a:bodyPr/>
          <a:lstStyle/>
          <a:p>
            <a:endParaRPr lang="en-US"/>
          </a:p>
        </p:txBody>
      </p:sp>
      <p:sp>
        <p:nvSpPr>
          <p:cNvPr id="10" name="Text 8"/>
          <p:cNvSpPr/>
          <p:nvPr/>
        </p:nvSpPr>
        <p:spPr>
          <a:xfrm>
            <a:off x="822960" y="4206240"/>
            <a:ext cx="5486400" cy="274320"/>
          </a:xfrm>
          <a:prstGeom prst="rect">
            <a:avLst/>
          </a:prstGeom>
          <a:noFill/>
          <a:ln/>
        </p:spPr>
        <p:txBody>
          <a:bodyPr wrap="square" lIns="0" tIns="0" rIns="0" bIns="0" rtlCol="0" anchor="ctr"/>
          <a:lstStyle/>
          <a:p>
            <a:pPr marL="0" indent="0">
              <a:buNone/>
            </a:pPr>
            <a:r>
              <a:rPr lang="en-US" sz="1100" b="1" kern="0" spc="150" dirty="0">
                <a:solidFill>
                  <a:srgbClr val="34D399"/>
                </a:solidFill>
                <a:latin typeface="Calibri" pitchFamily="34" charset="0"/>
                <a:ea typeface="Calibri" pitchFamily="34" charset="-122"/>
                <a:cs typeface="Calibri" pitchFamily="34" charset="-120"/>
              </a:rPr>
              <a:t>ASK YOUR TEAM</a:t>
            </a:r>
            <a:endParaRPr lang="en-US" sz="1100" dirty="0"/>
          </a:p>
        </p:txBody>
      </p:sp>
      <p:sp>
        <p:nvSpPr>
          <p:cNvPr id="11" name="Text 9"/>
          <p:cNvSpPr/>
          <p:nvPr/>
        </p:nvSpPr>
        <p:spPr>
          <a:xfrm>
            <a:off x="822960" y="4572000"/>
            <a:ext cx="10545775" cy="1188720"/>
          </a:xfrm>
          <a:prstGeom prst="rect">
            <a:avLst/>
          </a:prstGeom>
          <a:noFill/>
          <a:ln/>
        </p:spPr>
        <p:txBody>
          <a:bodyPr wrap="square" lIns="0" tIns="0" rIns="0" bIns="0" rtlCol="0" anchor="t"/>
          <a:lstStyle/>
          <a:p>
            <a:pPr marL="203200" indent="-203200" algn="l">
              <a:spcAft>
                <a:spcPts val="900"/>
              </a:spcAft>
              <a:buSzPct val="100000"/>
              <a:buChar char="?"/>
            </a:pPr>
            <a:r>
              <a:rPr lang="en-US" sz="1350" dirty="0">
                <a:solidFill>
                  <a:srgbClr val="CBD5E1"/>
                </a:solidFill>
                <a:latin typeface="Calibri" pitchFamily="34" charset="0"/>
                <a:ea typeface="Calibri" pitchFamily="34" charset="-122"/>
                <a:cs typeface="Calibri" pitchFamily="34" charset="-120"/>
              </a:rPr>
              <a:t>Back from a show with 100 to 200 conversations, how do you manage everything from that specific exhibition?</a:t>
            </a:r>
            <a:endParaRPr lang="en-US" sz="1350" dirty="0"/>
          </a:p>
          <a:p>
            <a:pPr marL="203200" indent="-203200" algn="l">
              <a:spcAft>
                <a:spcPts val="900"/>
              </a:spcAft>
              <a:buSzPct val="100000"/>
              <a:buChar char="?"/>
            </a:pPr>
            <a:r>
              <a:rPr lang="en-US" sz="1350" dirty="0">
                <a:solidFill>
                  <a:srgbClr val="CBD5E1"/>
                </a:solidFill>
                <a:latin typeface="Calibri" pitchFamily="34" charset="0"/>
                <a:ea typeface="Calibri" pitchFamily="34" charset="-122"/>
                <a:cs typeface="Calibri" pitchFamily="34" charset="-120"/>
              </a:rPr>
              <a:t>How do you separate serious opportunities from casual conversations?</a:t>
            </a:r>
            <a:endParaRPr lang="en-US" sz="1350" dirty="0"/>
          </a:p>
          <a:p>
            <a:pPr marL="203200" indent="-203200" algn="l">
              <a:spcAft>
                <a:spcPts val="900"/>
              </a:spcAft>
              <a:buSzPct val="100000"/>
              <a:buChar char="?"/>
            </a:pPr>
            <a:r>
              <a:rPr lang="en-US" sz="1350" dirty="0">
                <a:solidFill>
                  <a:srgbClr val="CBD5E1"/>
                </a:solidFill>
                <a:latin typeface="Calibri" pitchFamily="34" charset="0"/>
                <a:ea typeface="Calibri" pitchFamily="34" charset="-122"/>
                <a:cs typeface="Calibri" pitchFamily="34" charset="-120"/>
              </a:rPr>
              <a:t>Six months on, can you trace a deal back to the exhibition it started at?</a:t>
            </a:r>
            <a:endParaRPr lang="en-US" sz="1350" dirty="0"/>
          </a:p>
        </p:txBody>
      </p:sp>
      <p:sp>
        <p:nvSpPr>
          <p:cNvPr id="12" name="Text 10"/>
          <p:cNvSpPr/>
          <p:nvPr/>
        </p:nvSpPr>
        <p:spPr>
          <a:xfrm>
            <a:off x="502920" y="6126480"/>
            <a:ext cx="10972800" cy="274320"/>
          </a:xfrm>
          <a:prstGeom prst="rect">
            <a:avLst/>
          </a:prstGeom>
          <a:noFill/>
          <a:ln/>
        </p:spPr>
        <p:txBody>
          <a:bodyPr wrap="square" lIns="0" tIns="0" rIns="0" bIns="0" rtlCol="0" anchor="ctr"/>
          <a:lstStyle/>
          <a:p>
            <a:pPr marL="0" indent="0" algn="l">
              <a:buNone/>
            </a:pPr>
            <a:r>
              <a:rPr lang="en-US" sz="1050" b="1" kern="0" spc="120" dirty="0">
                <a:solidFill>
                  <a:srgbClr val="64748B"/>
                </a:solidFill>
                <a:latin typeface="Calibri" pitchFamily="34" charset="0"/>
                <a:ea typeface="Calibri" pitchFamily="34" charset="-122"/>
                <a:cs typeface="Calibri" pitchFamily="34" charset="-120"/>
              </a:rPr>
              <a:t>NO RIP AND REPLACE  ·  KEEP THE CRM YOU ALREADY 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1385</Words>
  <Application>Microsoft Office PowerPoint</Application>
  <PresentationFormat>Widescreen</PresentationFormat>
  <Paragraphs>217</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Gladwin Perera</cp:lastModifiedBy>
  <cp:revision>3</cp:revision>
  <dcterms:created xsi:type="dcterms:W3CDTF">2026-08-11T11:38:17Z</dcterms:created>
  <dcterms:modified xsi:type="dcterms:W3CDTF">2026-08-11T13:06:20Z</dcterms:modified>
</cp:coreProperties>
</file>