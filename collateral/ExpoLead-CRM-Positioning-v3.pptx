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ExpoLead is not a CRM competitor. It sits alongside whatever CRM the prospect already runs (Salesforce, HubSpot, Zoho, Bigin, Pipedrive, Odoo) and owns only the exhibition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ExpoLead spans Before / During / After. The CRM is the long-term system for Ongoing Sales. They overlap deliberately at After (opportunities and follow-up). No hard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of work is different. A CRM organises around the contact and the deal. ExpoLead organises around the exhibition and everything it generates. It is the operational workspace around the show, not another contact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comparison grid. The CRM appears only as the downstream recipient of a clean, qualified lead. This removes any row-by-row "my CRM does that too" reflex: we are showing a sequence, not a feature contest. A CRM begins where the exhibition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is not the CRM. It is business cards, WhatsApp, notebooks, photos, spreadsheets and memory scattered across the team. ExpoLead consolidates the exhibition layer into one structured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direction is exhibition intelligence: management can read the performance of each show and, over time, decide which exhibitions deserve future investment. Over-time and outcome views are flagged as product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reassurance: no rip-and-replace. ExpoLead owns only the exhibition layer and complements any CRM. Use the three discovery questions to open the conversation without telling the prospect their CRM is inadequate.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502920" y="457200"/>
            <a:ext cx="100584" cy="100584"/>
          </a:xfrm>
          <a:prstGeom prst="roundRect">
            <a:avLst>
              <a:gd name="adj" fmla="val 18182"/>
            </a:avLst>
          </a:prstGeom>
          <a:solidFill>
            <a:srgbClr val="0F172A"/>
          </a:solidFill>
          <a:ln w="16510">
            <a:solidFill>
              <a:srgbClr val="FFFFFF"/>
            </a:solidFill>
            <a:prstDash val="solid"/>
          </a:ln>
        </p:spPr>
      </p:sp>
      <p:sp>
        <p:nvSpPr>
          <p:cNvPr id="3" name="Shape 1"/>
          <p:cNvSpPr/>
          <p:nvPr/>
        </p:nvSpPr>
        <p:spPr>
          <a:xfrm>
            <a:off x="644652" y="457200"/>
            <a:ext cx="100584" cy="100584"/>
          </a:xfrm>
          <a:prstGeom prst="roundRect">
            <a:avLst>
              <a:gd name="adj" fmla="val 18182"/>
            </a:avLst>
          </a:prstGeom>
          <a:solidFill>
            <a:srgbClr val="0F172A"/>
          </a:solidFill>
          <a:ln w="16510">
            <a:solidFill>
              <a:srgbClr val="FFFFFF"/>
            </a:solidFill>
            <a:prstDash val="solid"/>
          </a:ln>
        </p:spPr>
      </p:sp>
      <p:sp>
        <p:nvSpPr>
          <p:cNvPr id="4" name="Shape 2"/>
          <p:cNvSpPr/>
          <p:nvPr/>
        </p:nvSpPr>
        <p:spPr>
          <a:xfrm>
            <a:off x="502920" y="598932"/>
            <a:ext cx="100584" cy="100584"/>
          </a:xfrm>
          <a:prstGeom prst="roundRect">
            <a:avLst>
              <a:gd name="adj" fmla="val 18182"/>
            </a:avLst>
          </a:prstGeom>
          <a:solidFill>
            <a:srgbClr val="0F172A"/>
          </a:solidFill>
          <a:ln w="16510">
            <a:solidFill>
              <a:srgbClr val="FFFFFF"/>
            </a:solidFill>
            <a:prstDash val="solid"/>
          </a:ln>
        </p:spPr>
      </p:sp>
      <p:sp>
        <p:nvSpPr>
          <p:cNvPr id="5" name="Shape 3"/>
          <p:cNvSpPr/>
          <p:nvPr/>
        </p:nvSpPr>
        <p:spPr>
          <a:xfrm>
            <a:off x="644652" y="598932"/>
            <a:ext cx="100584" cy="100584"/>
          </a:xfrm>
          <a:prstGeom prst="roundRect">
            <a:avLst>
              <a:gd name="adj" fmla="val 18182"/>
            </a:avLst>
          </a:prstGeom>
          <a:solidFill>
            <a:srgbClr val="10B981"/>
          </a:solidFill>
          <a:ln w="16510">
            <a:solidFill>
              <a:srgbClr val="10B981"/>
            </a:solidFill>
            <a:prstDash val="solid"/>
          </a:ln>
        </p:spPr>
      </p:sp>
      <p:sp>
        <p:nvSpPr>
          <p:cNvPr id="6" name="Text 4"/>
          <p:cNvSpPr/>
          <p:nvPr/>
        </p:nvSpPr>
        <p:spPr>
          <a:xfrm>
            <a:off x="886968" y="411480"/>
            <a:ext cx="2011680" cy="329184"/>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Expo</a:t>
            </a:r>
            <a:pPr algn="l" indent="0" marL="0">
              <a:buNone/>
            </a:pPr>
            <a:r>
              <a:rPr lang="en-US" sz="1500" b="1" dirty="0">
                <a:solidFill>
                  <a:srgbClr val="10B981"/>
                </a:solidFill>
                <a:latin typeface="Calibri" pitchFamily="34" charset="0"/>
                <a:ea typeface="Calibri" pitchFamily="34" charset="-122"/>
                <a:cs typeface="Calibri" pitchFamily="34" charset="-120"/>
              </a:rPr>
              <a:t>Lead</a:t>
            </a:r>
            <a:pPr algn="l" indent="0" marL="0">
              <a:buNone/>
            </a:pP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6156655" y="457200"/>
            <a:ext cx="5532120" cy="274320"/>
          </a:xfrm>
          <a:prstGeom prst="rect">
            <a:avLst/>
          </a:prstGeom>
          <a:noFill/>
          <a:ln/>
        </p:spPr>
        <p:txBody>
          <a:bodyPr wrap="square" lIns="0" tIns="0" rIns="0" bIns="0" rtlCol="0" anchor="ctr"/>
          <a:lstStyle/>
          <a:p>
            <a:pPr algn="r" indent="0" marL="0">
              <a:buNone/>
            </a:pPr>
            <a:r>
              <a:rPr lang="en-US" sz="1100" b="1" spc="150" kern="0" dirty="0">
                <a:solidFill>
                  <a:srgbClr val="94A3B8"/>
                </a:solidFill>
                <a:latin typeface="Calibri" pitchFamily="34" charset="0"/>
                <a:ea typeface="Calibri" pitchFamily="34" charset="-122"/>
                <a:cs typeface="Calibri" pitchFamily="34" charset="-120"/>
              </a:rPr>
              <a:t>POSITIONING  ·  FOR TEAMS WHO ALREADY USE A CRM</a:t>
            </a:r>
            <a:endParaRPr lang="en-US" sz="1100" dirty="0"/>
          </a:p>
        </p:txBody>
      </p:sp>
      <p:sp>
        <p:nvSpPr>
          <p:cNvPr id="8" name="Text 6"/>
          <p:cNvSpPr/>
          <p:nvPr/>
        </p:nvSpPr>
        <p:spPr>
          <a:xfrm>
            <a:off x="502920" y="1874520"/>
            <a:ext cx="8229600" cy="274320"/>
          </a:xfrm>
          <a:prstGeom prst="rect">
            <a:avLst/>
          </a:prstGeom>
          <a:noFill/>
          <a:ln/>
        </p:spPr>
        <p:txBody>
          <a:bodyPr wrap="square" lIns="0" tIns="0" rIns="0" bIns="0" rtlCol="0" anchor="ctr"/>
          <a:lstStyle/>
          <a:p>
            <a:pPr algn="l" indent="0" marL="0">
              <a:buNone/>
            </a:pPr>
            <a:r>
              <a:rPr lang="en-US" sz="1100" b="1" spc="220" kern="0" dirty="0">
                <a:solidFill>
                  <a:srgbClr val="34D399"/>
                </a:solidFill>
                <a:latin typeface="Calibri" pitchFamily="34" charset="0"/>
                <a:ea typeface="Calibri" pitchFamily="34" charset="-122"/>
                <a:cs typeface="Calibri" pitchFamily="34" charset="-120"/>
              </a:rPr>
              <a:t>TWO SYSTEMS. TWO DIFFERENT JOBS.</a:t>
            </a:r>
            <a:endParaRPr lang="en-US" sz="1100" dirty="0"/>
          </a:p>
        </p:txBody>
      </p:sp>
      <p:sp>
        <p:nvSpPr>
          <p:cNvPr id="9" name="Text 7"/>
          <p:cNvSpPr/>
          <p:nvPr/>
        </p:nvSpPr>
        <p:spPr>
          <a:xfrm>
            <a:off x="502920" y="2194560"/>
            <a:ext cx="10607040" cy="173736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Calibri" pitchFamily="34" charset="0"/>
                <a:ea typeface="Calibri" pitchFamily="34" charset="-122"/>
                <a:cs typeface="Calibri" pitchFamily="34" charset="-120"/>
              </a:rPr>
              <a:t>Your CRM manages the relationship.</a:t>
            </a:r>
            <a:endParaRPr lang="en-US" sz="4000" dirty="0"/>
          </a:p>
          <a:p>
            <a:pPr algn="l" indent="0" marL="0">
              <a:lnSpc>
                <a:spcPct val="102000"/>
              </a:lnSpc>
              <a:buNone/>
            </a:pPr>
            <a:r>
              <a:rPr lang="en-US" sz="4000" b="1" dirty="0">
                <a:solidFill>
                  <a:srgbClr val="34D399"/>
                </a:solidFill>
                <a:latin typeface="Calibri" pitchFamily="34" charset="0"/>
                <a:ea typeface="Calibri" pitchFamily="34" charset="-122"/>
                <a:cs typeface="Calibri" pitchFamily="34" charset="-120"/>
              </a:rPr>
              <a:t>ExpoLead manages the exhibition journey.</a:t>
            </a:r>
            <a:endParaRPr lang="en-US" sz="4000" dirty="0"/>
          </a:p>
        </p:txBody>
      </p:sp>
      <p:sp>
        <p:nvSpPr>
          <p:cNvPr id="10" name="Text 8"/>
          <p:cNvSpPr/>
          <p:nvPr/>
        </p:nvSpPr>
        <p:spPr>
          <a:xfrm>
            <a:off x="502920" y="3977640"/>
            <a:ext cx="8778240" cy="822960"/>
          </a:xfrm>
          <a:prstGeom prst="rect">
            <a:avLst/>
          </a:prstGeom>
          <a:noFill/>
          <a:ln/>
        </p:spPr>
        <p:txBody>
          <a:bodyPr wrap="square" lIns="0" tIns="0" rIns="0" bIns="0" rtlCol="0" anchor="t"/>
          <a:lstStyle/>
          <a:p>
            <a:pPr algn="l" indent="0" marL="0">
              <a:lnSpc>
                <a:spcPct val="115000"/>
              </a:lnSpc>
              <a:buNone/>
            </a:pPr>
            <a:r>
              <a:rPr lang="en-US" sz="1500" dirty="0">
                <a:solidFill>
                  <a:srgbClr val="CBD5E1"/>
                </a:solidFill>
                <a:latin typeface="Calibri" pitchFamily="34" charset="0"/>
                <a:ea typeface="Calibri" pitchFamily="34" charset="-122"/>
                <a:cs typeface="Calibri" pitchFamily="34" charset="-120"/>
              </a:rPr>
              <a:t>ExpoLead does not replace your CRM. It gives your exhibition team a purpose-built workspace for the part of the commercial journey that happens before, during and immediately after the show.</a:t>
            </a:r>
            <a:endParaRPr lang="en-US" sz="1500" dirty="0"/>
          </a:p>
        </p:txBody>
      </p:sp>
      <p:sp>
        <p:nvSpPr>
          <p:cNvPr id="11" name="Text 9"/>
          <p:cNvSpPr/>
          <p:nvPr/>
        </p:nvSpPr>
        <p:spPr>
          <a:xfrm>
            <a:off x="502920" y="5257800"/>
            <a:ext cx="8229600" cy="256032"/>
          </a:xfrm>
          <a:prstGeom prst="rect">
            <a:avLst/>
          </a:prstGeom>
          <a:noFill/>
          <a:ln/>
        </p:spPr>
        <p:txBody>
          <a:bodyPr wrap="square" lIns="0" tIns="0" rIns="0" bIns="0" rtlCol="0" anchor="ctr"/>
          <a:lstStyle/>
          <a:p>
            <a:pPr algn="l" indent="0" marL="0">
              <a:buNone/>
            </a:pPr>
            <a:r>
              <a:rPr lang="en-US" sz="1050" b="1" spc="150" kern="0" dirty="0">
                <a:solidFill>
                  <a:srgbClr val="34D399"/>
                </a:solidFill>
                <a:latin typeface="Calibri" pitchFamily="34" charset="0"/>
                <a:ea typeface="Calibri" pitchFamily="34" charset="-122"/>
                <a:cs typeface="Calibri" pitchFamily="34" charset="-120"/>
              </a:rPr>
              <a:t>WORKS ALONGSIDE THE CRM YOU ALREADY USE</a:t>
            </a:r>
            <a:endParaRPr lang="en-US" sz="1050" dirty="0"/>
          </a:p>
        </p:txBody>
      </p:sp>
      <p:sp>
        <p:nvSpPr>
          <p:cNvPr id="12" name="Shape 10"/>
          <p:cNvSpPr/>
          <p:nvPr/>
        </p:nvSpPr>
        <p:spPr>
          <a:xfrm>
            <a:off x="502920" y="5577840"/>
            <a:ext cx="1197864" cy="384048"/>
          </a:xfrm>
          <a:prstGeom prst="roundRect">
            <a:avLst>
              <a:gd name="adj" fmla="val 23810"/>
            </a:avLst>
          </a:prstGeom>
          <a:solidFill>
            <a:srgbClr val="1E293B"/>
          </a:solidFill>
          <a:ln w="12700">
            <a:solidFill>
              <a:srgbClr val="334155"/>
            </a:solidFill>
            <a:prstDash val="solid"/>
          </a:ln>
        </p:spPr>
      </p:sp>
      <p:sp>
        <p:nvSpPr>
          <p:cNvPr id="13" name="Text 11"/>
          <p:cNvSpPr/>
          <p:nvPr/>
        </p:nvSpPr>
        <p:spPr>
          <a:xfrm>
            <a:off x="502920" y="5577840"/>
            <a:ext cx="1197864" cy="38404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Salesforce</a:t>
            </a:r>
            <a:endParaRPr lang="en-US" sz="1200" dirty="0"/>
          </a:p>
        </p:txBody>
      </p:sp>
      <p:sp>
        <p:nvSpPr>
          <p:cNvPr id="14" name="Shape 12"/>
          <p:cNvSpPr/>
          <p:nvPr/>
        </p:nvSpPr>
        <p:spPr>
          <a:xfrm>
            <a:off x="1847088" y="5577840"/>
            <a:ext cx="937260" cy="384048"/>
          </a:xfrm>
          <a:prstGeom prst="roundRect">
            <a:avLst>
              <a:gd name="adj" fmla="val 23810"/>
            </a:avLst>
          </a:prstGeom>
          <a:solidFill>
            <a:srgbClr val="1E293B"/>
          </a:solidFill>
          <a:ln w="12700">
            <a:solidFill>
              <a:srgbClr val="334155"/>
            </a:solidFill>
            <a:prstDash val="solid"/>
          </a:ln>
        </p:spPr>
      </p:sp>
      <p:sp>
        <p:nvSpPr>
          <p:cNvPr id="15" name="Text 13"/>
          <p:cNvSpPr/>
          <p:nvPr/>
        </p:nvSpPr>
        <p:spPr>
          <a:xfrm>
            <a:off x="1847088" y="5577840"/>
            <a:ext cx="937260" cy="38404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HubSpot</a:t>
            </a:r>
            <a:endParaRPr lang="en-US" sz="1200" dirty="0"/>
          </a:p>
        </p:txBody>
      </p:sp>
      <p:sp>
        <p:nvSpPr>
          <p:cNvPr id="16" name="Shape 14"/>
          <p:cNvSpPr/>
          <p:nvPr/>
        </p:nvSpPr>
        <p:spPr>
          <a:xfrm>
            <a:off x="2930652" y="5577840"/>
            <a:ext cx="1024128" cy="384048"/>
          </a:xfrm>
          <a:prstGeom prst="roundRect">
            <a:avLst>
              <a:gd name="adj" fmla="val 23810"/>
            </a:avLst>
          </a:prstGeom>
          <a:solidFill>
            <a:srgbClr val="1E293B"/>
          </a:solidFill>
          <a:ln w="12700">
            <a:solidFill>
              <a:srgbClr val="334155"/>
            </a:solidFill>
            <a:prstDash val="solid"/>
          </a:ln>
        </p:spPr>
      </p:sp>
      <p:sp>
        <p:nvSpPr>
          <p:cNvPr id="17" name="Text 15"/>
          <p:cNvSpPr/>
          <p:nvPr/>
        </p:nvSpPr>
        <p:spPr>
          <a:xfrm>
            <a:off x="2930652" y="5577840"/>
            <a:ext cx="1024128" cy="38404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Zoho CRM</a:t>
            </a:r>
            <a:endParaRPr lang="en-US" sz="1200" dirty="0"/>
          </a:p>
        </p:txBody>
      </p:sp>
      <p:sp>
        <p:nvSpPr>
          <p:cNvPr id="18" name="Shape 16"/>
          <p:cNvSpPr/>
          <p:nvPr/>
        </p:nvSpPr>
        <p:spPr>
          <a:xfrm>
            <a:off x="4101084" y="5577840"/>
            <a:ext cx="763524" cy="384048"/>
          </a:xfrm>
          <a:prstGeom prst="roundRect">
            <a:avLst>
              <a:gd name="adj" fmla="val 23810"/>
            </a:avLst>
          </a:prstGeom>
          <a:solidFill>
            <a:srgbClr val="1E293B"/>
          </a:solidFill>
          <a:ln w="12700">
            <a:solidFill>
              <a:srgbClr val="334155"/>
            </a:solidFill>
            <a:prstDash val="solid"/>
          </a:ln>
        </p:spPr>
      </p:sp>
      <p:sp>
        <p:nvSpPr>
          <p:cNvPr id="19" name="Text 17"/>
          <p:cNvSpPr/>
          <p:nvPr/>
        </p:nvSpPr>
        <p:spPr>
          <a:xfrm>
            <a:off x="4101084" y="5577840"/>
            <a:ext cx="763524" cy="38404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Bigin</a:t>
            </a:r>
            <a:endParaRPr lang="en-US" sz="1200" dirty="0"/>
          </a:p>
        </p:txBody>
      </p:sp>
      <p:sp>
        <p:nvSpPr>
          <p:cNvPr id="20" name="Shape 18"/>
          <p:cNvSpPr/>
          <p:nvPr/>
        </p:nvSpPr>
        <p:spPr>
          <a:xfrm>
            <a:off x="5010912" y="5577840"/>
            <a:ext cx="1110996" cy="384048"/>
          </a:xfrm>
          <a:prstGeom prst="roundRect">
            <a:avLst>
              <a:gd name="adj" fmla="val 23810"/>
            </a:avLst>
          </a:prstGeom>
          <a:solidFill>
            <a:srgbClr val="1E293B"/>
          </a:solidFill>
          <a:ln w="12700">
            <a:solidFill>
              <a:srgbClr val="334155"/>
            </a:solidFill>
            <a:prstDash val="solid"/>
          </a:ln>
        </p:spPr>
      </p:sp>
      <p:sp>
        <p:nvSpPr>
          <p:cNvPr id="21" name="Text 19"/>
          <p:cNvSpPr/>
          <p:nvPr/>
        </p:nvSpPr>
        <p:spPr>
          <a:xfrm>
            <a:off x="5010912" y="5577840"/>
            <a:ext cx="1110996" cy="38404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Pipedrive</a:t>
            </a:r>
            <a:endParaRPr lang="en-US" sz="1200" dirty="0"/>
          </a:p>
        </p:txBody>
      </p:sp>
      <p:sp>
        <p:nvSpPr>
          <p:cNvPr id="22" name="Shape 20"/>
          <p:cNvSpPr/>
          <p:nvPr/>
        </p:nvSpPr>
        <p:spPr>
          <a:xfrm>
            <a:off x="6268212" y="5577840"/>
            <a:ext cx="676656" cy="384048"/>
          </a:xfrm>
          <a:prstGeom prst="roundRect">
            <a:avLst>
              <a:gd name="adj" fmla="val 23810"/>
            </a:avLst>
          </a:prstGeom>
          <a:solidFill>
            <a:srgbClr val="1E293B"/>
          </a:solidFill>
          <a:ln w="12700">
            <a:solidFill>
              <a:srgbClr val="334155"/>
            </a:solidFill>
            <a:prstDash val="solid"/>
          </a:ln>
        </p:spPr>
      </p:sp>
      <p:sp>
        <p:nvSpPr>
          <p:cNvPr id="23" name="Text 21"/>
          <p:cNvSpPr/>
          <p:nvPr/>
        </p:nvSpPr>
        <p:spPr>
          <a:xfrm>
            <a:off x="6268212" y="5577840"/>
            <a:ext cx="676656" cy="38404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Odoo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00584" cy="100584"/>
          </a:xfrm>
          <a:prstGeom prst="roundRect">
            <a:avLst>
              <a:gd name="adj" fmla="val 18182"/>
            </a:avLst>
          </a:prstGeom>
          <a:solidFill>
            <a:srgbClr val="FFFFFF"/>
          </a:solidFill>
          <a:ln w="16510">
            <a:solidFill>
              <a:srgbClr val="0F172A"/>
            </a:solidFill>
            <a:prstDash val="solid"/>
          </a:ln>
        </p:spPr>
      </p:sp>
      <p:sp>
        <p:nvSpPr>
          <p:cNvPr id="3" name="Shape 1"/>
          <p:cNvSpPr/>
          <p:nvPr/>
        </p:nvSpPr>
        <p:spPr>
          <a:xfrm>
            <a:off x="644652" y="411480"/>
            <a:ext cx="100584" cy="100584"/>
          </a:xfrm>
          <a:prstGeom prst="roundRect">
            <a:avLst>
              <a:gd name="adj" fmla="val 18182"/>
            </a:avLst>
          </a:prstGeom>
          <a:solidFill>
            <a:srgbClr val="FFFFFF"/>
          </a:solidFill>
          <a:ln w="16510">
            <a:solidFill>
              <a:srgbClr val="0F172A"/>
            </a:solidFill>
            <a:prstDash val="solid"/>
          </a:ln>
        </p:spPr>
      </p:sp>
      <p:sp>
        <p:nvSpPr>
          <p:cNvPr id="4" name="Shape 2"/>
          <p:cNvSpPr/>
          <p:nvPr/>
        </p:nvSpPr>
        <p:spPr>
          <a:xfrm>
            <a:off x="502920" y="553212"/>
            <a:ext cx="100584" cy="100584"/>
          </a:xfrm>
          <a:prstGeom prst="roundRect">
            <a:avLst>
              <a:gd name="adj" fmla="val 18182"/>
            </a:avLst>
          </a:prstGeom>
          <a:solidFill>
            <a:srgbClr val="FFFFFF"/>
          </a:solidFill>
          <a:ln w="16510">
            <a:solidFill>
              <a:srgbClr val="0F172A"/>
            </a:solidFill>
            <a:prstDash val="solid"/>
          </a:ln>
        </p:spPr>
      </p:sp>
      <p:sp>
        <p:nvSpPr>
          <p:cNvPr id="5" name="Shape 3"/>
          <p:cNvSpPr/>
          <p:nvPr/>
        </p:nvSpPr>
        <p:spPr>
          <a:xfrm>
            <a:off x="644652" y="553212"/>
            <a:ext cx="100584" cy="100584"/>
          </a:xfrm>
          <a:prstGeom prst="roundRect">
            <a:avLst>
              <a:gd name="adj" fmla="val 18182"/>
            </a:avLst>
          </a:prstGeom>
          <a:solidFill>
            <a:srgbClr val="10B981"/>
          </a:solidFill>
          <a:ln w="16510">
            <a:solidFill>
              <a:srgbClr val="10B981"/>
            </a:solidFill>
            <a:prstDash val="solid"/>
          </a:ln>
        </p:spPr>
      </p:sp>
      <p:sp>
        <p:nvSpPr>
          <p:cNvPr id="6" name="Text 4"/>
          <p:cNvSpPr/>
          <p:nvPr/>
        </p:nvSpPr>
        <p:spPr>
          <a:xfrm>
            <a:off x="886968" y="365760"/>
            <a:ext cx="2011680" cy="329184"/>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Expo</a:t>
            </a:r>
            <a:pPr algn="l" indent="0" marL="0">
              <a:buNone/>
            </a:pPr>
            <a:r>
              <a:rPr lang="en-US" sz="1500" b="1" dirty="0">
                <a:solidFill>
                  <a:srgbClr val="10B981"/>
                </a:solidFill>
                <a:latin typeface="Calibri" pitchFamily="34" charset="0"/>
                <a:ea typeface="Calibri" pitchFamily="34" charset="-122"/>
                <a:cs typeface="Calibri" pitchFamily="34" charset="-120"/>
              </a:rPr>
              <a:t>Lead</a:t>
            </a:r>
            <a:pPr algn="l" indent="0" marL="0">
              <a:buNone/>
            </a:pP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1051560"/>
            <a:ext cx="8229600" cy="274320"/>
          </a:xfrm>
          <a:prstGeom prst="rect">
            <a:avLst/>
          </a:prstGeom>
          <a:noFill/>
          <a:ln/>
        </p:spPr>
        <p:txBody>
          <a:bodyPr wrap="square" lIns="0" tIns="0" rIns="0" bIns="0" rtlCol="0" anchor="ctr"/>
          <a:lstStyle/>
          <a:p>
            <a:pPr algn="l" indent="0" marL="0">
              <a:buNone/>
            </a:pPr>
            <a:r>
              <a:rPr lang="en-US" sz="1100" b="1" spc="220" kern="0" dirty="0">
                <a:solidFill>
                  <a:srgbClr val="059669"/>
                </a:solidFill>
                <a:latin typeface="Calibri" pitchFamily="34" charset="0"/>
                <a:ea typeface="Calibri" pitchFamily="34" charset="-122"/>
                <a:cs typeface="Calibri" pitchFamily="34" charset="-120"/>
              </a:rPr>
              <a:t>THE COMMERCIAL WORKFLOW</a:t>
            </a:r>
            <a:endParaRPr lang="en-US" sz="1100" dirty="0"/>
          </a:p>
        </p:txBody>
      </p:sp>
      <p:sp>
        <p:nvSpPr>
          <p:cNvPr id="8" name="Text 6"/>
          <p:cNvSpPr/>
          <p:nvPr/>
        </p:nvSpPr>
        <p:spPr>
          <a:xfrm>
            <a:off x="502920" y="1325880"/>
            <a:ext cx="10972800" cy="548640"/>
          </a:xfrm>
          <a:prstGeom prst="rect">
            <a:avLst/>
          </a:prstGeom>
          <a:noFill/>
          <a:ln/>
        </p:spPr>
        <p:txBody>
          <a:bodyPr wrap="square" lIns="0" tIns="0" rIns="0" bIns="0" rtlCol="0" anchor="t"/>
          <a:lstStyle/>
          <a:p>
            <a:pPr algn="l" indent="0" marL="0">
              <a:buNone/>
            </a:pPr>
            <a:r>
              <a:rPr lang="en-US" sz="2800" b="1" dirty="0">
                <a:solidFill>
                  <a:srgbClr val="0F172A"/>
                </a:solidFill>
                <a:latin typeface="Calibri" pitchFamily="34" charset="0"/>
                <a:ea typeface="Calibri" pitchFamily="34" charset="-122"/>
                <a:cs typeface="Calibri" pitchFamily="34" charset="-120"/>
              </a:rPr>
              <a:t>Where ExpoLead sits, and where your CRM takes over</a:t>
            </a:r>
            <a:endParaRPr lang="en-US" sz="2800" dirty="0"/>
          </a:p>
        </p:txBody>
      </p:sp>
      <p:sp>
        <p:nvSpPr>
          <p:cNvPr id="9" name="Shape 7"/>
          <p:cNvSpPr/>
          <p:nvPr/>
        </p:nvSpPr>
        <p:spPr>
          <a:xfrm>
            <a:off x="502920" y="2148840"/>
            <a:ext cx="8339099" cy="310896"/>
          </a:xfrm>
          <a:prstGeom prst="roundRect">
            <a:avLst>
              <a:gd name="adj" fmla="val 20588"/>
            </a:avLst>
          </a:prstGeom>
          <a:solidFill>
            <a:srgbClr val="ECFDF5"/>
          </a:solidFill>
          <a:ln/>
        </p:spPr>
      </p:sp>
      <p:sp>
        <p:nvSpPr>
          <p:cNvPr id="10" name="Text 8"/>
          <p:cNvSpPr/>
          <p:nvPr/>
        </p:nvSpPr>
        <p:spPr>
          <a:xfrm>
            <a:off x="612648" y="2148840"/>
            <a:ext cx="7936763" cy="310896"/>
          </a:xfrm>
          <a:prstGeom prst="rect">
            <a:avLst/>
          </a:prstGeom>
          <a:noFill/>
          <a:ln/>
        </p:spPr>
        <p:txBody>
          <a:bodyPr wrap="square" lIns="0" tIns="0" rIns="0" bIns="0" rtlCol="0" anchor="ctr"/>
          <a:lstStyle/>
          <a:p>
            <a:pPr algn="l" indent="0" marL="0">
              <a:buNone/>
            </a:pPr>
            <a:r>
              <a:rPr lang="en-US" sz="1050" b="1" spc="120" kern="0" dirty="0">
                <a:solidFill>
                  <a:srgbClr val="047857"/>
                </a:solidFill>
                <a:latin typeface="Calibri" pitchFamily="34" charset="0"/>
                <a:ea typeface="Calibri" pitchFamily="34" charset="-122"/>
                <a:cs typeface="Calibri" pitchFamily="34" charset="-120"/>
              </a:rPr>
              <a:t>EXPOLEAD OS  ·  THE EXHIBITION LAYER</a:t>
            </a:r>
            <a:endParaRPr lang="en-US" sz="1050" dirty="0"/>
          </a:p>
        </p:txBody>
      </p:sp>
      <p:sp>
        <p:nvSpPr>
          <p:cNvPr id="11" name="Shape 9"/>
          <p:cNvSpPr/>
          <p:nvPr/>
        </p:nvSpPr>
        <p:spPr>
          <a:xfrm>
            <a:off x="6196432" y="2532888"/>
            <a:ext cx="5492344" cy="310896"/>
          </a:xfrm>
          <a:prstGeom prst="roundRect">
            <a:avLst>
              <a:gd name="adj" fmla="val 20588"/>
            </a:avLst>
          </a:prstGeom>
          <a:solidFill>
            <a:srgbClr val="F1F5F9"/>
          </a:solidFill>
          <a:ln/>
        </p:spPr>
      </p:sp>
      <p:sp>
        <p:nvSpPr>
          <p:cNvPr id="12" name="Text 10"/>
          <p:cNvSpPr/>
          <p:nvPr/>
        </p:nvSpPr>
        <p:spPr>
          <a:xfrm>
            <a:off x="6306160" y="2532888"/>
            <a:ext cx="5291176" cy="310896"/>
          </a:xfrm>
          <a:prstGeom prst="rect">
            <a:avLst/>
          </a:prstGeom>
          <a:noFill/>
          <a:ln/>
        </p:spPr>
        <p:txBody>
          <a:bodyPr wrap="square" lIns="0" tIns="0" rIns="0" bIns="0" rtlCol="0" anchor="ctr"/>
          <a:lstStyle/>
          <a:p>
            <a:pPr algn="l" indent="0" marL="0">
              <a:buNone/>
            </a:pPr>
            <a:r>
              <a:rPr lang="en-US" sz="1050" b="1" spc="120" kern="0" dirty="0">
                <a:solidFill>
                  <a:srgbClr val="475569"/>
                </a:solidFill>
                <a:latin typeface="Calibri" pitchFamily="34" charset="0"/>
                <a:ea typeface="Calibri" pitchFamily="34" charset="-122"/>
                <a:cs typeface="Calibri" pitchFamily="34" charset="-120"/>
              </a:rPr>
              <a:t>YOUR CRM  ·  THE RELATIONSHIP LAYER</a:t>
            </a:r>
            <a:endParaRPr lang="en-US" sz="1050" dirty="0"/>
          </a:p>
        </p:txBody>
      </p:sp>
      <p:sp>
        <p:nvSpPr>
          <p:cNvPr id="13" name="Shape 11"/>
          <p:cNvSpPr/>
          <p:nvPr/>
        </p:nvSpPr>
        <p:spPr>
          <a:xfrm>
            <a:off x="502920" y="2971800"/>
            <a:ext cx="2645588" cy="3063240"/>
          </a:xfrm>
          <a:prstGeom prst="roundRect">
            <a:avLst>
              <a:gd name="adj" fmla="val 3111"/>
            </a:avLst>
          </a:prstGeom>
          <a:solidFill>
            <a:srgbClr val="FFFFFF"/>
          </a:solidFill>
          <a:ln w="15240">
            <a:solidFill>
              <a:srgbClr val="D1FAE5"/>
            </a:solidFill>
            <a:prstDash val="solid"/>
          </a:ln>
          <a:effectLst>
            <a:outerShdw sx="100000" sy="100000" kx="0" ky="0" algn="bl" rotWithShape="0" blurRad="76200" dist="25400" dir="5400000">
              <a:srgbClr val="101018">
                <a:alpha val="6000"/>
              </a:srgbClr>
            </a:outerShdw>
          </a:effectLst>
        </p:spPr>
      </p:sp>
      <p:sp>
        <p:nvSpPr>
          <p:cNvPr id="14" name="Text 12"/>
          <p:cNvSpPr/>
          <p:nvPr/>
        </p:nvSpPr>
        <p:spPr>
          <a:xfrm>
            <a:off x="704088" y="3118104"/>
            <a:ext cx="914400" cy="219456"/>
          </a:xfrm>
          <a:prstGeom prst="rect">
            <a:avLst/>
          </a:prstGeom>
          <a:noFill/>
          <a:ln/>
        </p:spPr>
        <p:txBody>
          <a:bodyPr wrap="square" lIns="0" tIns="0" rIns="0" bIns="0" rtlCol="0" anchor="ctr"/>
          <a:lstStyle/>
          <a:p>
            <a:pPr indent="0" marL="0">
              <a:buNone/>
            </a:pPr>
            <a:r>
              <a:rPr lang="en-US" sz="1100" b="1" spc="100" kern="0" dirty="0">
                <a:solidFill>
                  <a:srgbClr val="CBD5E1"/>
                </a:solidFill>
                <a:latin typeface="Calibri" pitchFamily="34" charset="0"/>
                <a:ea typeface="Calibri" pitchFamily="34" charset="-122"/>
                <a:cs typeface="Calibri" pitchFamily="34" charset="-120"/>
              </a:rPr>
              <a:t>01</a:t>
            </a:r>
            <a:endParaRPr lang="en-US" sz="1100" dirty="0"/>
          </a:p>
        </p:txBody>
      </p:sp>
      <p:sp>
        <p:nvSpPr>
          <p:cNvPr id="15" name="Text 13"/>
          <p:cNvSpPr/>
          <p:nvPr/>
        </p:nvSpPr>
        <p:spPr>
          <a:xfrm>
            <a:off x="704088" y="3337560"/>
            <a:ext cx="2279828" cy="329184"/>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Before expo</a:t>
            </a:r>
            <a:endParaRPr lang="en-US" sz="1600" dirty="0"/>
          </a:p>
        </p:txBody>
      </p:sp>
      <p:sp>
        <p:nvSpPr>
          <p:cNvPr id="16" name="Text 14"/>
          <p:cNvSpPr/>
          <p:nvPr/>
        </p:nvSpPr>
        <p:spPr>
          <a:xfrm>
            <a:off x="704088" y="3685032"/>
            <a:ext cx="2279828" cy="237744"/>
          </a:xfrm>
          <a:prstGeom prst="rect">
            <a:avLst/>
          </a:prstGeom>
          <a:noFill/>
          <a:ln/>
        </p:spPr>
        <p:txBody>
          <a:bodyPr wrap="square" lIns="0" tIns="0" rIns="0" bIns="0" rtlCol="0" anchor="ctr"/>
          <a:lstStyle/>
          <a:p>
            <a:pPr indent="0" marL="0">
              <a:buNone/>
            </a:pPr>
            <a:r>
              <a:rPr lang="en-US" sz="1050" b="1" spc="100" kern="0" dirty="0">
                <a:solidFill>
                  <a:srgbClr val="059669"/>
                </a:solidFill>
                <a:latin typeface="Calibri" pitchFamily="34" charset="0"/>
                <a:ea typeface="Calibri" pitchFamily="34" charset="-122"/>
                <a:cs typeface="Calibri" pitchFamily="34" charset="-120"/>
              </a:rPr>
              <a:t>PLAN</a:t>
            </a:r>
            <a:endParaRPr lang="en-US" sz="1050" dirty="0"/>
          </a:p>
        </p:txBody>
      </p:sp>
      <p:sp>
        <p:nvSpPr>
          <p:cNvPr id="17" name="Text 15"/>
          <p:cNvSpPr/>
          <p:nvPr/>
        </p:nvSpPr>
        <p:spPr>
          <a:xfrm>
            <a:off x="704088" y="4023360"/>
            <a:ext cx="2261540" cy="1874520"/>
          </a:xfrm>
          <a:prstGeom prst="rect">
            <a:avLst/>
          </a:prstGeom>
          <a:noFill/>
          <a:ln/>
        </p:spPr>
        <p:txBody>
          <a:bodyPr wrap="square" lIns="0" tIns="0" rIns="0" bIns="0" rtlCol="0" anchor="t"/>
          <a:lstStyle/>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Set targets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Identify companies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Prioritise booths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Prepare objectives</a:t>
            </a:r>
            <a:endParaRPr lang="en-US" sz="1150" dirty="0"/>
          </a:p>
        </p:txBody>
      </p:sp>
      <p:sp>
        <p:nvSpPr>
          <p:cNvPr id="18" name="Shape 16"/>
          <p:cNvSpPr/>
          <p:nvPr/>
        </p:nvSpPr>
        <p:spPr>
          <a:xfrm>
            <a:off x="3349676" y="2971800"/>
            <a:ext cx="2645588" cy="3063240"/>
          </a:xfrm>
          <a:prstGeom prst="roundRect">
            <a:avLst>
              <a:gd name="adj" fmla="val 3111"/>
            </a:avLst>
          </a:prstGeom>
          <a:solidFill>
            <a:srgbClr val="FFFFFF"/>
          </a:solidFill>
          <a:ln w="15240">
            <a:solidFill>
              <a:srgbClr val="D1FAE5"/>
            </a:solidFill>
            <a:prstDash val="solid"/>
          </a:ln>
          <a:effectLst>
            <a:outerShdw sx="100000" sy="100000" kx="0" ky="0" algn="bl" rotWithShape="0" blurRad="76200" dist="25400" dir="5400000">
              <a:srgbClr val="101018">
                <a:alpha val="6000"/>
              </a:srgbClr>
            </a:outerShdw>
          </a:effectLst>
        </p:spPr>
      </p:sp>
      <p:sp>
        <p:nvSpPr>
          <p:cNvPr id="19" name="Text 17"/>
          <p:cNvSpPr/>
          <p:nvPr/>
        </p:nvSpPr>
        <p:spPr>
          <a:xfrm>
            <a:off x="3550844" y="3118104"/>
            <a:ext cx="914400" cy="219456"/>
          </a:xfrm>
          <a:prstGeom prst="rect">
            <a:avLst/>
          </a:prstGeom>
          <a:noFill/>
          <a:ln/>
        </p:spPr>
        <p:txBody>
          <a:bodyPr wrap="square" lIns="0" tIns="0" rIns="0" bIns="0" rtlCol="0" anchor="ctr"/>
          <a:lstStyle/>
          <a:p>
            <a:pPr indent="0" marL="0">
              <a:buNone/>
            </a:pPr>
            <a:r>
              <a:rPr lang="en-US" sz="1100" b="1" spc="100" kern="0" dirty="0">
                <a:solidFill>
                  <a:srgbClr val="CBD5E1"/>
                </a:solidFill>
                <a:latin typeface="Calibri" pitchFamily="34" charset="0"/>
                <a:ea typeface="Calibri" pitchFamily="34" charset="-122"/>
                <a:cs typeface="Calibri" pitchFamily="34" charset="-120"/>
              </a:rPr>
              <a:t>02</a:t>
            </a:r>
            <a:endParaRPr lang="en-US" sz="1100" dirty="0"/>
          </a:p>
        </p:txBody>
      </p:sp>
      <p:sp>
        <p:nvSpPr>
          <p:cNvPr id="20" name="Text 18"/>
          <p:cNvSpPr/>
          <p:nvPr/>
        </p:nvSpPr>
        <p:spPr>
          <a:xfrm>
            <a:off x="3550844" y="3337560"/>
            <a:ext cx="2279828" cy="329184"/>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During expo</a:t>
            </a:r>
            <a:endParaRPr lang="en-US" sz="1600" dirty="0"/>
          </a:p>
        </p:txBody>
      </p:sp>
      <p:sp>
        <p:nvSpPr>
          <p:cNvPr id="21" name="Text 19"/>
          <p:cNvSpPr/>
          <p:nvPr/>
        </p:nvSpPr>
        <p:spPr>
          <a:xfrm>
            <a:off x="3550844" y="3685032"/>
            <a:ext cx="2279828" cy="237744"/>
          </a:xfrm>
          <a:prstGeom prst="rect">
            <a:avLst/>
          </a:prstGeom>
          <a:noFill/>
          <a:ln/>
        </p:spPr>
        <p:txBody>
          <a:bodyPr wrap="square" lIns="0" tIns="0" rIns="0" bIns="0" rtlCol="0" anchor="ctr"/>
          <a:lstStyle/>
          <a:p>
            <a:pPr indent="0" marL="0">
              <a:buNone/>
            </a:pPr>
            <a:r>
              <a:rPr lang="en-US" sz="1050" b="1" spc="100" kern="0" dirty="0">
                <a:solidFill>
                  <a:srgbClr val="059669"/>
                </a:solidFill>
                <a:latin typeface="Calibri" pitchFamily="34" charset="0"/>
                <a:ea typeface="Calibri" pitchFamily="34" charset="-122"/>
                <a:cs typeface="Calibri" pitchFamily="34" charset="-120"/>
              </a:rPr>
              <a:t>CAPTURE</a:t>
            </a:r>
            <a:endParaRPr lang="en-US" sz="1050" dirty="0"/>
          </a:p>
        </p:txBody>
      </p:sp>
      <p:sp>
        <p:nvSpPr>
          <p:cNvPr id="22" name="Text 20"/>
          <p:cNvSpPr/>
          <p:nvPr/>
        </p:nvSpPr>
        <p:spPr>
          <a:xfrm>
            <a:off x="3550844" y="4023360"/>
            <a:ext cx="2261540" cy="1874520"/>
          </a:xfrm>
          <a:prstGeom prst="rect">
            <a:avLst/>
          </a:prstGeom>
          <a:noFill/>
          <a:ln/>
        </p:spPr>
        <p:txBody>
          <a:bodyPr wrap="square" lIns="0" tIns="0" rIns="0" bIns="0" rtlCol="0" anchor="t"/>
          <a:lstStyle/>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Record conversations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Identify opportunities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Set priorities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Note next actions</a:t>
            </a:r>
            <a:endParaRPr lang="en-US" sz="1150" dirty="0"/>
          </a:p>
        </p:txBody>
      </p:sp>
      <p:sp>
        <p:nvSpPr>
          <p:cNvPr id="23" name="Shape 21"/>
          <p:cNvSpPr/>
          <p:nvPr/>
        </p:nvSpPr>
        <p:spPr>
          <a:xfrm>
            <a:off x="6196432" y="2971800"/>
            <a:ext cx="2645588" cy="3063240"/>
          </a:xfrm>
          <a:prstGeom prst="roundRect">
            <a:avLst>
              <a:gd name="adj" fmla="val 3111"/>
            </a:avLst>
          </a:prstGeom>
          <a:solidFill>
            <a:srgbClr val="FFFFFF"/>
          </a:solidFill>
          <a:ln w="15240">
            <a:solidFill>
              <a:srgbClr val="D1FAE5"/>
            </a:solidFill>
            <a:prstDash val="solid"/>
          </a:ln>
          <a:effectLst>
            <a:outerShdw sx="100000" sy="100000" kx="0" ky="0" algn="bl" rotWithShape="0" blurRad="76200" dist="25400" dir="5400000">
              <a:srgbClr val="101018">
                <a:alpha val="6000"/>
              </a:srgbClr>
            </a:outerShdw>
          </a:effectLst>
        </p:spPr>
      </p:sp>
      <p:sp>
        <p:nvSpPr>
          <p:cNvPr id="24" name="Text 22"/>
          <p:cNvSpPr/>
          <p:nvPr/>
        </p:nvSpPr>
        <p:spPr>
          <a:xfrm>
            <a:off x="6397600" y="3118104"/>
            <a:ext cx="914400" cy="219456"/>
          </a:xfrm>
          <a:prstGeom prst="rect">
            <a:avLst/>
          </a:prstGeom>
          <a:noFill/>
          <a:ln/>
        </p:spPr>
        <p:txBody>
          <a:bodyPr wrap="square" lIns="0" tIns="0" rIns="0" bIns="0" rtlCol="0" anchor="ctr"/>
          <a:lstStyle/>
          <a:p>
            <a:pPr indent="0" marL="0">
              <a:buNone/>
            </a:pPr>
            <a:r>
              <a:rPr lang="en-US" sz="1100" b="1" spc="100" kern="0" dirty="0">
                <a:solidFill>
                  <a:srgbClr val="CBD5E1"/>
                </a:solidFill>
                <a:latin typeface="Calibri" pitchFamily="34" charset="0"/>
                <a:ea typeface="Calibri" pitchFamily="34" charset="-122"/>
                <a:cs typeface="Calibri" pitchFamily="34" charset="-120"/>
              </a:rPr>
              <a:t>03</a:t>
            </a:r>
            <a:endParaRPr lang="en-US" sz="1100" dirty="0"/>
          </a:p>
        </p:txBody>
      </p:sp>
      <p:sp>
        <p:nvSpPr>
          <p:cNvPr id="25" name="Text 23"/>
          <p:cNvSpPr/>
          <p:nvPr/>
        </p:nvSpPr>
        <p:spPr>
          <a:xfrm>
            <a:off x="6397600" y="3337560"/>
            <a:ext cx="2279828" cy="329184"/>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After expo</a:t>
            </a:r>
            <a:endParaRPr lang="en-US" sz="1600" dirty="0"/>
          </a:p>
        </p:txBody>
      </p:sp>
      <p:sp>
        <p:nvSpPr>
          <p:cNvPr id="26" name="Text 24"/>
          <p:cNvSpPr/>
          <p:nvPr/>
        </p:nvSpPr>
        <p:spPr>
          <a:xfrm>
            <a:off x="6397600" y="3685032"/>
            <a:ext cx="2279828" cy="237744"/>
          </a:xfrm>
          <a:prstGeom prst="rect">
            <a:avLst/>
          </a:prstGeom>
          <a:noFill/>
          <a:ln/>
        </p:spPr>
        <p:txBody>
          <a:bodyPr wrap="square" lIns="0" tIns="0" rIns="0" bIns="0" rtlCol="0" anchor="ctr"/>
          <a:lstStyle/>
          <a:p>
            <a:pPr indent="0" marL="0">
              <a:buNone/>
            </a:pPr>
            <a:r>
              <a:rPr lang="en-US" sz="1050" b="1" spc="100" kern="0" dirty="0">
                <a:solidFill>
                  <a:srgbClr val="059669"/>
                </a:solidFill>
                <a:latin typeface="Calibri" pitchFamily="34" charset="0"/>
                <a:ea typeface="Calibri" pitchFamily="34" charset="-122"/>
                <a:cs typeface="Calibri" pitchFamily="34" charset="-120"/>
              </a:rPr>
              <a:t>CONVERT</a:t>
            </a:r>
            <a:endParaRPr lang="en-US" sz="1050" dirty="0"/>
          </a:p>
        </p:txBody>
      </p:sp>
      <p:sp>
        <p:nvSpPr>
          <p:cNvPr id="27" name="Text 25"/>
          <p:cNvSpPr/>
          <p:nvPr/>
        </p:nvSpPr>
        <p:spPr>
          <a:xfrm>
            <a:off x="6397600" y="4023360"/>
            <a:ext cx="2261540" cy="1874520"/>
          </a:xfrm>
          <a:prstGeom prst="rect">
            <a:avLst/>
          </a:prstGeom>
          <a:noFill/>
          <a:ln/>
        </p:spPr>
        <p:txBody>
          <a:bodyPr wrap="square" lIns="0" tIns="0" rIns="0" bIns="0" rtlCol="0" anchor="t"/>
          <a:lstStyle/>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Follow up</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Track commitments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Progress opportunities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Read exhibition outcomes</a:t>
            </a:r>
            <a:endParaRPr lang="en-US" sz="1150" dirty="0"/>
          </a:p>
        </p:txBody>
      </p:sp>
      <p:sp>
        <p:nvSpPr>
          <p:cNvPr id="28" name="Shape 26"/>
          <p:cNvSpPr/>
          <p:nvPr/>
        </p:nvSpPr>
        <p:spPr>
          <a:xfrm>
            <a:off x="9043187" y="2971800"/>
            <a:ext cx="2645588" cy="3063240"/>
          </a:xfrm>
          <a:prstGeom prst="roundRect">
            <a:avLst>
              <a:gd name="adj" fmla="val 3111"/>
            </a:avLst>
          </a:prstGeom>
          <a:solidFill>
            <a:srgbClr val="F8FAFC"/>
          </a:solidFill>
          <a:ln w="15240">
            <a:solidFill>
              <a:srgbClr val="E2E8F0"/>
            </a:solidFill>
            <a:prstDash val="solid"/>
          </a:ln>
          <a:effectLst>
            <a:outerShdw sx="100000" sy="100000" kx="0" ky="0" algn="bl" rotWithShape="0" blurRad="76200" dist="25400" dir="5400000">
              <a:srgbClr val="101018">
                <a:alpha val="6000"/>
              </a:srgbClr>
            </a:outerShdw>
          </a:effectLst>
        </p:spPr>
      </p:sp>
      <p:sp>
        <p:nvSpPr>
          <p:cNvPr id="29" name="Text 27"/>
          <p:cNvSpPr/>
          <p:nvPr/>
        </p:nvSpPr>
        <p:spPr>
          <a:xfrm>
            <a:off x="9244355" y="3118104"/>
            <a:ext cx="914400" cy="219456"/>
          </a:xfrm>
          <a:prstGeom prst="rect">
            <a:avLst/>
          </a:prstGeom>
          <a:noFill/>
          <a:ln/>
        </p:spPr>
        <p:txBody>
          <a:bodyPr wrap="square" lIns="0" tIns="0" rIns="0" bIns="0" rtlCol="0" anchor="ctr"/>
          <a:lstStyle/>
          <a:p>
            <a:pPr indent="0" marL="0">
              <a:buNone/>
            </a:pPr>
            <a:r>
              <a:rPr lang="en-US" sz="1100" b="1" spc="100" kern="0" dirty="0">
                <a:solidFill>
                  <a:srgbClr val="CBD5E1"/>
                </a:solidFill>
                <a:latin typeface="Calibri" pitchFamily="34" charset="0"/>
                <a:ea typeface="Calibri" pitchFamily="34" charset="-122"/>
                <a:cs typeface="Calibri" pitchFamily="34" charset="-120"/>
              </a:rPr>
              <a:t>04</a:t>
            </a:r>
            <a:endParaRPr lang="en-US" sz="1100" dirty="0"/>
          </a:p>
        </p:txBody>
      </p:sp>
      <p:sp>
        <p:nvSpPr>
          <p:cNvPr id="30" name="Text 28"/>
          <p:cNvSpPr/>
          <p:nvPr/>
        </p:nvSpPr>
        <p:spPr>
          <a:xfrm>
            <a:off x="9244355" y="3337560"/>
            <a:ext cx="2279828" cy="329184"/>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Ongoing sales</a:t>
            </a:r>
            <a:endParaRPr lang="en-US" sz="1600" dirty="0"/>
          </a:p>
        </p:txBody>
      </p:sp>
      <p:sp>
        <p:nvSpPr>
          <p:cNvPr id="31" name="Text 29"/>
          <p:cNvSpPr/>
          <p:nvPr/>
        </p:nvSpPr>
        <p:spPr>
          <a:xfrm>
            <a:off x="9244355" y="3685032"/>
            <a:ext cx="2279828" cy="237744"/>
          </a:xfrm>
          <a:prstGeom prst="rect">
            <a:avLst/>
          </a:prstGeom>
          <a:noFill/>
          <a:ln/>
        </p:spPr>
        <p:txBody>
          <a:bodyPr wrap="square" lIns="0" tIns="0" rIns="0" bIns="0" rtlCol="0" anchor="ctr"/>
          <a:lstStyle/>
          <a:p>
            <a:pPr indent="0" marL="0">
              <a:buNone/>
            </a:pPr>
            <a:r>
              <a:rPr lang="en-US" sz="1050" b="1" spc="100" kern="0" dirty="0">
                <a:solidFill>
                  <a:srgbClr val="64748B"/>
                </a:solidFill>
                <a:latin typeface="Calibri" pitchFamily="34" charset="0"/>
                <a:ea typeface="Calibri" pitchFamily="34" charset="-122"/>
                <a:cs typeface="Calibri" pitchFamily="34" charset="-120"/>
              </a:rPr>
              <a:t>MANAGE · CRM</a:t>
            </a:r>
            <a:endParaRPr lang="en-US" sz="1050" dirty="0"/>
          </a:p>
        </p:txBody>
      </p:sp>
      <p:sp>
        <p:nvSpPr>
          <p:cNvPr id="32" name="Text 30"/>
          <p:cNvSpPr/>
          <p:nvPr/>
        </p:nvSpPr>
        <p:spPr>
          <a:xfrm>
            <a:off x="9244355" y="4023360"/>
            <a:ext cx="2261540" cy="1874520"/>
          </a:xfrm>
          <a:prstGeom prst="rect">
            <a:avLst/>
          </a:prstGeom>
          <a:noFill/>
          <a:ln/>
        </p:spPr>
        <p:txBody>
          <a:bodyPr wrap="square" lIns="0" tIns="0" rIns="0" bIns="0" rtlCol="0" anchor="t"/>
          <a:lstStyle/>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Contacts &amp; accounts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Deals &amp; pipeline</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Activities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Customer relationships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Revenue</a:t>
            </a:r>
            <a:endParaRPr lang="en-US" sz="1150" dirty="0"/>
          </a:p>
        </p:txBody>
      </p:sp>
      <p:sp>
        <p:nvSpPr>
          <p:cNvPr id="33" name="Shape 31"/>
          <p:cNvSpPr/>
          <p:nvPr/>
        </p:nvSpPr>
        <p:spPr>
          <a:xfrm>
            <a:off x="6397600" y="5650992"/>
            <a:ext cx="2243252" cy="274320"/>
          </a:xfrm>
          <a:prstGeom prst="roundRect">
            <a:avLst>
              <a:gd name="adj" fmla="val 26667"/>
            </a:avLst>
          </a:prstGeom>
          <a:solidFill>
            <a:srgbClr val="ECFDF5"/>
          </a:solidFill>
          <a:ln w="12700">
            <a:solidFill>
              <a:srgbClr val="34D399"/>
            </a:solidFill>
            <a:prstDash val="dash"/>
          </a:ln>
        </p:spPr>
      </p:sp>
      <p:sp>
        <p:nvSpPr>
          <p:cNvPr id="34" name="Text 32"/>
          <p:cNvSpPr/>
          <p:nvPr/>
        </p:nvSpPr>
        <p:spPr>
          <a:xfrm>
            <a:off x="6397600" y="5650992"/>
            <a:ext cx="2243252" cy="274320"/>
          </a:xfrm>
          <a:prstGeom prst="rect">
            <a:avLst/>
          </a:prstGeom>
          <a:noFill/>
          <a:ln/>
        </p:spPr>
        <p:txBody>
          <a:bodyPr wrap="square" lIns="0" tIns="0" rIns="0" bIns="0" rtlCol="0" anchor="ctr"/>
          <a:lstStyle/>
          <a:p>
            <a:pPr algn="ctr" indent="0" marL="0">
              <a:buNone/>
            </a:pPr>
            <a:r>
              <a:rPr lang="en-US" sz="850" b="1" dirty="0">
                <a:solidFill>
                  <a:srgbClr val="047857"/>
                </a:solidFill>
                <a:latin typeface="Calibri" pitchFamily="34" charset="0"/>
                <a:ea typeface="Calibri" pitchFamily="34" charset="-122"/>
                <a:cs typeface="Calibri" pitchFamily="34" charset="-120"/>
              </a:rPr>
              <a:t>HANDOFF · QUALIFIED LEAD TO YOUR CRM</a:t>
            </a:r>
            <a:endParaRPr lang="en-US" sz="850" dirty="0"/>
          </a:p>
        </p:txBody>
      </p:sp>
      <p:sp>
        <p:nvSpPr>
          <p:cNvPr id="35" name="Text 33"/>
          <p:cNvSpPr/>
          <p:nvPr/>
        </p:nvSpPr>
        <p:spPr>
          <a:xfrm>
            <a:off x="502920" y="6355080"/>
            <a:ext cx="10972800" cy="320040"/>
          </a:xfrm>
          <a:prstGeom prst="rect">
            <a:avLst/>
          </a:prstGeom>
          <a:noFill/>
          <a:ln/>
        </p:spPr>
        <p:txBody>
          <a:bodyPr wrap="square" lIns="0" tIns="0" rIns="0" bIns="0" rtlCol="0" anchor="ctr"/>
          <a:lstStyle/>
          <a:p>
            <a:pPr algn="l" indent="0" marL="0">
              <a:buNone/>
            </a:pPr>
            <a:r>
              <a:rPr lang="en-US" sz="1100" i="1" dirty="0">
                <a:solidFill>
                  <a:srgbClr val="64748B"/>
                </a:solidFill>
                <a:latin typeface="Calibri" pitchFamily="34" charset="0"/>
                <a:ea typeface="Calibri" pitchFamily="34" charset="-122"/>
                <a:cs typeface="Calibri" pitchFamily="34" charset="-120"/>
              </a:rPr>
              <a:t>ExpoLead runs the show, then hands your CRM a clean, qualified lead. Two jobs on one timeline, not two tools doing the same job.</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00584" cy="100584"/>
          </a:xfrm>
          <a:prstGeom prst="roundRect">
            <a:avLst>
              <a:gd name="adj" fmla="val 18182"/>
            </a:avLst>
          </a:prstGeom>
          <a:solidFill>
            <a:srgbClr val="FFFFFF"/>
          </a:solidFill>
          <a:ln w="16510">
            <a:solidFill>
              <a:srgbClr val="0F172A"/>
            </a:solidFill>
            <a:prstDash val="solid"/>
          </a:ln>
        </p:spPr>
      </p:sp>
      <p:sp>
        <p:nvSpPr>
          <p:cNvPr id="3" name="Shape 1"/>
          <p:cNvSpPr/>
          <p:nvPr/>
        </p:nvSpPr>
        <p:spPr>
          <a:xfrm>
            <a:off x="644652" y="411480"/>
            <a:ext cx="100584" cy="100584"/>
          </a:xfrm>
          <a:prstGeom prst="roundRect">
            <a:avLst>
              <a:gd name="adj" fmla="val 18182"/>
            </a:avLst>
          </a:prstGeom>
          <a:solidFill>
            <a:srgbClr val="FFFFFF"/>
          </a:solidFill>
          <a:ln w="16510">
            <a:solidFill>
              <a:srgbClr val="0F172A"/>
            </a:solidFill>
            <a:prstDash val="solid"/>
          </a:ln>
        </p:spPr>
      </p:sp>
      <p:sp>
        <p:nvSpPr>
          <p:cNvPr id="4" name="Shape 2"/>
          <p:cNvSpPr/>
          <p:nvPr/>
        </p:nvSpPr>
        <p:spPr>
          <a:xfrm>
            <a:off x="502920" y="553212"/>
            <a:ext cx="100584" cy="100584"/>
          </a:xfrm>
          <a:prstGeom prst="roundRect">
            <a:avLst>
              <a:gd name="adj" fmla="val 18182"/>
            </a:avLst>
          </a:prstGeom>
          <a:solidFill>
            <a:srgbClr val="FFFFFF"/>
          </a:solidFill>
          <a:ln w="16510">
            <a:solidFill>
              <a:srgbClr val="0F172A"/>
            </a:solidFill>
            <a:prstDash val="solid"/>
          </a:ln>
        </p:spPr>
      </p:sp>
      <p:sp>
        <p:nvSpPr>
          <p:cNvPr id="5" name="Shape 3"/>
          <p:cNvSpPr/>
          <p:nvPr/>
        </p:nvSpPr>
        <p:spPr>
          <a:xfrm>
            <a:off x="644652" y="553212"/>
            <a:ext cx="100584" cy="100584"/>
          </a:xfrm>
          <a:prstGeom prst="roundRect">
            <a:avLst>
              <a:gd name="adj" fmla="val 18182"/>
            </a:avLst>
          </a:prstGeom>
          <a:solidFill>
            <a:srgbClr val="10B981"/>
          </a:solidFill>
          <a:ln w="16510">
            <a:solidFill>
              <a:srgbClr val="10B981"/>
            </a:solidFill>
            <a:prstDash val="solid"/>
          </a:ln>
        </p:spPr>
      </p:sp>
      <p:sp>
        <p:nvSpPr>
          <p:cNvPr id="6" name="Text 4"/>
          <p:cNvSpPr/>
          <p:nvPr/>
        </p:nvSpPr>
        <p:spPr>
          <a:xfrm>
            <a:off x="886968" y="365760"/>
            <a:ext cx="2011680" cy="329184"/>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Expo</a:t>
            </a:r>
            <a:pPr algn="l" indent="0" marL="0">
              <a:buNone/>
            </a:pPr>
            <a:r>
              <a:rPr lang="en-US" sz="1500" b="1" dirty="0">
                <a:solidFill>
                  <a:srgbClr val="10B981"/>
                </a:solidFill>
                <a:latin typeface="Calibri" pitchFamily="34" charset="0"/>
                <a:ea typeface="Calibri" pitchFamily="34" charset="-122"/>
                <a:cs typeface="Calibri" pitchFamily="34" charset="-120"/>
              </a:rPr>
              <a:t>Lead</a:t>
            </a:r>
            <a:pPr algn="l" indent="0" marL="0">
              <a:buNone/>
            </a:pP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1051560"/>
            <a:ext cx="8229600" cy="274320"/>
          </a:xfrm>
          <a:prstGeom prst="rect">
            <a:avLst/>
          </a:prstGeom>
          <a:noFill/>
          <a:ln/>
        </p:spPr>
        <p:txBody>
          <a:bodyPr wrap="square" lIns="0" tIns="0" rIns="0" bIns="0" rtlCol="0" anchor="ctr"/>
          <a:lstStyle/>
          <a:p>
            <a:pPr algn="l" indent="0" marL="0">
              <a:buNone/>
            </a:pPr>
            <a:r>
              <a:rPr lang="en-US" sz="1100" b="1" spc="220" kern="0" dirty="0">
                <a:solidFill>
                  <a:srgbClr val="059669"/>
                </a:solidFill>
                <a:latin typeface="Calibri" pitchFamily="34" charset="0"/>
                <a:ea typeface="Calibri" pitchFamily="34" charset="-122"/>
                <a:cs typeface="Calibri" pitchFamily="34" charset="-120"/>
              </a:rPr>
              <a:t>THE CONCEPTUAL DIFFERENCE</a:t>
            </a:r>
            <a:endParaRPr lang="en-US" sz="1100" dirty="0"/>
          </a:p>
        </p:txBody>
      </p:sp>
      <p:sp>
        <p:nvSpPr>
          <p:cNvPr id="8" name="Text 6"/>
          <p:cNvSpPr/>
          <p:nvPr/>
        </p:nvSpPr>
        <p:spPr>
          <a:xfrm>
            <a:off x="502920" y="1325880"/>
            <a:ext cx="10972800" cy="548640"/>
          </a:xfrm>
          <a:prstGeom prst="rect">
            <a:avLst/>
          </a:prstGeom>
          <a:noFill/>
          <a:ln/>
        </p:spPr>
        <p:txBody>
          <a:bodyPr wrap="square" lIns="0" tIns="0" rIns="0" bIns="0" rtlCol="0" anchor="t"/>
          <a:lstStyle/>
          <a:p>
            <a:pPr algn="l" indent="0" marL="0">
              <a:buNone/>
            </a:pPr>
            <a:r>
              <a:rPr lang="en-US" sz="2600" b="1" dirty="0">
                <a:solidFill>
                  <a:srgbClr val="0F172A"/>
                </a:solidFill>
                <a:latin typeface="Calibri" pitchFamily="34" charset="0"/>
                <a:ea typeface="Calibri" pitchFamily="34" charset="-122"/>
                <a:cs typeface="Calibri" pitchFamily="34" charset="-120"/>
              </a:rPr>
              <a:t>A CRM is built around records. ExpoLead is built around the exhibition.</a:t>
            </a:r>
            <a:endParaRPr lang="en-US" sz="2600" dirty="0"/>
          </a:p>
        </p:txBody>
      </p:sp>
      <p:sp>
        <p:nvSpPr>
          <p:cNvPr id="9" name="Shape 7"/>
          <p:cNvSpPr/>
          <p:nvPr/>
        </p:nvSpPr>
        <p:spPr>
          <a:xfrm>
            <a:off x="502920" y="2103120"/>
            <a:ext cx="11185855" cy="1051560"/>
          </a:xfrm>
          <a:prstGeom prst="roundRect">
            <a:avLst>
              <a:gd name="adj" fmla="val 8696"/>
            </a:avLst>
          </a:prstGeom>
          <a:solidFill>
            <a:srgbClr val="0F172A"/>
          </a:solidFill>
          <a:ln/>
        </p:spPr>
      </p:sp>
      <p:sp>
        <p:nvSpPr>
          <p:cNvPr id="10" name="Text 8"/>
          <p:cNvSpPr/>
          <p:nvPr/>
        </p:nvSpPr>
        <p:spPr>
          <a:xfrm>
            <a:off x="822960" y="2103120"/>
            <a:ext cx="10545775" cy="1051560"/>
          </a:xfrm>
          <a:prstGeom prst="rect">
            <a:avLst/>
          </a:prstGeom>
          <a:noFill/>
          <a:ln/>
        </p:spPr>
        <p:txBody>
          <a:bodyPr wrap="square" lIns="0" tIns="0" rIns="0" bIns="0" rtlCol="0" anchor="ctr"/>
          <a:lstStyle/>
          <a:p>
            <a:pPr algn="l" indent="0" marL="0">
              <a:lnSpc>
                <a:spcPct val="115000"/>
              </a:lnSpc>
              <a:buNone/>
            </a:pPr>
            <a:r>
              <a:rPr lang="en-US" sz="1400" b="1" dirty="0">
                <a:solidFill>
                  <a:srgbClr val="FFFFFF"/>
                </a:solidFill>
                <a:latin typeface="Calibri" pitchFamily="34" charset="0"/>
                <a:ea typeface="Calibri" pitchFamily="34" charset="-122"/>
                <a:cs typeface="Calibri" pitchFamily="34" charset="-120"/>
              </a:rPr>
              <a:t>CRM systems are excellent at managing structured customer and sales data over time. </a:t>
            </a:r>
            <a:pPr algn="l" indent="0" marL="0">
              <a:lnSpc>
                <a:spcPct val="115000"/>
              </a:lnSpc>
              <a:buNone/>
            </a:pPr>
            <a:r>
              <a:rPr lang="en-US" sz="1400" dirty="0">
                <a:solidFill>
                  <a:srgbClr val="CBD5E1"/>
                </a:solidFill>
                <a:latin typeface="Calibri" pitchFamily="34" charset="0"/>
                <a:ea typeface="Calibri" pitchFamily="34" charset="-122"/>
                <a:cs typeface="Calibri" pitchFamily="34" charset="-120"/>
              </a:rPr>
              <a:t>ExpoLead is purpose-built for the high-volume, fast-moving environment of exhibitions, helping teams organise what they want to achieve before the show, capture what happens on the floor, and turn conversations into structured opportunities and actions immediately afterwards.</a:t>
            </a:r>
            <a:endParaRPr lang="en-US" sz="1400" dirty="0"/>
          </a:p>
        </p:txBody>
      </p:sp>
      <p:sp>
        <p:nvSpPr>
          <p:cNvPr id="11" name="Shape 9"/>
          <p:cNvSpPr/>
          <p:nvPr/>
        </p:nvSpPr>
        <p:spPr>
          <a:xfrm>
            <a:off x="502920" y="3520440"/>
            <a:ext cx="11185855" cy="1097280"/>
          </a:xfrm>
          <a:prstGeom prst="roundRect">
            <a:avLst>
              <a:gd name="adj" fmla="val 8333"/>
            </a:avLst>
          </a:prstGeom>
          <a:solidFill>
            <a:srgbClr val="F8FAFC"/>
          </a:solidFill>
          <a:ln w="12700">
            <a:solidFill>
              <a:srgbClr val="E2E8F0"/>
            </a:solidFill>
            <a:prstDash val="solid"/>
          </a:ln>
        </p:spPr>
      </p:sp>
      <p:sp>
        <p:nvSpPr>
          <p:cNvPr id="12" name="Text 10"/>
          <p:cNvSpPr/>
          <p:nvPr/>
        </p:nvSpPr>
        <p:spPr>
          <a:xfrm>
            <a:off x="777240" y="3657600"/>
            <a:ext cx="7315200" cy="256032"/>
          </a:xfrm>
          <a:prstGeom prst="rect">
            <a:avLst/>
          </a:prstGeom>
          <a:noFill/>
          <a:ln/>
        </p:spPr>
        <p:txBody>
          <a:bodyPr wrap="square" lIns="0" tIns="0" rIns="0" bIns="0" rtlCol="0" anchor="ctr"/>
          <a:lstStyle/>
          <a:p>
            <a:pPr indent="0" marL="0">
              <a:buNone/>
            </a:pPr>
            <a:r>
              <a:rPr lang="en-US" sz="1100" b="1" spc="120" kern="0" dirty="0">
                <a:solidFill>
                  <a:srgbClr val="64748B"/>
                </a:solidFill>
                <a:latin typeface="Calibri" pitchFamily="34" charset="0"/>
                <a:ea typeface="Calibri" pitchFamily="34" charset="-122"/>
                <a:cs typeface="Calibri" pitchFamily="34" charset="-120"/>
              </a:rPr>
              <a:t>CRM IS PRIMARILY RECORD-CENTRIC</a:t>
            </a:r>
            <a:endParaRPr lang="en-US" sz="1100" dirty="0"/>
          </a:p>
        </p:txBody>
      </p:sp>
      <p:sp>
        <p:nvSpPr>
          <p:cNvPr id="13" name="Shape 11"/>
          <p:cNvSpPr/>
          <p:nvPr/>
        </p:nvSpPr>
        <p:spPr>
          <a:xfrm>
            <a:off x="777240" y="4041648"/>
            <a:ext cx="627278" cy="310896"/>
          </a:xfrm>
          <a:prstGeom prst="roundRect">
            <a:avLst>
              <a:gd name="adj" fmla="val 17647"/>
            </a:avLst>
          </a:prstGeom>
          <a:solidFill>
            <a:srgbClr val="FFFFFF"/>
          </a:solidFill>
          <a:ln w="12700">
            <a:solidFill>
              <a:srgbClr val="E2E8F0"/>
            </a:solidFill>
            <a:prstDash val="solid"/>
          </a:ln>
        </p:spPr>
      </p:sp>
      <p:sp>
        <p:nvSpPr>
          <p:cNvPr id="14" name="Text 12"/>
          <p:cNvSpPr/>
          <p:nvPr/>
        </p:nvSpPr>
        <p:spPr>
          <a:xfrm>
            <a:off x="777240" y="4041648"/>
            <a:ext cx="627278" cy="310896"/>
          </a:xfrm>
          <a:prstGeom prst="rect">
            <a:avLst/>
          </a:prstGeom>
          <a:noFill/>
          <a:ln/>
        </p:spPr>
        <p:txBody>
          <a:bodyPr wrap="square" lIns="0" tIns="0" rIns="0" bIns="0" rtlCol="0" anchor="ctr"/>
          <a:lstStyle/>
          <a:p>
            <a:pPr algn="ctr" indent="0" marL="0">
              <a:buNone/>
            </a:pPr>
            <a:r>
              <a:rPr lang="en-US" sz="1050" b="1" dirty="0">
                <a:solidFill>
                  <a:srgbClr val="334155"/>
                </a:solidFill>
                <a:latin typeface="Calibri" pitchFamily="34" charset="0"/>
                <a:ea typeface="Calibri" pitchFamily="34" charset="-122"/>
                <a:cs typeface="Calibri" pitchFamily="34" charset="-120"/>
              </a:rPr>
              <a:t>Contact</a:t>
            </a:r>
            <a:endParaRPr lang="en-US" sz="1050" dirty="0"/>
          </a:p>
        </p:txBody>
      </p:sp>
      <p:sp>
        <p:nvSpPr>
          <p:cNvPr id="15" name="Text 13"/>
          <p:cNvSpPr/>
          <p:nvPr/>
        </p:nvSpPr>
        <p:spPr>
          <a:xfrm>
            <a:off x="1404518" y="4041648"/>
            <a:ext cx="274320" cy="310896"/>
          </a:xfrm>
          <a:prstGeom prst="rect">
            <a:avLst/>
          </a:prstGeom>
          <a:noFill/>
          <a:ln/>
        </p:spPr>
        <p:txBody>
          <a:bodyPr wrap="square" lIns="0" tIns="0" rIns="0" bIns="0" rtlCol="0" anchor="ctr"/>
          <a:lstStyle/>
          <a:p>
            <a:pPr algn="ctr" indent="0" marL="0">
              <a:buNone/>
            </a:pPr>
            <a:r>
              <a:rPr lang="en-US" sz="1300" b="1" dirty="0">
                <a:solidFill>
                  <a:srgbClr val="E2E8F0"/>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1678838" y="4041648"/>
            <a:ext cx="627278" cy="310896"/>
          </a:xfrm>
          <a:prstGeom prst="roundRect">
            <a:avLst>
              <a:gd name="adj" fmla="val 17647"/>
            </a:avLst>
          </a:prstGeom>
          <a:solidFill>
            <a:srgbClr val="FFFFFF"/>
          </a:solidFill>
          <a:ln w="12700">
            <a:solidFill>
              <a:srgbClr val="E2E8F0"/>
            </a:solidFill>
            <a:prstDash val="solid"/>
          </a:ln>
        </p:spPr>
      </p:sp>
      <p:sp>
        <p:nvSpPr>
          <p:cNvPr id="17" name="Text 15"/>
          <p:cNvSpPr/>
          <p:nvPr/>
        </p:nvSpPr>
        <p:spPr>
          <a:xfrm>
            <a:off x="1678838" y="4041648"/>
            <a:ext cx="627278" cy="310896"/>
          </a:xfrm>
          <a:prstGeom prst="rect">
            <a:avLst/>
          </a:prstGeom>
          <a:noFill/>
          <a:ln/>
        </p:spPr>
        <p:txBody>
          <a:bodyPr wrap="square" lIns="0" tIns="0" rIns="0" bIns="0" rtlCol="0" anchor="ctr"/>
          <a:lstStyle/>
          <a:p>
            <a:pPr algn="ctr" indent="0" marL="0">
              <a:buNone/>
            </a:pPr>
            <a:r>
              <a:rPr lang="en-US" sz="1050" b="1" dirty="0">
                <a:solidFill>
                  <a:srgbClr val="334155"/>
                </a:solidFill>
                <a:latin typeface="Calibri" pitchFamily="34" charset="0"/>
                <a:ea typeface="Calibri" pitchFamily="34" charset="-122"/>
                <a:cs typeface="Calibri" pitchFamily="34" charset="-120"/>
              </a:rPr>
              <a:t>Company</a:t>
            </a:r>
            <a:endParaRPr lang="en-US" sz="1050" dirty="0"/>
          </a:p>
        </p:txBody>
      </p:sp>
      <p:sp>
        <p:nvSpPr>
          <p:cNvPr id="18" name="Text 16"/>
          <p:cNvSpPr/>
          <p:nvPr/>
        </p:nvSpPr>
        <p:spPr>
          <a:xfrm>
            <a:off x="2306117" y="4041648"/>
            <a:ext cx="274320" cy="310896"/>
          </a:xfrm>
          <a:prstGeom prst="rect">
            <a:avLst/>
          </a:prstGeom>
          <a:noFill/>
          <a:ln/>
        </p:spPr>
        <p:txBody>
          <a:bodyPr wrap="square" lIns="0" tIns="0" rIns="0" bIns="0" rtlCol="0" anchor="ctr"/>
          <a:lstStyle/>
          <a:p>
            <a:pPr algn="ctr" indent="0" marL="0">
              <a:buNone/>
            </a:pPr>
            <a:r>
              <a:rPr lang="en-US" sz="1300" b="1" dirty="0">
                <a:solidFill>
                  <a:srgbClr val="E2E8F0"/>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2580437" y="4041648"/>
            <a:ext cx="413309" cy="310896"/>
          </a:xfrm>
          <a:prstGeom prst="roundRect">
            <a:avLst>
              <a:gd name="adj" fmla="val 17647"/>
            </a:avLst>
          </a:prstGeom>
          <a:solidFill>
            <a:srgbClr val="FFFFFF"/>
          </a:solidFill>
          <a:ln w="12700">
            <a:solidFill>
              <a:srgbClr val="E2E8F0"/>
            </a:solidFill>
            <a:prstDash val="solid"/>
          </a:ln>
        </p:spPr>
      </p:sp>
      <p:sp>
        <p:nvSpPr>
          <p:cNvPr id="20" name="Text 18"/>
          <p:cNvSpPr/>
          <p:nvPr/>
        </p:nvSpPr>
        <p:spPr>
          <a:xfrm>
            <a:off x="2580437" y="4041648"/>
            <a:ext cx="413309" cy="310896"/>
          </a:xfrm>
          <a:prstGeom prst="rect">
            <a:avLst/>
          </a:prstGeom>
          <a:noFill/>
          <a:ln/>
        </p:spPr>
        <p:txBody>
          <a:bodyPr wrap="square" lIns="0" tIns="0" rIns="0" bIns="0" rtlCol="0" anchor="ctr"/>
          <a:lstStyle/>
          <a:p>
            <a:pPr algn="ctr" indent="0" marL="0">
              <a:buNone/>
            </a:pPr>
            <a:r>
              <a:rPr lang="en-US" sz="1050" b="1" dirty="0">
                <a:solidFill>
                  <a:srgbClr val="334155"/>
                </a:solidFill>
                <a:latin typeface="Calibri" pitchFamily="34" charset="0"/>
                <a:ea typeface="Calibri" pitchFamily="34" charset="-122"/>
                <a:cs typeface="Calibri" pitchFamily="34" charset="-120"/>
              </a:rPr>
              <a:t>Deal</a:t>
            </a:r>
            <a:endParaRPr lang="en-US" sz="1050" dirty="0"/>
          </a:p>
        </p:txBody>
      </p:sp>
      <p:sp>
        <p:nvSpPr>
          <p:cNvPr id="21" name="Text 19"/>
          <p:cNvSpPr/>
          <p:nvPr/>
        </p:nvSpPr>
        <p:spPr>
          <a:xfrm>
            <a:off x="2993746" y="4041648"/>
            <a:ext cx="274320" cy="310896"/>
          </a:xfrm>
          <a:prstGeom prst="rect">
            <a:avLst/>
          </a:prstGeom>
          <a:noFill/>
          <a:ln/>
        </p:spPr>
        <p:txBody>
          <a:bodyPr wrap="square" lIns="0" tIns="0" rIns="0" bIns="0" rtlCol="0" anchor="ctr"/>
          <a:lstStyle/>
          <a:p>
            <a:pPr algn="ctr" indent="0" marL="0">
              <a:buNone/>
            </a:pPr>
            <a:r>
              <a:rPr lang="en-US" sz="1300" b="1" dirty="0">
                <a:solidFill>
                  <a:srgbClr val="E2E8F0"/>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3268066" y="4041648"/>
            <a:ext cx="698602" cy="310896"/>
          </a:xfrm>
          <a:prstGeom prst="roundRect">
            <a:avLst>
              <a:gd name="adj" fmla="val 17647"/>
            </a:avLst>
          </a:prstGeom>
          <a:solidFill>
            <a:srgbClr val="FFFFFF"/>
          </a:solidFill>
          <a:ln w="12700">
            <a:solidFill>
              <a:srgbClr val="E2E8F0"/>
            </a:solidFill>
            <a:prstDash val="solid"/>
          </a:ln>
        </p:spPr>
      </p:sp>
      <p:sp>
        <p:nvSpPr>
          <p:cNvPr id="23" name="Text 21"/>
          <p:cNvSpPr/>
          <p:nvPr/>
        </p:nvSpPr>
        <p:spPr>
          <a:xfrm>
            <a:off x="3268066" y="4041648"/>
            <a:ext cx="698602" cy="310896"/>
          </a:xfrm>
          <a:prstGeom prst="rect">
            <a:avLst/>
          </a:prstGeom>
          <a:noFill/>
          <a:ln/>
        </p:spPr>
        <p:txBody>
          <a:bodyPr wrap="square" lIns="0" tIns="0" rIns="0" bIns="0" rtlCol="0" anchor="ctr"/>
          <a:lstStyle/>
          <a:p>
            <a:pPr algn="ctr" indent="0" marL="0">
              <a:buNone/>
            </a:pPr>
            <a:r>
              <a:rPr lang="en-US" sz="1050" b="1" dirty="0">
                <a:solidFill>
                  <a:srgbClr val="334155"/>
                </a:solidFill>
                <a:latin typeface="Calibri" pitchFamily="34" charset="0"/>
                <a:ea typeface="Calibri" pitchFamily="34" charset="-122"/>
                <a:cs typeface="Calibri" pitchFamily="34" charset="-120"/>
              </a:rPr>
              <a:t>Activity</a:t>
            </a:r>
            <a:endParaRPr lang="en-US" sz="1050" dirty="0"/>
          </a:p>
        </p:txBody>
      </p:sp>
      <p:sp>
        <p:nvSpPr>
          <p:cNvPr id="24" name="Text 22"/>
          <p:cNvSpPr/>
          <p:nvPr/>
        </p:nvSpPr>
        <p:spPr>
          <a:xfrm>
            <a:off x="3966667" y="4041648"/>
            <a:ext cx="274320" cy="310896"/>
          </a:xfrm>
          <a:prstGeom prst="rect">
            <a:avLst/>
          </a:prstGeom>
          <a:noFill/>
          <a:ln/>
        </p:spPr>
        <p:txBody>
          <a:bodyPr wrap="square" lIns="0" tIns="0" rIns="0" bIns="0" rtlCol="0" anchor="ctr"/>
          <a:lstStyle/>
          <a:p>
            <a:pPr algn="ctr" indent="0" marL="0">
              <a:buNone/>
            </a:pPr>
            <a:r>
              <a:rPr lang="en-US" sz="1300" b="1" dirty="0">
                <a:solidFill>
                  <a:srgbClr val="E2E8F0"/>
                </a:solidFill>
                <a:latin typeface="Calibri" pitchFamily="34" charset="0"/>
                <a:ea typeface="Calibri" pitchFamily="34" charset="-122"/>
                <a:cs typeface="Calibri" pitchFamily="34" charset="-120"/>
              </a:rPr>
              <a:t>›</a:t>
            </a:r>
            <a:endParaRPr lang="en-US" sz="1300" dirty="0"/>
          </a:p>
        </p:txBody>
      </p:sp>
      <p:sp>
        <p:nvSpPr>
          <p:cNvPr id="25" name="Shape 23"/>
          <p:cNvSpPr/>
          <p:nvPr/>
        </p:nvSpPr>
        <p:spPr>
          <a:xfrm>
            <a:off x="4240987" y="4041648"/>
            <a:ext cx="698602" cy="310896"/>
          </a:xfrm>
          <a:prstGeom prst="roundRect">
            <a:avLst>
              <a:gd name="adj" fmla="val 17647"/>
            </a:avLst>
          </a:prstGeom>
          <a:solidFill>
            <a:srgbClr val="FFFFFF"/>
          </a:solidFill>
          <a:ln w="12700">
            <a:solidFill>
              <a:srgbClr val="E2E8F0"/>
            </a:solidFill>
            <a:prstDash val="solid"/>
          </a:ln>
        </p:spPr>
      </p:sp>
      <p:sp>
        <p:nvSpPr>
          <p:cNvPr id="26" name="Text 24"/>
          <p:cNvSpPr/>
          <p:nvPr/>
        </p:nvSpPr>
        <p:spPr>
          <a:xfrm>
            <a:off x="4240987" y="4041648"/>
            <a:ext cx="698602" cy="310896"/>
          </a:xfrm>
          <a:prstGeom prst="rect">
            <a:avLst/>
          </a:prstGeom>
          <a:noFill/>
          <a:ln/>
        </p:spPr>
        <p:txBody>
          <a:bodyPr wrap="square" lIns="0" tIns="0" rIns="0" bIns="0" rtlCol="0" anchor="ctr"/>
          <a:lstStyle/>
          <a:p>
            <a:pPr algn="ctr" indent="0" marL="0">
              <a:buNone/>
            </a:pPr>
            <a:r>
              <a:rPr lang="en-US" sz="1050" b="1" dirty="0">
                <a:solidFill>
                  <a:srgbClr val="334155"/>
                </a:solidFill>
                <a:latin typeface="Calibri" pitchFamily="34" charset="0"/>
                <a:ea typeface="Calibri" pitchFamily="34" charset="-122"/>
                <a:cs typeface="Calibri" pitchFamily="34" charset="-120"/>
              </a:rPr>
              <a:t>Pipeline</a:t>
            </a:r>
            <a:endParaRPr lang="en-US" sz="1050" dirty="0"/>
          </a:p>
        </p:txBody>
      </p:sp>
      <p:sp>
        <p:nvSpPr>
          <p:cNvPr id="27" name="Shape 25"/>
          <p:cNvSpPr/>
          <p:nvPr/>
        </p:nvSpPr>
        <p:spPr>
          <a:xfrm>
            <a:off x="502920" y="4800600"/>
            <a:ext cx="11185855" cy="1508760"/>
          </a:xfrm>
          <a:prstGeom prst="roundRect">
            <a:avLst>
              <a:gd name="adj" fmla="val 6061"/>
            </a:avLst>
          </a:prstGeom>
          <a:solidFill>
            <a:srgbClr val="ECFDF5"/>
          </a:solidFill>
          <a:ln w="12700">
            <a:solidFill>
              <a:srgbClr val="D1FAE5"/>
            </a:solidFill>
            <a:prstDash val="solid"/>
          </a:ln>
        </p:spPr>
      </p:sp>
      <p:sp>
        <p:nvSpPr>
          <p:cNvPr id="28" name="Text 26"/>
          <p:cNvSpPr/>
          <p:nvPr/>
        </p:nvSpPr>
        <p:spPr>
          <a:xfrm>
            <a:off x="777240" y="4937760"/>
            <a:ext cx="7315200" cy="256032"/>
          </a:xfrm>
          <a:prstGeom prst="rect">
            <a:avLst/>
          </a:prstGeom>
          <a:noFill/>
          <a:ln/>
        </p:spPr>
        <p:txBody>
          <a:bodyPr wrap="square" lIns="0" tIns="0" rIns="0" bIns="0" rtlCol="0" anchor="ctr"/>
          <a:lstStyle/>
          <a:p>
            <a:pPr indent="0" marL="0">
              <a:buNone/>
            </a:pPr>
            <a:r>
              <a:rPr lang="en-US" sz="1100" b="1" spc="120" kern="0" dirty="0">
                <a:solidFill>
                  <a:srgbClr val="047857"/>
                </a:solidFill>
                <a:latin typeface="Calibri" pitchFamily="34" charset="0"/>
                <a:ea typeface="Calibri" pitchFamily="34" charset="-122"/>
                <a:cs typeface="Calibri" pitchFamily="34" charset="-120"/>
              </a:rPr>
              <a:t>EXPOLEAD IS EXHIBITION-CENTRIC</a:t>
            </a:r>
            <a:endParaRPr lang="en-US" sz="1100" dirty="0"/>
          </a:p>
        </p:txBody>
      </p:sp>
      <p:sp>
        <p:nvSpPr>
          <p:cNvPr id="29" name="Shape 27"/>
          <p:cNvSpPr/>
          <p:nvPr/>
        </p:nvSpPr>
        <p:spPr>
          <a:xfrm>
            <a:off x="777240" y="5303520"/>
            <a:ext cx="841248" cy="310896"/>
          </a:xfrm>
          <a:prstGeom prst="roundRect">
            <a:avLst>
              <a:gd name="adj" fmla="val 17647"/>
            </a:avLst>
          </a:prstGeom>
          <a:solidFill>
            <a:srgbClr val="FFFFFF"/>
          </a:solidFill>
          <a:ln w="12700">
            <a:solidFill>
              <a:srgbClr val="D1FAE5"/>
            </a:solidFill>
            <a:prstDash val="solid"/>
          </a:ln>
        </p:spPr>
      </p:sp>
      <p:sp>
        <p:nvSpPr>
          <p:cNvPr id="30" name="Text 28"/>
          <p:cNvSpPr/>
          <p:nvPr/>
        </p:nvSpPr>
        <p:spPr>
          <a:xfrm>
            <a:off x="777240" y="5303520"/>
            <a:ext cx="841248"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Exhibition</a:t>
            </a:r>
            <a:endParaRPr lang="en-US" sz="1050" dirty="0"/>
          </a:p>
        </p:txBody>
      </p:sp>
      <p:sp>
        <p:nvSpPr>
          <p:cNvPr id="31" name="Text 29"/>
          <p:cNvSpPr/>
          <p:nvPr/>
        </p:nvSpPr>
        <p:spPr>
          <a:xfrm>
            <a:off x="1618488" y="5303520"/>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32" name="Shape 30"/>
          <p:cNvSpPr/>
          <p:nvPr/>
        </p:nvSpPr>
        <p:spPr>
          <a:xfrm>
            <a:off x="1892808" y="5303520"/>
            <a:ext cx="555955" cy="310896"/>
          </a:xfrm>
          <a:prstGeom prst="roundRect">
            <a:avLst>
              <a:gd name="adj" fmla="val 17647"/>
            </a:avLst>
          </a:prstGeom>
          <a:solidFill>
            <a:srgbClr val="FFFFFF"/>
          </a:solidFill>
          <a:ln w="12700">
            <a:solidFill>
              <a:srgbClr val="D1FAE5"/>
            </a:solidFill>
            <a:prstDash val="solid"/>
          </a:ln>
        </p:spPr>
      </p:sp>
      <p:sp>
        <p:nvSpPr>
          <p:cNvPr id="33" name="Text 31"/>
          <p:cNvSpPr/>
          <p:nvPr/>
        </p:nvSpPr>
        <p:spPr>
          <a:xfrm>
            <a:off x="1892808" y="5303520"/>
            <a:ext cx="555955"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Target</a:t>
            </a:r>
            <a:endParaRPr lang="en-US" sz="1050" dirty="0"/>
          </a:p>
        </p:txBody>
      </p:sp>
      <p:sp>
        <p:nvSpPr>
          <p:cNvPr id="34" name="Text 32"/>
          <p:cNvSpPr/>
          <p:nvPr/>
        </p:nvSpPr>
        <p:spPr>
          <a:xfrm>
            <a:off x="2448763" y="5303520"/>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35" name="Shape 33"/>
          <p:cNvSpPr/>
          <p:nvPr/>
        </p:nvSpPr>
        <p:spPr>
          <a:xfrm>
            <a:off x="2723083" y="5303520"/>
            <a:ext cx="484632" cy="310896"/>
          </a:xfrm>
          <a:prstGeom prst="roundRect">
            <a:avLst>
              <a:gd name="adj" fmla="val 17647"/>
            </a:avLst>
          </a:prstGeom>
          <a:solidFill>
            <a:srgbClr val="FFFFFF"/>
          </a:solidFill>
          <a:ln w="12700">
            <a:solidFill>
              <a:srgbClr val="D1FAE5"/>
            </a:solidFill>
            <a:prstDash val="solid"/>
          </a:ln>
        </p:spPr>
      </p:sp>
      <p:sp>
        <p:nvSpPr>
          <p:cNvPr id="36" name="Text 34"/>
          <p:cNvSpPr/>
          <p:nvPr/>
        </p:nvSpPr>
        <p:spPr>
          <a:xfrm>
            <a:off x="2723083" y="5303520"/>
            <a:ext cx="484632"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Booth</a:t>
            </a:r>
            <a:endParaRPr lang="en-US" sz="1050" dirty="0"/>
          </a:p>
        </p:txBody>
      </p:sp>
      <p:sp>
        <p:nvSpPr>
          <p:cNvPr id="37" name="Text 35"/>
          <p:cNvSpPr/>
          <p:nvPr/>
        </p:nvSpPr>
        <p:spPr>
          <a:xfrm>
            <a:off x="3207715" y="5303520"/>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38" name="Shape 36"/>
          <p:cNvSpPr/>
          <p:nvPr/>
        </p:nvSpPr>
        <p:spPr>
          <a:xfrm>
            <a:off x="3482035" y="5303520"/>
            <a:ext cx="555955" cy="310896"/>
          </a:xfrm>
          <a:prstGeom prst="roundRect">
            <a:avLst>
              <a:gd name="adj" fmla="val 17647"/>
            </a:avLst>
          </a:prstGeom>
          <a:solidFill>
            <a:srgbClr val="FFFFFF"/>
          </a:solidFill>
          <a:ln w="12700">
            <a:solidFill>
              <a:srgbClr val="D1FAE5"/>
            </a:solidFill>
            <a:prstDash val="solid"/>
          </a:ln>
        </p:spPr>
      </p:sp>
      <p:sp>
        <p:nvSpPr>
          <p:cNvPr id="39" name="Text 37"/>
          <p:cNvSpPr/>
          <p:nvPr/>
        </p:nvSpPr>
        <p:spPr>
          <a:xfrm>
            <a:off x="3482035" y="5303520"/>
            <a:ext cx="555955"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Person</a:t>
            </a:r>
            <a:endParaRPr lang="en-US" sz="1050" dirty="0"/>
          </a:p>
        </p:txBody>
      </p:sp>
      <p:sp>
        <p:nvSpPr>
          <p:cNvPr id="40" name="Text 38"/>
          <p:cNvSpPr/>
          <p:nvPr/>
        </p:nvSpPr>
        <p:spPr>
          <a:xfrm>
            <a:off x="4037990" y="5303520"/>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41" name="Shape 39"/>
          <p:cNvSpPr/>
          <p:nvPr/>
        </p:nvSpPr>
        <p:spPr>
          <a:xfrm>
            <a:off x="4312310" y="5303520"/>
            <a:ext cx="983894" cy="310896"/>
          </a:xfrm>
          <a:prstGeom prst="roundRect">
            <a:avLst>
              <a:gd name="adj" fmla="val 17647"/>
            </a:avLst>
          </a:prstGeom>
          <a:solidFill>
            <a:srgbClr val="FFFFFF"/>
          </a:solidFill>
          <a:ln w="12700">
            <a:solidFill>
              <a:srgbClr val="D1FAE5"/>
            </a:solidFill>
            <a:prstDash val="solid"/>
          </a:ln>
        </p:spPr>
      </p:sp>
      <p:sp>
        <p:nvSpPr>
          <p:cNvPr id="42" name="Text 40"/>
          <p:cNvSpPr/>
          <p:nvPr/>
        </p:nvSpPr>
        <p:spPr>
          <a:xfrm>
            <a:off x="4312310" y="5303520"/>
            <a:ext cx="983894"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Conversation</a:t>
            </a:r>
            <a:endParaRPr lang="en-US" sz="1050" dirty="0"/>
          </a:p>
        </p:txBody>
      </p:sp>
      <p:sp>
        <p:nvSpPr>
          <p:cNvPr id="43" name="Text 41"/>
          <p:cNvSpPr/>
          <p:nvPr/>
        </p:nvSpPr>
        <p:spPr>
          <a:xfrm>
            <a:off x="5296205" y="5303520"/>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44" name="Shape 42"/>
          <p:cNvSpPr/>
          <p:nvPr/>
        </p:nvSpPr>
        <p:spPr>
          <a:xfrm>
            <a:off x="5570525" y="5303520"/>
            <a:ext cx="1126541" cy="310896"/>
          </a:xfrm>
          <a:prstGeom prst="roundRect">
            <a:avLst>
              <a:gd name="adj" fmla="val 17647"/>
            </a:avLst>
          </a:prstGeom>
          <a:solidFill>
            <a:srgbClr val="FFFFFF"/>
          </a:solidFill>
          <a:ln w="12700">
            <a:solidFill>
              <a:srgbClr val="D1FAE5"/>
            </a:solidFill>
            <a:prstDash val="solid"/>
          </a:ln>
        </p:spPr>
      </p:sp>
      <p:sp>
        <p:nvSpPr>
          <p:cNvPr id="45" name="Text 43"/>
          <p:cNvSpPr/>
          <p:nvPr/>
        </p:nvSpPr>
        <p:spPr>
          <a:xfrm>
            <a:off x="5570525" y="5303520"/>
            <a:ext cx="1126541"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Product / need</a:t>
            </a:r>
            <a:endParaRPr lang="en-US" sz="1050" dirty="0"/>
          </a:p>
        </p:txBody>
      </p:sp>
      <p:sp>
        <p:nvSpPr>
          <p:cNvPr id="46" name="Shape 44"/>
          <p:cNvSpPr/>
          <p:nvPr/>
        </p:nvSpPr>
        <p:spPr>
          <a:xfrm>
            <a:off x="777240" y="5742432"/>
            <a:ext cx="912571" cy="310896"/>
          </a:xfrm>
          <a:prstGeom prst="roundRect">
            <a:avLst>
              <a:gd name="adj" fmla="val 17647"/>
            </a:avLst>
          </a:prstGeom>
          <a:solidFill>
            <a:srgbClr val="FFFFFF"/>
          </a:solidFill>
          <a:ln w="12700">
            <a:solidFill>
              <a:srgbClr val="D1FAE5"/>
            </a:solidFill>
            <a:prstDash val="solid"/>
          </a:ln>
        </p:spPr>
      </p:sp>
      <p:sp>
        <p:nvSpPr>
          <p:cNvPr id="47" name="Text 45"/>
          <p:cNvSpPr/>
          <p:nvPr/>
        </p:nvSpPr>
        <p:spPr>
          <a:xfrm>
            <a:off x="777240" y="5742432"/>
            <a:ext cx="912571"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Opportunity</a:t>
            </a:r>
            <a:endParaRPr lang="en-US" sz="1050" dirty="0"/>
          </a:p>
        </p:txBody>
      </p:sp>
      <p:sp>
        <p:nvSpPr>
          <p:cNvPr id="48" name="Text 46"/>
          <p:cNvSpPr/>
          <p:nvPr/>
        </p:nvSpPr>
        <p:spPr>
          <a:xfrm>
            <a:off x="1689811" y="5742432"/>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49" name="Shape 47"/>
          <p:cNvSpPr/>
          <p:nvPr/>
        </p:nvSpPr>
        <p:spPr>
          <a:xfrm>
            <a:off x="1964131" y="5742432"/>
            <a:ext cx="841248" cy="310896"/>
          </a:xfrm>
          <a:prstGeom prst="roundRect">
            <a:avLst>
              <a:gd name="adj" fmla="val 17647"/>
            </a:avLst>
          </a:prstGeom>
          <a:solidFill>
            <a:srgbClr val="FFFFFF"/>
          </a:solidFill>
          <a:ln w="12700">
            <a:solidFill>
              <a:srgbClr val="D1FAE5"/>
            </a:solidFill>
            <a:prstDash val="solid"/>
          </a:ln>
        </p:spPr>
      </p:sp>
      <p:sp>
        <p:nvSpPr>
          <p:cNvPr id="50" name="Text 48"/>
          <p:cNvSpPr/>
          <p:nvPr/>
        </p:nvSpPr>
        <p:spPr>
          <a:xfrm>
            <a:off x="1964131" y="5742432"/>
            <a:ext cx="841248"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Commitment</a:t>
            </a:r>
            <a:endParaRPr lang="en-US" sz="1050" dirty="0"/>
          </a:p>
        </p:txBody>
      </p:sp>
      <p:sp>
        <p:nvSpPr>
          <p:cNvPr id="51" name="Text 49"/>
          <p:cNvSpPr/>
          <p:nvPr/>
        </p:nvSpPr>
        <p:spPr>
          <a:xfrm>
            <a:off x="2805379" y="5742432"/>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52" name="Shape 50"/>
          <p:cNvSpPr/>
          <p:nvPr/>
        </p:nvSpPr>
        <p:spPr>
          <a:xfrm>
            <a:off x="3079699" y="5742432"/>
            <a:ext cx="769925" cy="310896"/>
          </a:xfrm>
          <a:prstGeom prst="roundRect">
            <a:avLst>
              <a:gd name="adj" fmla="val 17647"/>
            </a:avLst>
          </a:prstGeom>
          <a:solidFill>
            <a:srgbClr val="FFFFFF"/>
          </a:solidFill>
          <a:ln w="12700">
            <a:solidFill>
              <a:srgbClr val="D1FAE5"/>
            </a:solidFill>
            <a:prstDash val="solid"/>
          </a:ln>
        </p:spPr>
      </p:sp>
      <p:sp>
        <p:nvSpPr>
          <p:cNvPr id="53" name="Text 51"/>
          <p:cNvSpPr/>
          <p:nvPr/>
        </p:nvSpPr>
        <p:spPr>
          <a:xfrm>
            <a:off x="3079699" y="5742432"/>
            <a:ext cx="769925"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Follow-up</a:t>
            </a:r>
            <a:endParaRPr lang="en-US" sz="1050" dirty="0"/>
          </a:p>
        </p:txBody>
      </p:sp>
      <p:sp>
        <p:nvSpPr>
          <p:cNvPr id="54" name="Text 52"/>
          <p:cNvSpPr/>
          <p:nvPr/>
        </p:nvSpPr>
        <p:spPr>
          <a:xfrm>
            <a:off x="3849624" y="5742432"/>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55" name="Shape 53"/>
          <p:cNvSpPr/>
          <p:nvPr/>
        </p:nvSpPr>
        <p:spPr>
          <a:xfrm>
            <a:off x="4123944" y="5742432"/>
            <a:ext cx="627278" cy="310896"/>
          </a:xfrm>
          <a:prstGeom prst="roundRect">
            <a:avLst>
              <a:gd name="adj" fmla="val 17647"/>
            </a:avLst>
          </a:prstGeom>
          <a:solidFill>
            <a:srgbClr val="FFFFFF"/>
          </a:solidFill>
          <a:ln w="12700">
            <a:solidFill>
              <a:srgbClr val="D1FAE5"/>
            </a:solidFill>
            <a:prstDash val="solid"/>
          </a:ln>
        </p:spPr>
      </p:sp>
      <p:sp>
        <p:nvSpPr>
          <p:cNvPr id="56" name="Text 54"/>
          <p:cNvSpPr/>
          <p:nvPr/>
        </p:nvSpPr>
        <p:spPr>
          <a:xfrm>
            <a:off x="4123944" y="5742432"/>
            <a:ext cx="627278"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Outcome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00584" cy="100584"/>
          </a:xfrm>
          <a:prstGeom prst="roundRect">
            <a:avLst>
              <a:gd name="adj" fmla="val 18182"/>
            </a:avLst>
          </a:prstGeom>
          <a:solidFill>
            <a:srgbClr val="FFFFFF"/>
          </a:solidFill>
          <a:ln w="16510">
            <a:solidFill>
              <a:srgbClr val="0F172A"/>
            </a:solidFill>
            <a:prstDash val="solid"/>
          </a:ln>
        </p:spPr>
      </p:sp>
      <p:sp>
        <p:nvSpPr>
          <p:cNvPr id="3" name="Shape 1"/>
          <p:cNvSpPr/>
          <p:nvPr/>
        </p:nvSpPr>
        <p:spPr>
          <a:xfrm>
            <a:off x="644652" y="365760"/>
            <a:ext cx="100584" cy="100584"/>
          </a:xfrm>
          <a:prstGeom prst="roundRect">
            <a:avLst>
              <a:gd name="adj" fmla="val 18182"/>
            </a:avLst>
          </a:prstGeom>
          <a:solidFill>
            <a:srgbClr val="FFFFFF"/>
          </a:solidFill>
          <a:ln w="16510">
            <a:solidFill>
              <a:srgbClr val="0F172A"/>
            </a:solidFill>
            <a:prstDash val="solid"/>
          </a:ln>
        </p:spPr>
      </p:sp>
      <p:sp>
        <p:nvSpPr>
          <p:cNvPr id="4" name="Shape 2"/>
          <p:cNvSpPr/>
          <p:nvPr/>
        </p:nvSpPr>
        <p:spPr>
          <a:xfrm>
            <a:off x="502920" y="507492"/>
            <a:ext cx="100584" cy="100584"/>
          </a:xfrm>
          <a:prstGeom prst="roundRect">
            <a:avLst>
              <a:gd name="adj" fmla="val 18182"/>
            </a:avLst>
          </a:prstGeom>
          <a:solidFill>
            <a:srgbClr val="FFFFFF"/>
          </a:solidFill>
          <a:ln w="16510">
            <a:solidFill>
              <a:srgbClr val="0F172A"/>
            </a:solidFill>
            <a:prstDash val="solid"/>
          </a:ln>
        </p:spPr>
      </p:sp>
      <p:sp>
        <p:nvSpPr>
          <p:cNvPr id="5" name="Shape 3"/>
          <p:cNvSpPr/>
          <p:nvPr/>
        </p:nvSpPr>
        <p:spPr>
          <a:xfrm>
            <a:off x="644652" y="507492"/>
            <a:ext cx="100584" cy="100584"/>
          </a:xfrm>
          <a:prstGeom prst="roundRect">
            <a:avLst>
              <a:gd name="adj" fmla="val 18182"/>
            </a:avLst>
          </a:prstGeom>
          <a:solidFill>
            <a:srgbClr val="10B981"/>
          </a:solidFill>
          <a:ln w="16510">
            <a:solidFill>
              <a:srgbClr val="10B981"/>
            </a:solidFill>
            <a:prstDash val="solid"/>
          </a:ln>
        </p:spPr>
      </p:sp>
      <p:sp>
        <p:nvSpPr>
          <p:cNvPr id="6" name="Text 4"/>
          <p:cNvSpPr/>
          <p:nvPr/>
        </p:nvSpPr>
        <p:spPr>
          <a:xfrm>
            <a:off x="886968" y="320040"/>
            <a:ext cx="2011680" cy="329184"/>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Expo</a:t>
            </a:r>
            <a:pPr algn="l" indent="0" marL="0">
              <a:buNone/>
            </a:pPr>
            <a:r>
              <a:rPr lang="en-US" sz="1500" b="1" dirty="0">
                <a:solidFill>
                  <a:srgbClr val="10B981"/>
                </a:solidFill>
                <a:latin typeface="Calibri" pitchFamily="34" charset="0"/>
                <a:ea typeface="Calibri" pitchFamily="34" charset="-122"/>
                <a:cs typeface="Calibri" pitchFamily="34" charset="-120"/>
              </a:rPr>
              <a:t>Lead</a:t>
            </a:r>
            <a:pPr algn="l" indent="0" marL="0">
              <a:buNone/>
            </a:pP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425135" y="384048"/>
            <a:ext cx="6263640" cy="274320"/>
          </a:xfrm>
          <a:prstGeom prst="rect">
            <a:avLst/>
          </a:prstGeom>
          <a:noFill/>
          <a:ln/>
        </p:spPr>
        <p:txBody>
          <a:bodyPr wrap="square" lIns="0" tIns="0" rIns="0" bIns="0" rtlCol="0" anchor="ctr"/>
          <a:lstStyle/>
          <a:p>
            <a:pPr algn="r" indent="0" marL="0">
              <a:buNone/>
            </a:pPr>
            <a:r>
              <a:rPr lang="en-US" sz="1000" b="1" spc="140" kern="0" dirty="0">
                <a:solidFill>
                  <a:srgbClr val="94A3B8"/>
                </a:solidFill>
                <a:latin typeface="Calibri" pitchFamily="34" charset="0"/>
                <a:ea typeface="Calibri" pitchFamily="34" charset="-122"/>
                <a:cs typeface="Calibri" pitchFamily="34" charset="-120"/>
              </a:rPr>
              <a:t>IF YOU ALREADY USE A CRM  ·  THIS IS WHERE EXPOLEAD FITS</a:t>
            </a:r>
            <a:endParaRPr lang="en-US" sz="1000" dirty="0"/>
          </a:p>
        </p:txBody>
      </p:sp>
      <p:sp>
        <p:nvSpPr>
          <p:cNvPr id="8" name="Text 6"/>
          <p:cNvSpPr/>
          <p:nvPr/>
        </p:nvSpPr>
        <p:spPr>
          <a:xfrm>
            <a:off x="502920" y="960120"/>
            <a:ext cx="8229600" cy="274320"/>
          </a:xfrm>
          <a:prstGeom prst="rect">
            <a:avLst/>
          </a:prstGeom>
          <a:noFill/>
          <a:ln/>
        </p:spPr>
        <p:txBody>
          <a:bodyPr wrap="square" lIns="0" tIns="0" rIns="0" bIns="0" rtlCol="0" anchor="ctr"/>
          <a:lstStyle/>
          <a:p>
            <a:pPr algn="l" indent="0" marL="0">
              <a:buNone/>
            </a:pPr>
            <a:r>
              <a:rPr lang="en-US" sz="1100" b="1" spc="220" kern="0" dirty="0">
                <a:solidFill>
                  <a:srgbClr val="059669"/>
                </a:solidFill>
                <a:latin typeface="Calibri" pitchFamily="34" charset="0"/>
                <a:ea typeface="Calibri" pitchFamily="34" charset="-122"/>
                <a:cs typeface="Calibri" pitchFamily="34" charset="-120"/>
              </a:rPr>
              <a:t>TWO JOBS, ONE HANDOFF</a:t>
            </a:r>
            <a:endParaRPr lang="en-US" sz="1100" dirty="0"/>
          </a:p>
        </p:txBody>
      </p:sp>
      <p:sp>
        <p:nvSpPr>
          <p:cNvPr id="9" name="Text 7"/>
          <p:cNvSpPr/>
          <p:nvPr/>
        </p:nvSpPr>
        <p:spPr>
          <a:xfrm>
            <a:off x="502920" y="1216152"/>
            <a:ext cx="10972800" cy="502920"/>
          </a:xfrm>
          <a:prstGeom prst="rect">
            <a:avLst/>
          </a:prstGeom>
          <a:noFill/>
          <a:ln/>
        </p:spPr>
        <p:txBody>
          <a:bodyPr wrap="square" lIns="0" tIns="0" rIns="0" bIns="0" rtlCol="0" anchor="t"/>
          <a:lstStyle/>
          <a:p>
            <a:pPr algn="l" indent="0" marL="0">
              <a:buNone/>
            </a:pPr>
            <a:r>
              <a:rPr lang="en-US" sz="2700" b="1" dirty="0">
                <a:solidFill>
                  <a:srgbClr val="0F172A"/>
                </a:solidFill>
                <a:latin typeface="Calibri" pitchFamily="34" charset="0"/>
                <a:ea typeface="Calibri" pitchFamily="34" charset="-122"/>
                <a:cs typeface="Calibri" pitchFamily="34" charset="-120"/>
              </a:rPr>
              <a:t>A CRM begins where the exhibition </a:t>
            </a:r>
            <a:pPr algn="l" indent="0" marL="0">
              <a:buNone/>
            </a:pPr>
            <a:r>
              <a:rPr lang="en-US" sz="2700" b="1" dirty="0">
                <a:solidFill>
                  <a:srgbClr val="059669"/>
                </a:solidFill>
                <a:latin typeface="Calibri" pitchFamily="34" charset="0"/>
                <a:ea typeface="Calibri" pitchFamily="34" charset="-122"/>
                <a:cs typeface="Calibri" pitchFamily="34" charset="-120"/>
              </a:rPr>
              <a:t>ends.</a:t>
            </a:r>
            <a:endParaRPr lang="en-US" sz="2700" dirty="0"/>
          </a:p>
        </p:txBody>
      </p:sp>
      <p:sp>
        <p:nvSpPr>
          <p:cNvPr id="10" name="Text 8"/>
          <p:cNvSpPr/>
          <p:nvPr/>
        </p:nvSpPr>
        <p:spPr>
          <a:xfrm>
            <a:off x="502920" y="1783080"/>
            <a:ext cx="10789920" cy="457200"/>
          </a:xfrm>
          <a:prstGeom prst="rect">
            <a:avLst/>
          </a:prstGeom>
          <a:noFill/>
          <a:ln/>
        </p:spPr>
        <p:txBody>
          <a:bodyPr wrap="square" lIns="0" tIns="0" rIns="0" bIns="0" rtlCol="0" anchor="t"/>
          <a:lstStyle/>
          <a:p>
            <a:pPr algn="l" indent="0" marL="0">
              <a:lnSpc>
                <a:spcPct val="110000"/>
              </a:lnSpc>
              <a:buNone/>
            </a:pPr>
            <a:r>
              <a:rPr lang="en-US" sz="1300" dirty="0">
                <a:solidFill>
                  <a:srgbClr val="475569"/>
                </a:solidFill>
                <a:latin typeface="Calibri" pitchFamily="34" charset="0"/>
                <a:ea typeface="Calibri" pitchFamily="34" charset="-122"/>
                <a:cs typeface="Calibri" pitchFamily="34" charset="-120"/>
              </a:rPr>
              <a:t>Your CRM starts with the lead. ExpoLead is everything that happens before it becomes one, then it hands your CRM a clean, qualified opportunity when the show is done.</a:t>
            </a:r>
            <a:endParaRPr lang="en-US" sz="1300" dirty="0"/>
          </a:p>
        </p:txBody>
      </p:sp>
      <p:sp>
        <p:nvSpPr>
          <p:cNvPr id="11" name="Shape 9"/>
          <p:cNvSpPr/>
          <p:nvPr/>
        </p:nvSpPr>
        <p:spPr>
          <a:xfrm>
            <a:off x="502920" y="2514600"/>
            <a:ext cx="5669280" cy="2148840"/>
          </a:xfrm>
          <a:prstGeom prst="roundRect">
            <a:avLst>
              <a:gd name="adj" fmla="val 5106"/>
            </a:avLst>
          </a:prstGeom>
          <a:solidFill>
            <a:srgbClr val="ECFDF5"/>
          </a:solidFill>
          <a:ln w="15240">
            <a:solidFill>
              <a:srgbClr val="D1FAE5"/>
            </a:solidFill>
            <a:prstDash val="solid"/>
          </a:ln>
        </p:spPr>
      </p:sp>
      <p:sp>
        <p:nvSpPr>
          <p:cNvPr id="12" name="Text 10"/>
          <p:cNvSpPr/>
          <p:nvPr/>
        </p:nvSpPr>
        <p:spPr>
          <a:xfrm>
            <a:off x="731520" y="2697480"/>
            <a:ext cx="5212080" cy="256032"/>
          </a:xfrm>
          <a:prstGeom prst="rect">
            <a:avLst/>
          </a:prstGeom>
          <a:noFill/>
          <a:ln/>
        </p:spPr>
        <p:txBody>
          <a:bodyPr wrap="square" lIns="0" tIns="0" rIns="0" bIns="0" rtlCol="0" anchor="ctr"/>
          <a:lstStyle/>
          <a:p>
            <a:pPr indent="0" marL="0">
              <a:buNone/>
            </a:pPr>
            <a:r>
              <a:rPr lang="en-US" sz="1050" b="1" spc="100" kern="0" dirty="0">
                <a:solidFill>
                  <a:srgbClr val="047857"/>
                </a:solidFill>
                <a:latin typeface="Calibri" pitchFamily="34" charset="0"/>
                <a:ea typeface="Calibri" pitchFamily="34" charset="-122"/>
                <a:cs typeface="Calibri" pitchFamily="34" charset="-120"/>
              </a:rPr>
              <a:t>THE EXHIBITION · EXPOLEAD RUNS THIS</a:t>
            </a:r>
            <a:endParaRPr lang="en-US" sz="1050" dirty="0"/>
          </a:p>
        </p:txBody>
      </p:sp>
      <p:sp>
        <p:nvSpPr>
          <p:cNvPr id="13" name="Shape 11"/>
          <p:cNvSpPr/>
          <p:nvPr/>
        </p:nvSpPr>
        <p:spPr>
          <a:xfrm>
            <a:off x="731520" y="3081528"/>
            <a:ext cx="1753819" cy="329184"/>
          </a:xfrm>
          <a:prstGeom prst="roundRect">
            <a:avLst>
              <a:gd name="adj" fmla="val 16667"/>
            </a:avLst>
          </a:prstGeom>
          <a:solidFill>
            <a:srgbClr val="FFFFFF"/>
          </a:solidFill>
          <a:ln w="12700">
            <a:solidFill>
              <a:srgbClr val="D1FAE5"/>
            </a:solidFill>
            <a:prstDash val="solid"/>
          </a:ln>
        </p:spPr>
      </p:sp>
      <p:sp>
        <p:nvSpPr>
          <p:cNvPr id="14" name="Text 12"/>
          <p:cNvSpPr/>
          <p:nvPr/>
        </p:nvSpPr>
        <p:spPr>
          <a:xfrm>
            <a:off x="731520" y="3081528"/>
            <a:ext cx="1753819" cy="329184"/>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Plan targets &amp; booths</a:t>
            </a:r>
            <a:endParaRPr lang="en-US" sz="1050" dirty="0"/>
          </a:p>
        </p:txBody>
      </p:sp>
      <p:sp>
        <p:nvSpPr>
          <p:cNvPr id="15" name="Text 13"/>
          <p:cNvSpPr/>
          <p:nvPr/>
        </p:nvSpPr>
        <p:spPr>
          <a:xfrm>
            <a:off x="2485339" y="3081528"/>
            <a:ext cx="201168" cy="329184"/>
          </a:xfrm>
          <a:prstGeom prst="rect">
            <a:avLst/>
          </a:prstGeom>
          <a:noFill/>
          <a:ln/>
        </p:spPr>
        <p:txBody>
          <a:bodyPr wrap="square" lIns="0" tIns="0" rIns="0" bIns="0" rtlCol="0" anchor="ctr"/>
          <a:lstStyle/>
          <a:p>
            <a:pPr algn="ctr" indent="0" marL="0">
              <a:buNone/>
            </a:pPr>
            <a:r>
              <a:rPr lang="en-US" sz="1200" b="1" dirty="0">
                <a:solidFill>
                  <a:srgbClr val="34D399"/>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2686507" y="3081528"/>
            <a:ext cx="1682496" cy="329184"/>
          </a:xfrm>
          <a:prstGeom prst="roundRect">
            <a:avLst>
              <a:gd name="adj" fmla="val 16667"/>
            </a:avLst>
          </a:prstGeom>
          <a:solidFill>
            <a:srgbClr val="FFFFFF"/>
          </a:solidFill>
          <a:ln w="12700">
            <a:solidFill>
              <a:srgbClr val="D1FAE5"/>
            </a:solidFill>
            <a:prstDash val="solid"/>
          </a:ln>
        </p:spPr>
      </p:sp>
      <p:sp>
        <p:nvSpPr>
          <p:cNvPr id="17" name="Text 15"/>
          <p:cNvSpPr/>
          <p:nvPr/>
        </p:nvSpPr>
        <p:spPr>
          <a:xfrm>
            <a:off x="2686507" y="3081528"/>
            <a:ext cx="1682496" cy="329184"/>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Capture on the floor</a:t>
            </a:r>
            <a:endParaRPr lang="en-US" sz="1050" dirty="0"/>
          </a:p>
        </p:txBody>
      </p:sp>
      <p:sp>
        <p:nvSpPr>
          <p:cNvPr id="18" name="Shape 16"/>
          <p:cNvSpPr/>
          <p:nvPr/>
        </p:nvSpPr>
        <p:spPr>
          <a:xfrm>
            <a:off x="731520" y="3529584"/>
            <a:ext cx="1825142" cy="329184"/>
          </a:xfrm>
          <a:prstGeom prst="roundRect">
            <a:avLst>
              <a:gd name="adj" fmla="val 16667"/>
            </a:avLst>
          </a:prstGeom>
          <a:solidFill>
            <a:srgbClr val="FFFFFF"/>
          </a:solidFill>
          <a:ln w="12700">
            <a:solidFill>
              <a:srgbClr val="D1FAE5"/>
            </a:solidFill>
            <a:prstDash val="solid"/>
          </a:ln>
        </p:spPr>
      </p:sp>
      <p:sp>
        <p:nvSpPr>
          <p:cNvPr id="19" name="Text 17"/>
          <p:cNvSpPr/>
          <p:nvPr/>
        </p:nvSpPr>
        <p:spPr>
          <a:xfrm>
            <a:off x="731520" y="3529584"/>
            <a:ext cx="1825142" cy="329184"/>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Prioritise on the spot</a:t>
            </a:r>
            <a:endParaRPr lang="en-US" sz="1050" dirty="0"/>
          </a:p>
        </p:txBody>
      </p:sp>
      <p:sp>
        <p:nvSpPr>
          <p:cNvPr id="20" name="Text 18"/>
          <p:cNvSpPr/>
          <p:nvPr/>
        </p:nvSpPr>
        <p:spPr>
          <a:xfrm>
            <a:off x="2556662" y="3529584"/>
            <a:ext cx="201168" cy="329184"/>
          </a:xfrm>
          <a:prstGeom prst="rect">
            <a:avLst/>
          </a:prstGeom>
          <a:noFill/>
          <a:ln/>
        </p:spPr>
        <p:txBody>
          <a:bodyPr wrap="square" lIns="0" tIns="0" rIns="0" bIns="0" rtlCol="0" anchor="ctr"/>
          <a:lstStyle/>
          <a:p>
            <a:pPr algn="ctr" indent="0" marL="0">
              <a:buNone/>
            </a:pPr>
            <a:r>
              <a:rPr lang="en-US" sz="1200" b="1" dirty="0">
                <a:solidFill>
                  <a:srgbClr val="34D399"/>
                </a:solidFill>
                <a:latin typeface="Calibri" pitchFamily="34" charset="0"/>
                <a:ea typeface="Calibri" pitchFamily="34" charset="-122"/>
                <a:cs typeface="Calibri" pitchFamily="34" charset="-120"/>
              </a:rPr>
              <a:t>›</a:t>
            </a:r>
            <a:endParaRPr lang="en-US" sz="1200" dirty="0"/>
          </a:p>
        </p:txBody>
      </p:sp>
      <p:sp>
        <p:nvSpPr>
          <p:cNvPr id="21" name="Shape 19"/>
          <p:cNvSpPr/>
          <p:nvPr/>
        </p:nvSpPr>
        <p:spPr>
          <a:xfrm>
            <a:off x="2757830" y="3529584"/>
            <a:ext cx="1468526" cy="329184"/>
          </a:xfrm>
          <a:prstGeom prst="roundRect">
            <a:avLst>
              <a:gd name="adj" fmla="val 16667"/>
            </a:avLst>
          </a:prstGeom>
          <a:solidFill>
            <a:srgbClr val="FFFFFF"/>
          </a:solidFill>
          <a:ln w="12700">
            <a:solidFill>
              <a:srgbClr val="D1FAE5"/>
            </a:solidFill>
            <a:prstDash val="solid"/>
          </a:ln>
        </p:spPr>
      </p:sp>
      <p:sp>
        <p:nvSpPr>
          <p:cNvPr id="22" name="Text 20"/>
          <p:cNvSpPr/>
          <p:nvPr/>
        </p:nvSpPr>
        <p:spPr>
          <a:xfrm>
            <a:off x="2757830" y="3529584"/>
            <a:ext cx="1468526" cy="329184"/>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Track commitments</a:t>
            </a:r>
            <a:endParaRPr lang="en-US" sz="1050" dirty="0"/>
          </a:p>
        </p:txBody>
      </p:sp>
      <p:sp>
        <p:nvSpPr>
          <p:cNvPr id="23" name="Shape 21"/>
          <p:cNvSpPr/>
          <p:nvPr/>
        </p:nvSpPr>
        <p:spPr>
          <a:xfrm>
            <a:off x="731520" y="3977640"/>
            <a:ext cx="1753819" cy="329184"/>
          </a:xfrm>
          <a:prstGeom prst="roundRect">
            <a:avLst>
              <a:gd name="adj" fmla="val 16667"/>
            </a:avLst>
          </a:prstGeom>
          <a:solidFill>
            <a:srgbClr val="FFFFFF"/>
          </a:solidFill>
          <a:ln w="12700">
            <a:solidFill>
              <a:srgbClr val="D1FAE5"/>
            </a:solidFill>
            <a:prstDash val="solid"/>
          </a:ln>
        </p:spPr>
      </p:sp>
      <p:sp>
        <p:nvSpPr>
          <p:cNvPr id="24" name="Text 22"/>
          <p:cNvSpPr/>
          <p:nvPr/>
        </p:nvSpPr>
        <p:spPr>
          <a:xfrm>
            <a:off x="731520" y="3977640"/>
            <a:ext cx="1753819" cy="329184"/>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Structure the outcome</a:t>
            </a:r>
            <a:endParaRPr lang="en-US" sz="1050" dirty="0"/>
          </a:p>
        </p:txBody>
      </p:sp>
      <p:sp>
        <p:nvSpPr>
          <p:cNvPr id="25" name="Text 23"/>
          <p:cNvSpPr/>
          <p:nvPr/>
        </p:nvSpPr>
        <p:spPr>
          <a:xfrm>
            <a:off x="731520" y="4005072"/>
            <a:ext cx="5212080" cy="548640"/>
          </a:xfrm>
          <a:prstGeom prst="rect">
            <a:avLst/>
          </a:prstGeom>
          <a:noFill/>
          <a:ln/>
        </p:spPr>
        <p:txBody>
          <a:bodyPr wrap="square" lIns="0" tIns="0" rIns="0" bIns="0" rtlCol="0" anchor="t"/>
          <a:lstStyle/>
          <a:p>
            <a:pPr algn="l" indent="0" marL="0">
              <a:lnSpc>
                <a:spcPct val="110000"/>
              </a:lnSpc>
              <a:buNone/>
            </a:pPr>
            <a:r>
              <a:rPr lang="en-US" sz="1100" dirty="0">
                <a:solidFill>
                  <a:srgbClr val="475569"/>
                </a:solidFill>
                <a:latin typeface="Calibri" pitchFamily="34" charset="0"/>
                <a:ea typeface="Calibri" pitchFamily="34" charset="-122"/>
                <a:cs typeface="Calibri" pitchFamily="34" charset="-120"/>
              </a:rPr>
              <a:t>Hall, booth, product and conversation context, captured at booth speed across dozens of meetings, then turned into structured opportunities.</a:t>
            </a:r>
            <a:endParaRPr lang="en-US" sz="1100" dirty="0"/>
          </a:p>
        </p:txBody>
      </p:sp>
      <p:sp>
        <p:nvSpPr>
          <p:cNvPr id="26" name="Text 24"/>
          <p:cNvSpPr/>
          <p:nvPr/>
        </p:nvSpPr>
        <p:spPr>
          <a:xfrm>
            <a:off x="6172200" y="2514600"/>
            <a:ext cx="320040" cy="2148840"/>
          </a:xfrm>
          <a:prstGeom prst="rect">
            <a:avLst/>
          </a:prstGeom>
          <a:noFill/>
          <a:ln/>
        </p:spPr>
        <p:txBody>
          <a:bodyPr wrap="square" lIns="0" tIns="0" rIns="0" bIns="0" rtlCol="0" anchor="ctr"/>
          <a:lstStyle/>
          <a:p>
            <a:pPr algn="ctr" indent="0" marL="0">
              <a:buNone/>
            </a:pPr>
            <a:r>
              <a:rPr lang="en-US" sz="2600" b="1" dirty="0">
                <a:solidFill>
                  <a:srgbClr val="CBD5E1"/>
                </a:solidFill>
                <a:latin typeface="Calibri" pitchFamily="34" charset="0"/>
                <a:ea typeface="Calibri" pitchFamily="34" charset="-122"/>
                <a:cs typeface="Calibri" pitchFamily="34" charset="-120"/>
              </a:rPr>
              <a:t>›</a:t>
            </a:r>
            <a:endParaRPr lang="en-US" sz="2600" dirty="0"/>
          </a:p>
        </p:txBody>
      </p:sp>
      <p:sp>
        <p:nvSpPr>
          <p:cNvPr id="27" name="Text 25"/>
          <p:cNvSpPr/>
          <p:nvPr/>
        </p:nvSpPr>
        <p:spPr>
          <a:xfrm>
            <a:off x="8778240" y="2514600"/>
            <a:ext cx="320040" cy="2148840"/>
          </a:xfrm>
          <a:prstGeom prst="rect">
            <a:avLst/>
          </a:prstGeom>
          <a:noFill/>
          <a:ln/>
        </p:spPr>
        <p:txBody>
          <a:bodyPr wrap="square" lIns="0" tIns="0" rIns="0" bIns="0" rtlCol="0" anchor="ctr"/>
          <a:lstStyle/>
          <a:p>
            <a:pPr algn="ctr" indent="0" marL="0">
              <a:buNone/>
            </a:pPr>
            <a:r>
              <a:rPr lang="en-US" sz="2600" b="1" dirty="0">
                <a:solidFill>
                  <a:srgbClr val="CBD5E1"/>
                </a:solidFill>
                <a:latin typeface="Calibri" pitchFamily="34" charset="0"/>
                <a:ea typeface="Calibri" pitchFamily="34" charset="-122"/>
                <a:cs typeface="Calibri" pitchFamily="34" charset="-120"/>
              </a:rPr>
              <a:t>›</a:t>
            </a:r>
            <a:endParaRPr lang="en-US" sz="2600" dirty="0"/>
          </a:p>
        </p:txBody>
      </p:sp>
      <p:sp>
        <p:nvSpPr>
          <p:cNvPr id="28" name="Shape 26"/>
          <p:cNvSpPr/>
          <p:nvPr/>
        </p:nvSpPr>
        <p:spPr>
          <a:xfrm>
            <a:off x="6492240" y="2880360"/>
            <a:ext cx="2286000" cy="1417320"/>
          </a:xfrm>
          <a:prstGeom prst="roundRect">
            <a:avLst>
              <a:gd name="adj" fmla="val 6452"/>
            </a:avLst>
          </a:prstGeom>
          <a:solidFill>
            <a:srgbClr val="FFFFFF"/>
          </a:solidFill>
          <a:ln w="19050">
            <a:solidFill>
              <a:srgbClr val="34D399"/>
            </a:solidFill>
            <a:prstDash val="solid"/>
          </a:ln>
          <a:effectLst>
            <a:outerShdw sx="100000" sy="100000" kx="0" ky="0" algn="bl" rotWithShape="0" blurRad="127000" dist="38100" dir="5400000">
              <a:srgbClr val="10B981">
                <a:alpha val="22000"/>
              </a:srgbClr>
            </a:outerShdw>
          </a:effectLst>
        </p:spPr>
      </p:sp>
      <p:sp>
        <p:nvSpPr>
          <p:cNvPr id="29" name="Shape 27"/>
          <p:cNvSpPr/>
          <p:nvPr/>
        </p:nvSpPr>
        <p:spPr>
          <a:xfrm>
            <a:off x="6656832" y="3044952"/>
            <a:ext cx="1783080" cy="237744"/>
          </a:xfrm>
          <a:prstGeom prst="roundRect">
            <a:avLst>
              <a:gd name="adj" fmla="val 19231"/>
            </a:avLst>
          </a:prstGeom>
          <a:solidFill>
            <a:srgbClr val="ECFDF5"/>
          </a:solidFill>
          <a:ln w="12700">
            <a:solidFill>
              <a:srgbClr val="D1FAE5"/>
            </a:solidFill>
            <a:prstDash val="solid"/>
          </a:ln>
        </p:spPr>
      </p:sp>
      <p:sp>
        <p:nvSpPr>
          <p:cNvPr id="30" name="Text 28"/>
          <p:cNvSpPr/>
          <p:nvPr/>
        </p:nvSpPr>
        <p:spPr>
          <a:xfrm>
            <a:off x="6656832" y="3044952"/>
            <a:ext cx="1783080" cy="237744"/>
          </a:xfrm>
          <a:prstGeom prst="rect">
            <a:avLst/>
          </a:prstGeom>
          <a:noFill/>
          <a:ln/>
        </p:spPr>
        <p:txBody>
          <a:bodyPr wrap="square" lIns="0" tIns="0" rIns="0" bIns="0" rtlCol="0" anchor="ctr"/>
          <a:lstStyle/>
          <a:p>
            <a:pPr algn="ctr" indent="0" marL="0">
              <a:buNone/>
            </a:pPr>
            <a:r>
              <a:rPr lang="en-US" sz="800" b="1" dirty="0">
                <a:solidFill>
                  <a:srgbClr val="047857"/>
                </a:solidFill>
                <a:latin typeface="Calibri" pitchFamily="34" charset="0"/>
                <a:ea typeface="Calibri" pitchFamily="34" charset="-122"/>
                <a:cs typeface="Calibri" pitchFamily="34" charset="-120"/>
              </a:rPr>
              <a:t>ONE CLEAN, QUALIFIED LEAD</a:t>
            </a:r>
            <a:endParaRPr lang="en-US" sz="800" dirty="0"/>
          </a:p>
        </p:txBody>
      </p:sp>
      <p:sp>
        <p:nvSpPr>
          <p:cNvPr id="31" name="Text 29"/>
          <p:cNvSpPr/>
          <p:nvPr/>
        </p:nvSpPr>
        <p:spPr>
          <a:xfrm>
            <a:off x="6675120" y="3355848"/>
            <a:ext cx="1920240" cy="274320"/>
          </a:xfrm>
          <a:prstGeom prst="rect">
            <a:avLst/>
          </a:prstGeom>
          <a:noFill/>
          <a:ln/>
        </p:spPr>
        <p:txBody>
          <a:bodyPr wrap="square" lIns="0" tIns="0" rIns="0" bIns="0" rtlCol="0" anchor="ctr"/>
          <a:lstStyle/>
          <a:p>
            <a:pPr algn="l" indent="0" marL="0">
              <a:buNone/>
            </a:pPr>
            <a:r>
              <a:rPr lang="en-US" sz="1400" b="1" dirty="0">
                <a:solidFill>
                  <a:srgbClr val="0F172A"/>
                </a:solidFill>
                <a:latin typeface="Calibri" pitchFamily="34" charset="0"/>
                <a:ea typeface="Calibri" pitchFamily="34" charset="-122"/>
                <a:cs typeface="Calibri" pitchFamily="34" charset="-120"/>
              </a:rPr>
              <a:t>Acme Foods Ltd</a:t>
            </a:r>
            <a:endParaRPr lang="en-US" sz="1400" dirty="0"/>
          </a:p>
        </p:txBody>
      </p:sp>
      <p:sp>
        <p:nvSpPr>
          <p:cNvPr id="32" name="Text 30"/>
          <p:cNvSpPr/>
          <p:nvPr/>
        </p:nvSpPr>
        <p:spPr>
          <a:xfrm>
            <a:off x="6675120" y="3630168"/>
            <a:ext cx="1920240" cy="201168"/>
          </a:xfrm>
          <a:prstGeom prst="rect">
            <a:avLst/>
          </a:prstGeom>
          <a:noFill/>
          <a:ln/>
        </p:spPr>
        <p:txBody>
          <a:bodyPr wrap="square" lIns="0" tIns="0" rIns="0" bIns="0" rtlCol="0" anchor="ctr"/>
          <a:lstStyle/>
          <a:p>
            <a:pPr algn="l" indent="0" marL="0">
              <a:buNone/>
            </a:pPr>
            <a:r>
              <a:rPr lang="en-US" sz="1050" b="1" dirty="0">
                <a:solidFill>
                  <a:srgbClr val="334155"/>
                </a:solidFill>
                <a:latin typeface="Calibri" pitchFamily="34" charset="0"/>
                <a:ea typeface="Calibri" pitchFamily="34" charset="-122"/>
                <a:cs typeface="Calibri" pitchFamily="34" charset="-120"/>
              </a:rPr>
              <a:t>John Perera</a:t>
            </a:r>
            <a:pPr algn="l" indent="0" marL="0">
              <a:buNone/>
            </a:pPr>
            <a:r>
              <a:rPr lang="en-US" sz="1050" dirty="0">
                <a:solidFill>
                  <a:srgbClr val="475569"/>
                </a:solidFill>
                <a:latin typeface="Calibri" pitchFamily="34" charset="0"/>
                <a:ea typeface="Calibri" pitchFamily="34" charset="-122"/>
                <a:cs typeface="Calibri" pitchFamily="34" charset="-120"/>
              </a:rPr>
              <a:t>, Buyer</a:t>
            </a:r>
            <a:endParaRPr lang="en-US" sz="1050" dirty="0"/>
          </a:p>
        </p:txBody>
      </p:sp>
      <p:sp>
        <p:nvSpPr>
          <p:cNvPr id="33" name="Text 31"/>
          <p:cNvSpPr/>
          <p:nvPr/>
        </p:nvSpPr>
        <p:spPr>
          <a:xfrm>
            <a:off x="6675120" y="3822192"/>
            <a:ext cx="1920240" cy="201168"/>
          </a:xfrm>
          <a:prstGeom prst="rect">
            <a:avLst/>
          </a:prstGeom>
          <a:noFill/>
          <a:ln/>
        </p:spPr>
        <p:txBody>
          <a:bodyPr wrap="square" lIns="0" tIns="0" rIns="0" bIns="0"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Needs: 500 MT, monthly</a:t>
            </a:r>
            <a:endParaRPr lang="en-US" sz="1050" dirty="0"/>
          </a:p>
        </p:txBody>
      </p:sp>
      <p:sp>
        <p:nvSpPr>
          <p:cNvPr id="34" name="Text 32"/>
          <p:cNvSpPr/>
          <p:nvPr/>
        </p:nvSpPr>
        <p:spPr>
          <a:xfrm>
            <a:off x="6675120" y="4014216"/>
            <a:ext cx="1920240" cy="201168"/>
          </a:xfrm>
          <a:prstGeom prst="rect">
            <a:avLst/>
          </a:prstGeom>
          <a:noFill/>
          <a:ln/>
        </p:spPr>
        <p:txBody>
          <a:bodyPr wrap="square" lIns="0" tIns="0" rIns="0" bIns="0"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Priority: High, sample promised</a:t>
            </a:r>
            <a:endParaRPr lang="en-US" sz="1050" dirty="0"/>
          </a:p>
        </p:txBody>
      </p:sp>
      <p:sp>
        <p:nvSpPr>
          <p:cNvPr id="35" name="Shape 33"/>
          <p:cNvSpPr/>
          <p:nvPr/>
        </p:nvSpPr>
        <p:spPr>
          <a:xfrm>
            <a:off x="9098280" y="2514600"/>
            <a:ext cx="2590495" cy="2148840"/>
          </a:xfrm>
          <a:prstGeom prst="roundRect">
            <a:avLst>
              <a:gd name="adj" fmla="val 5106"/>
            </a:avLst>
          </a:prstGeom>
          <a:solidFill>
            <a:srgbClr val="F8FAFC"/>
          </a:solidFill>
          <a:ln w="15240">
            <a:solidFill>
              <a:srgbClr val="E2E8F0"/>
            </a:solidFill>
            <a:prstDash val="solid"/>
          </a:ln>
        </p:spPr>
      </p:sp>
      <p:sp>
        <p:nvSpPr>
          <p:cNvPr id="36" name="Text 34"/>
          <p:cNvSpPr/>
          <p:nvPr/>
        </p:nvSpPr>
        <p:spPr>
          <a:xfrm>
            <a:off x="9299448" y="2697480"/>
            <a:ext cx="2188159" cy="256032"/>
          </a:xfrm>
          <a:prstGeom prst="rect">
            <a:avLst/>
          </a:prstGeom>
          <a:noFill/>
          <a:ln/>
        </p:spPr>
        <p:txBody>
          <a:bodyPr wrap="square" lIns="0" tIns="0" rIns="0" bIns="0" rtlCol="0" anchor="ctr"/>
          <a:lstStyle/>
          <a:p>
            <a:pPr indent="0" marL="0">
              <a:buNone/>
            </a:pPr>
            <a:r>
              <a:rPr lang="en-US" sz="1050" b="1" spc="100" kern="0" dirty="0">
                <a:solidFill>
                  <a:srgbClr val="475569"/>
                </a:solidFill>
                <a:latin typeface="Calibri" pitchFamily="34" charset="0"/>
                <a:ea typeface="Calibri" pitchFamily="34" charset="-122"/>
                <a:cs typeface="Calibri" pitchFamily="34" charset="-120"/>
              </a:rPr>
              <a:t>YOUR CRM STARTS HERE</a:t>
            </a:r>
            <a:endParaRPr lang="en-US" sz="1050" dirty="0"/>
          </a:p>
        </p:txBody>
      </p:sp>
      <p:sp>
        <p:nvSpPr>
          <p:cNvPr id="37" name="Shape 35"/>
          <p:cNvSpPr/>
          <p:nvPr/>
        </p:nvSpPr>
        <p:spPr>
          <a:xfrm>
            <a:off x="9299448" y="3063240"/>
            <a:ext cx="2188159" cy="1399032"/>
          </a:xfrm>
          <a:prstGeom prst="roundRect">
            <a:avLst>
              <a:gd name="adj" fmla="val 5882"/>
            </a:avLst>
          </a:prstGeom>
          <a:solidFill>
            <a:srgbClr val="FFFFFF"/>
          </a:solidFill>
          <a:ln w="12700">
            <a:solidFill>
              <a:srgbClr val="E2E8F0"/>
            </a:solidFill>
            <a:prstDash val="solid"/>
          </a:ln>
        </p:spPr>
      </p:sp>
      <p:sp>
        <p:nvSpPr>
          <p:cNvPr id="38" name="Text 36"/>
          <p:cNvSpPr/>
          <p:nvPr/>
        </p:nvSpPr>
        <p:spPr>
          <a:xfrm>
            <a:off x="9482328" y="3227832"/>
            <a:ext cx="1822399" cy="237744"/>
          </a:xfrm>
          <a:prstGeom prst="rect">
            <a:avLst/>
          </a:prstGeom>
          <a:noFill/>
          <a:ln/>
        </p:spPr>
        <p:txBody>
          <a:bodyPr wrap="square" lIns="0" tIns="0" rIns="0" bIns="0" rtlCol="0" anchor="ctr"/>
          <a:lstStyle/>
          <a:p>
            <a:pPr algn="l" indent="0" marL="0">
              <a:buNone/>
            </a:pPr>
            <a:r>
              <a:rPr lang="en-US" sz="1150" b="1" dirty="0">
                <a:solidFill>
                  <a:srgbClr val="0F172A"/>
                </a:solidFill>
                <a:latin typeface="Calibri" pitchFamily="34" charset="0"/>
                <a:ea typeface="Calibri" pitchFamily="34" charset="-122"/>
                <a:cs typeface="Calibri" pitchFamily="34" charset="-120"/>
              </a:rPr>
              <a:t>Contact &amp; deal created</a:t>
            </a:r>
            <a:endParaRPr lang="en-US" sz="1150" dirty="0"/>
          </a:p>
        </p:txBody>
      </p:sp>
      <p:sp>
        <p:nvSpPr>
          <p:cNvPr id="39" name="Text 37"/>
          <p:cNvSpPr/>
          <p:nvPr/>
        </p:nvSpPr>
        <p:spPr>
          <a:xfrm>
            <a:off x="9482328" y="3483864"/>
            <a:ext cx="1822399" cy="201168"/>
          </a:xfrm>
          <a:prstGeom prst="rect">
            <a:avLst/>
          </a:prstGeom>
          <a:noFill/>
          <a:ln/>
        </p:spPr>
        <p:txBody>
          <a:bodyPr wrap="square" lIns="0" tIns="0" rIns="0" bIns="0"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Stage: open</a:t>
            </a:r>
            <a:endParaRPr lang="en-US" sz="1050" dirty="0"/>
          </a:p>
        </p:txBody>
      </p:sp>
      <p:sp>
        <p:nvSpPr>
          <p:cNvPr id="40" name="Text 38"/>
          <p:cNvSpPr/>
          <p:nvPr/>
        </p:nvSpPr>
        <p:spPr>
          <a:xfrm>
            <a:off x="9482328" y="3685032"/>
            <a:ext cx="1822399" cy="201168"/>
          </a:xfrm>
          <a:prstGeom prst="rect">
            <a:avLst/>
          </a:prstGeom>
          <a:noFill/>
          <a:ln/>
        </p:spPr>
        <p:txBody>
          <a:bodyPr wrap="square" lIns="0" tIns="0" rIns="0" bIns="0"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Owner assigned</a:t>
            </a:r>
            <a:endParaRPr lang="en-US" sz="1050" dirty="0"/>
          </a:p>
        </p:txBody>
      </p:sp>
      <p:sp>
        <p:nvSpPr>
          <p:cNvPr id="41" name="Text 39"/>
          <p:cNvSpPr/>
          <p:nvPr/>
        </p:nvSpPr>
        <p:spPr>
          <a:xfrm>
            <a:off x="9482328" y="3977640"/>
            <a:ext cx="1822399" cy="548640"/>
          </a:xfrm>
          <a:prstGeom prst="rect">
            <a:avLst/>
          </a:prstGeom>
          <a:noFill/>
          <a:ln/>
        </p:spPr>
        <p:txBody>
          <a:bodyPr wrap="square" lIns="0" tIns="0" rIns="0" bIns="0" rtlCol="0" anchor="t"/>
          <a:lstStyle/>
          <a:p>
            <a:pPr algn="l" indent="0" marL="0">
              <a:lnSpc>
                <a:spcPct val="110000"/>
              </a:lnSpc>
              <a:buNone/>
            </a:pPr>
            <a:r>
              <a:rPr lang="en-US" sz="950" dirty="0">
                <a:solidFill>
                  <a:srgbClr val="64748B"/>
                </a:solidFill>
                <a:latin typeface="Calibri" pitchFamily="34" charset="0"/>
                <a:ea typeface="Calibri" pitchFamily="34" charset="-122"/>
                <a:cs typeface="Calibri" pitchFamily="34" charset="-120"/>
              </a:rPr>
              <a:t>From here your CRM does what it does best: long-term relationship, pipeline and revenue.</a:t>
            </a:r>
            <a:endParaRPr lang="en-US" sz="950" dirty="0"/>
          </a:p>
        </p:txBody>
      </p:sp>
      <p:sp>
        <p:nvSpPr>
          <p:cNvPr id="42" name="Shape 40"/>
          <p:cNvSpPr/>
          <p:nvPr/>
        </p:nvSpPr>
        <p:spPr>
          <a:xfrm>
            <a:off x="502920" y="4983480"/>
            <a:ext cx="11185855" cy="1371600"/>
          </a:xfrm>
          <a:prstGeom prst="roundRect">
            <a:avLst>
              <a:gd name="adj" fmla="val 8000"/>
            </a:avLst>
          </a:prstGeom>
          <a:solidFill>
            <a:srgbClr val="0F172A"/>
          </a:solidFill>
          <a:ln/>
        </p:spPr>
      </p:sp>
      <p:sp>
        <p:nvSpPr>
          <p:cNvPr id="43" name="Text 41"/>
          <p:cNvSpPr/>
          <p:nvPr/>
        </p:nvSpPr>
        <p:spPr>
          <a:xfrm>
            <a:off x="822960" y="5212080"/>
            <a:ext cx="10545775" cy="457200"/>
          </a:xfrm>
          <a:prstGeom prst="rect">
            <a:avLst/>
          </a:prstGeom>
          <a:noFill/>
          <a:ln/>
        </p:spPr>
        <p:txBody>
          <a:bodyPr wrap="square" lIns="0" tIns="0" rIns="0" bIns="0" rtlCol="0" anchor="t"/>
          <a:lstStyle/>
          <a:p>
            <a:pPr algn="l" indent="0" marL="0">
              <a:buNone/>
            </a:pPr>
            <a:r>
              <a:rPr lang="en-US" sz="1900" b="1" dirty="0">
                <a:solidFill>
                  <a:srgbClr val="FFFFFF"/>
                </a:solidFill>
                <a:latin typeface="Calibri" pitchFamily="34" charset="0"/>
                <a:ea typeface="Calibri" pitchFamily="34" charset="-122"/>
                <a:cs typeface="Calibri" pitchFamily="34" charset="-120"/>
              </a:rPr>
              <a:t>Both hold a contact. </a:t>
            </a:r>
            <a:pPr algn="l" indent="0" marL="0">
              <a:buNone/>
            </a:pPr>
            <a:r>
              <a:rPr lang="en-US" sz="1900" b="1" dirty="0">
                <a:solidFill>
                  <a:srgbClr val="34D399"/>
                </a:solidFill>
                <a:latin typeface="Calibri" pitchFamily="34" charset="0"/>
                <a:ea typeface="Calibri" pitchFamily="34" charset="-122"/>
                <a:cs typeface="Calibri" pitchFamily="34" charset="-120"/>
              </a:rPr>
              <a:t>Only one ran the exhibition that produced it.</a:t>
            </a:r>
            <a:endParaRPr lang="en-US" sz="1900" dirty="0"/>
          </a:p>
        </p:txBody>
      </p:sp>
      <p:sp>
        <p:nvSpPr>
          <p:cNvPr id="44" name="Text 42"/>
          <p:cNvSpPr/>
          <p:nvPr/>
        </p:nvSpPr>
        <p:spPr>
          <a:xfrm>
            <a:off x="822960" y="5742432"/>
            <a:ext cx="10545775" cy="502920"/>
          </a:xfrm>
          <a:prstGeom prst="rect">
            <a:avLst/>
          </a:prstGeom>
          <a:noFill/>
          <a:ln/>
        </p:spPr>
        <p:txBody>
          <a:bodyPr wrap="square" lIns="0" tIns="0" rIns="0" bIns="0" rtlCol="0" anchor="t"/>
          <a:lstStyle/>
          <a:p>
            <a:pPr algn="l" indent="0" marL="0">
              <a:lnSpc>
                <a:spcPct val="112000"/>
              </a:lnSpc>
              <a:buNone/>
            </a:pPr>
            <a:r>
              <a:rPr lang="en-US" sz="1250" dirty="0">
                <a:solidFill>
                  <a:srgbClr val="CBD5E1"/>
                </a:solidFill>
                <a:latin typeface="Calibri" pitchFamily="34" charset="0"/>
                <a:ea typeface="Calibri" pitchFamily="34" charset="-122"/>
                <a:cs typeface="Calibri" pitchFamily="34" charset="-120"/>
              </a:rPr>
              <a:t>A CRM begins with the finished lead. Everything before that clean record, the plan, the floor and the follow-through, is the ExpoLead job. It works alongside the CRM you already use.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00584" cy="100584"/>
          </a:xfrm>
          <a:prstGeom prst="roundRect">
            <a:avLst>
              <a:gd name="adj" fmla="val 18182"/>
            </a:avLst>
          </a:prstGeom>
          <a:solidFill>
            <a:srgbClr val="FFFFFF"/>
          </a:solidFill>
          <a:ln w="16510">
            <a:solidFill>
              <a:srgbClr val="0F172A"/>
            </a:solidFill>
            <a:prstDash val="solid"/>
          </a:ln>
        </p:spPr>
      </p:sp>
      <p:sp>
        <p:nvSpPr>
          <p:cNvPr id="3" name="Shape 1"/>
          <p:cNvSpPr/>
          <p:nvPr/>
        </p:nvSpPr>
        <p:spPr>
          <a:xfrm>
            <a:off x="644652" y="411480"/>
            <a:ext cx="100584" cy="100584"/>
          </a:xfrm>
          <a:prstGeom prst="roundRect">
            <a:avLst>
              <a:gd name="adj" fmla="val 18182"/>
            </a:avLst>
          </a:prstGeom>
          <a:solidFill>
            <a:srgbClr val="FFFFFF"/>
          </a:solidFill>
          <a:ln w="16510">
            <a:solidFill>
              <a:srgbClr val="0F172A"/>
            </a:solidFill>
            <a:prstDash val="solid"/>
          </a:ln>
        </p:spPr>
      </p:sp>
      <p:sp>
        <p:nvSpPr>
          <p:cNvPr id="4" name="Shape 2"/>
          <p:cNvSpPr/>
          <p:nvPr/>
        </p:nvSpPr>
        <p:spPr>
          <a:xfrm>
            <a:off x="502920" y="553212"/>
            <a:ext cx="100584" cy="100584"/>
          </a:xfrm>
          <a:prstGeom prst="roundRect">
            <a:avLst>
              <a:gd name="adj" fmla="val 18182"/>
            </a:avLst>
          </a:prstGeom>
          <a:solidFill>
            <a:srgbClr val="FFFFFF"/>
          </a:solidFill>
          <a:ln w="16510">
            <a:solidFill>
              <a:srgbClr val="0F172A"/>
            </a:solidFill>
            <a:prstDash val="solid"/>
          </a:ln>
        </p:spPr>
      </p:sp>
      <p:sp>
        <p:nvSpPr>
          <p:cNvPr id="5" name="Shape 3"/>
          <p:cNvSpPr/>
          <p:nvPr/>
        </p:nvSpPr>
        <p:spPr>
          <a:xfrm>
            <a:off x="644652" y="553212"/>
            <a:ext cx="100584" cy="100584"/>
          </a:xfrm>
          <a:prstGeom prst="roundRect">
            <a:avLst>
              <a:gd name="adj" fmla="val 18182"/>
            </a:avLst>
          </a:prstGeom>
          <a:solidFill>
            <a:srgbClr val="10B981"/>
          </a:solidFill>
          <a:ln w="16510">
            <a:solidFill>
              <a:srgbClr val="10B981"/>
            </a:solidFill>
            <a:prstDash val="solid"/>
          </a:ln>
        </p:spPr>
      </p:sp>
      <p:sp>
        <p:nvSpPr>
          <p:cNvPr id="6" name="Text 4"/>
          <p:cNvSpPr/>
          <p:nvPr/>
        </p:nvSpPr>
        <p:spPr>
          <a:xfrm>
            <a:off x="886968" y="365760"/>
            <a:ext cx="2011680" cy="329184"/>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Expo</a:t>
            </a:r>
            <a:pPr algn="l" indent="0" marL="0">
              <a:buNone/>
            </a:pPr>
            <a:r>
              <a:rPr lang="en-US" sz="1500" b="1" dirty="0">
                <a:solidFill>
                  <a:srgbClr val="10B981"/>
                </a:solidFill>
                <a:latin typeface="Calibri" pitchFamily="34" charset="0"/>
                <a:ea typeface="Calibri" pitchFamily="34" charset="-122"/>
                <a:cs typeface="Calibri" pitchFamily="34" charset="-120"/>
              </a:rPr>
              <a:t>Lead</a:t>
            </a:r>
            <a:pPr algn="l" indent="0" marL="0">
              <a:buNone/>
            </a:pP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1051560"/>
            <a:ext cx="8229600" cy="274320"/>
          </a:xfrm>
          <a:prstGeom prst="rect">
            <a:avLst/>
          </a:prstGeom>
          <a:noFill/>
          <a:ln/>
        </p:spPr>
        <p:txBody>
          <a:bodyPr wrap="square" lIns="0" tIns="0" rIns="0" bIns="0" rtlCol="0" anchor="ctr"/>
          <a:lstStyle/>
          <a:p>
            <a:pPr algn="l" indent="0" marL="0">
              <a:buNone/>
            </a:pPr>
            <a:r>
              <a:rPr lang="en-US" sz="1100" b="1" spc="220" kern="0" dirty="0">
                <a:solidFill>
                  <a:srgbClr val="059669"/>
                </a:solidFill>
                <a:latin typeface="Calibri" pitchFamily="34" charset="0"/>
                <a:ea typeface="Calibri" pitchFamily="34" charset="-122"/>
                <a:cs typeface="Calibri" pitchFamily="34" charset="-120"/>
              </a:rPr>
              <a:t>WHY CONTEXT MATTERS</a:t>
            </a:r>
            <a:endParaRPr lang="en-US" sz="1100" dirty="0"/>
          </a:p>
        </p:txBody>
      </p:sp>
      <p:sp>
        <p:nvSpPr>
          <p:cNvPr id="8" name="Text 6"/>
          <p:cNvSpPr/>
          <p:nvPr/>
        </p:nvSpPr>
        <p:spPr>
          <a:xfrm>
            <a:off x="502920" y="1325880"/>
            <a:ext cx="10972800" cy="502920"/>
          </a:xfrm>
          <a:prstGeom prst="rect">
            <a:avLst/>
          </a:prstGeom>
          <a:noFill/>
          <a:ln/>
        </p:spPr>
        <p:txBody>
          <a:bodyPr wrap="square" lIns="0" tIns="0" rIns="0" bIns="0" rtlCol="0" anchor="t"/>
          <a:lstStyle/>
          <a:p>
            <a:pPr algn="l" indent="0" marL="0">
              <a:buNone/>
            </a:pPr>
            <a:r>
              <a:rPr lang="en-US" sz="2600" b="1" dirty="0">
                <a:solidFill>
                  <a:srgbClr val="0F172A"/>
                </a:solidFill>
                <a:latin typeface="Calibri" pitchFamily="34" charset="0"/>
                <a:ea typeface="Calibri" pitchFamily="34" charset="-122"/>
                <a:cs typeface="Calibri" pitchFamily="34" charset="-120"/>
              </a:rPr>
              <a:t>The exhibition floor is not a quiet desk</a:t>
            </a:r>
            <a:endParaRPr lang="en-US" sz="2600" dirty="0"/>
          </a:p>
        </p:txBody>
      </p:sp>
      <p:sp>
        <p:nvSpPr>
          <p:cNvPr id="9" name="Shape 7"/>
          <p:cNvSpPr/>
          <p:nvPr/>
        </p:nvSpPr>
        <p:spPr>
          <a:xfrm>
            <a:off x="502920" y="2148840"/>
            <a:ext cx="5486400" cy="3977640"/>
          </a:xfrm>
          <a:prstGeom prst="roundRect">
            <a:avLst>
              <a:gd name="adj" fmla="val 2299"/>
            </a:avLst>
          </a:prstGeom>
          <a:solidFill>
            <a:srgbClr val="0F172A"/>
          </a:solidFill>
          <a:ln/>
        </p:spPr>
      </p:sp>
      <p:sp>
        <p:nvSpPr>
          <p:cNvPr id="10" name="Text 8"/>
          <p:cNvSpPr/>
          <p:nvPr/>
        </p:nvSpPr>
        <p:spPr>
          <a:xfrm>
            <a:off x="822960" y="2423160"/>
            <a:ext cx="4846320" cy="274320"/>
          </a:xfrm>
          <a:prstGeom prst="rect">
            <a:avLst/>
          </a:prstGeom>
          <a:noFill/>
          <a:ln/>
        </p:spPr>
        <p:txBody>
          <a:bodyPr wrap="square" lIns="0" tIns="0" rIns="0" bIns="0" rtlCol="0" anchor="ctr"/>
          <a:lstStyle/>
          <a:p>
            <a:pPr indent="0" marL="0">
              <a:buNone/>
            </a:pPr>
            <a:r>
              <a:rPr lang="en-US" sz="1100" b="1" spc="120" kern="0" dirty="0">
                <a:solidFill>
                  <a:srgbClr val="34D399"/>
                </a:solidFill>
                <a:latin typeface="Calibri" pitchFamily="34" charset="0"/>
                <a:ea typeface="Calibri" pitchFamily="34" charset="-122"/>
                <a:cs typeface="Calibri" pitchFamily="34" charset="-120"/>
              </a:rPr>
              <a:t>THE EXHIBITION REALITY</a:t>
            </a:r>
            <a:endParaRPr lang="en-US" sz="1100" dirty="0"/>
          </a:p>
        </p:txBody>
      </p:sp>
      <p:sp>
        <p:nvSpPr>
          <p:cNvPr id="11" name="Shape 9"/>
          <p:cNvSpPr/>
          <p:nvPr/>
        </p:nvSpPr>
        <p:spPr>
          <a:xfrm>
            <a:off x="822960" y="2880360"/>
            <a:ext cx="1629461" cy="365760"/>
          </a:xfrm>
          <a:prstGeom prst="roundRect">
            <a:avLst>
              <a:gd name="adj" fmla="val 50000"/>
            </a:avLst>
          </a:prstGeom>
          <a:solidFill>
            <a:srgbClr val="1E293B"/>
          </a:solidFill>
          <a:ln w="12700">
            <a:solidFill>
              <a:srgbClr val="334155"/>
            </a:solidFill>
            <a:prstDash val="solid"/>
          </a:ln>
        </p:spPr>
      </p:sp>
      <p:sp>
        <p:nvSpPr>
          <p:cNvPr id="12" name="Text 10"/>
          <p:cNvSpPr/>
          <p:nvPr/>
        </p:nvSpPr>
        <p:spPr>
          <a:xfrm>
            <a:off x="822960" y="2880360"/>
            <a:ext cx="1629461"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Where do I go next?</a:t>
            </a:r>
            <a:endParaRPr lang="en-US" sz="1100" dirty="0"/>
          </a:p>
        </p:txBody>
      </p:sp>
      <p:sp>
        <p:nvSpPr>
          <p:cNvPr id="13" name="Shape 11"/>
          <p:cNvSpPr/>
          <p:nvPr/>
        </p:nvSpPr>
        <p:spPr>
          <a:xfrm>
            <a:off x="2562149" y="2880360"/>
            <a:ext cx="1700784" cy="365760"/>
          </a:xfrm>
          <a:prstGeom prst="roundRect">
            <a:avLst>
              <a:gd name="adj" fmla="val 50000"/>
            </a:avLst>
          </a:prstGeom>
          <a:solidFill>
            <a:srgbClr val="1E293B"/>
          </a:solidFill>
          <a:ln w="12700">
            <a:solidFill>
              <a:srgbClr val="334155"/>
            </a:solidFill>
            <a:prstDash val="solid"/>
          </a:ln>
        </p:spPr>
      </p:sp>
      <p:sp>
        <p:nvSpPr>
          <p:cNvPr id="14" name="Text 12"/>
          <p:cNvSpPr/>
          <p:nvPr/>
        </p:nvSpPr>
        <p:spPr>
          <a:xfrm>
            <a:off x="2562149" y="2880360"/>
            <a:ext cx="1700784"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Which booth is this?</a:t>
            </a:r>
            <a:endParaRPr lang="en-US" sz="1100" dirty="0"/>
          </a:p>
        </p:txBody>
      </p:sp>
      <p:sp>
        <p:nvSpPr>
          <p:cNvPr id="15" name="Shape 13"/>
          <p:cNvSpPr/>
          <p:nvPr/>
        </p:nvSpPr>
        <p:spPr>
          <a:xfrm>
            <a:off x="822960" y="3355848"/>
            <a:ext cx="2342693" cy="365760"/>
          </a:xfrm>
          <a:prstGeom prst="roundRect">
            <a:avLst>
              <a:gd name="adj" fmla="val 50000"/>
            </a:avLst>
          </a:prstGeom>
          <a:solidFill>
            <a:srgbClr val="1E293B"/>
          </a:solidFill>
          <a:ln w="12700">
            <a:solidFill>
              <a:srgbClr val="334155"/>
            </a:solidFill>
            <a:prstDash val="solid"/>
          </a:ln>
        </p:spPr>
      </p:sp>
      <p:sp>
        <p:nvSpPr>
          <p:cNvPr id="16" name="Text 14"/>
          <p:cNvSpPr/>
          <p:nvPr/>
        </p:nvSpPr>
        <p:spPr>
          <a:xfrm>
            <a:off x="822960" y="3355848"/>
            <a:ext cx="2342693"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Has a colleague visited them?</a:t>
            </a:r>
            <a:endParaRPr lang="en-US" sz="1100" dirty="0"/>
          </a:p>
        </p:txBody>
      </p:sp>
      <p:sp>
        <p:nvSpPr>
          <p:cNvPr id="17" name="Shape 15"/>
          <p:cNvSpPr/>
          <p:nvPr/>
        </p:nvSpPr>
        <p:spPr>
          <a:xfrm>
            <a:off x="3275381" y="3355848"/>
            <a:ext cx="1629461" cy="365760"/>
          </a:xfrm>
          <a:prstGeom prst="roundRect">
            <a:avLst>
              <a:gd name="adj" fmla="val 50000"/>
            </a:avLst>
          </a:prstGeom>
          <a:solidFill>
            <a:srgbClr val="1E293B"/>
          </a:solidFill>
          <a:ln w="12700">
            <a:solidFill>
              <a:srgbClr val="334155"/>
            </a:solidFill>
            <a:prstDash val="solid"/>
          </a:ln>
        </p:spPr>
      </p:sp>
      <p:sp>
        <p:nvSpPr>
          <p:cNvPr id="18" name="Text 16"/>
          <p:cNvSpPr/>
          <p:nvPr/>
        </p:nvSpPr>
        <p:spPr>
          <a:xfrm>
            <a:off x="3275381" y="3355848"/>
            <a:ext cx="1629461"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Who did I speak to?</a:t>
            </a:r>
            <a:endParaRPr lang="en-US" sz="1100" dirty="0"/>
          </a:p>
        </p:txBody>
      </p:sp>
      <p:sp>
        <p:nvSpPr>
          <p:cNvPr id="19" name="Shape 17"/>
          <p:cNvSpPr/>
          <p:nvPr/>
        </p:nvSpPr>
        <p:spPr>
          <a:xfrm>
            <a:off x="822960" y="3831336"/>
            <a:ext cx="2200046" cy="365760"/>
          </a:xfrm>
          <a:prstGeom prst="roundRect">
            <a:avLst>
              <a:gd name="adj" fmla="val 50000"/>
            </a:avLst>
          </a:prstGeom>
          <a:solidFill>
            <a:srgbClr val="1E293B"/>
          </a:solidFill>
          <a:ln w="12700">
            <a:solidFill>
              <a:srgbClr val="334155"/>
            </a:solidFill>
            <a:prstDash val="solid"/>
          </a:ln>
        </p:spPr>
      </p:sp>
      <p:sp>
        <p:nvSpPr>
          <p:cNvPr id="20" name="Text 18"/>
          <p:cNvSpPr/>
          <p:nvPr/>
        </p:nvSpPr>
        <p:spPr>
          <a:xfrm>
            <a:off x="822960" y="3831336"/>
            <a:ext cx="2200046"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What product did they want?</a:t>
            </a:r>
            <a:endParaRPr lang="en-US" sz="1100" dirty="0"/>
          </a:p>
        </p:txBody>
      </p:sp>
      <p:sp>
        <p:nvSpPr>
          <p:cNvPr id="21" name="Shape 19"/>
          <p:cNvSpPr/>
          <p:nvPr/>
        </p:nvSpPr>
        <p:spPr>
          <a:xfrm>
            <a:off x="3132734" y="3831336"/>
            <a:ext cx="1914754" cy="365760"/>
          </a:xfrm>
          <a:prstGeom prst="roundRect">
            <a:avLst>
              <a:gd name="adj" fmla="val 50000"/>
            </a:avLst>
          </a:prstGeom>
          <a:solidFill>
            <a:srgbClr val="1E293B"/>
          </a:solidFill>
          <a:ln w="12700">
            <a:solidFill>
              <a:srgbClr val="334155"/>
            </a:solidFill>
            <a:prstDash val="solid"/>
          </a:ln>
        </p:spPr>
      </p:sp>
      <p:sp>
        <p:nvSpPr>
          <p:cNvPr id="22" name="Text 20"/>
          <p:cNvSpPr/>
          <p:nvPr/>
        </p:nvSpPr>
        <p:spPr>
          <a:xfrm>
            <a:off x="3132734" y="3831336"/>
            <a:ext cx="1914754"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Did I promise a sample?</a:t>
            </a:r>
            <a:endParaRPr lang="en-US" sz="1100" dirty="0"/>
          </a:p>
        </p:txBody>
      </p:sp>
      <p:sp>
        <p:nvSpPr>
          <p:cNvPr id="23" name="Shape 21"/>
          <p:cNvSpPr/>
          <p:nvPr/>
        </p:nvSpPr>
        <p:spPr>
          <a:xfrm>
            <a:off x="822960" y="4306824"/>
            <a:ext cx="1700784" cy="365760"/>
          </a:xfrm>
          <a:prstGeom prst="roundRect">
            <a:avLst>
              <a:gd name="adj" fmla="val 50000"/>
            </a:avLst>
          </a:prstGeom>
          <a:solidFill>
            <a:srgbClr val="1E293B"/>
          </a:solidFill>
          <a:ln w="12700">
            <a:solidFill>
              <a:srgbClr val="334155"/>
            </a:solidFill>
            <a:prstDash val="solid"/>
          </a:ln>
        </p:spPr>
      </p:sp>
      <p:sp>
        <p:nvSpPr>
          <p:cNvPr id="24" name="Text 22"/>
          <p:cNvSpPr/>
          <p:nvPr/>
        </p:nvSpPr>
        <p:spPr>
          <a:xfrm>
            <a:off x="822960" y="4306824"/>
            <a:ext cx="1700784"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Is this one serious?</a:t>
            </a:r>
            <a:endParaRPr lang="en-US" sz="1100" dirty="0"/>
          </a:p>
        </p:txBody>
      </p:sp>
      <p:sp>
        <p:nvSpPr>
          <p:cNvPr id="25" name="Shape 23"/>
          <p:cNvSpPr/>
          <p:nvPr/>
        </p:nvSpPr>
        <p:spPr>
          <a:xfrm>
            <a:off x="2633472" y="4306824"/>
            <a:ext cx="1344168" cy="365760"/>
          </a:xfrm>
          <a:prstGeom prst="roundRect">
            <a:avLst>
              <a:gd name="adj" fmla="val 50000"/>
            </a:avLst>
          </a:prstGeom>
          <a:solidFill>
            <a:srgbClr val="1E293B"/>
          </a:solidFill>
          <a:ln w="12700">
            <a:solidFill>
              <a:srgbClr val="334155"/>
            </a:solidFill>
            <a:prstDash val="solid"/>
          </a:ln>
        </p:spPr>
      </p:sp>
      <p:sp>
        <p:nvSpPr>
          <p:cNvPr id="26" name="Text 24"/>
          <p:cNvSpPr/>
          <p:nvPr/>
        </p:nvSpPr>
        <p:spPr>
          <a:xfrm>
            <a:off x="2633472" y="4306824"/>
            <a:ext cx="1344168"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Who follows up?</a:t>
            </a:r>
            <a:endParaRPr lang="en-US" sz="1100" dirty="0"/>
          </a:p>
        </p:txBody>
      </p:sp>
      <p:sp>
        <p:nvSpPr>
          <p:cNvPr id="27" name="Text 25"/>
          <p:cNvSpPr/>
          <p:nvPr/>
        </p:nvSpPr>
        <p:spPr>
          <a:xfrm>
            <a:off x="822960" y="5257800"/>
            <a:ext cx="4846320" cy="685800"/>
          </a:xfrm>
          <a:prstGeom prst="rect">
            <a:avLst/>
          </a:prstGeom>
          <a:noFill/>
          <a:ln/>
        </p:spPr>
        <p:txBody>
          <a:bodyPr wrap="square" lIns="0" tIns="0" rIns="0" bIns="0" rtlCol="0" anchor="ctr"/>
          <a:lstStyle/>
          <a:p>
            <a:pPr algn="l" indent="0" marL="0">
              <a:lnSpc>
                <a:spcPct val="115000"/>
              </a:lnSpc>
              <a:buNone/>
            </a:pPr>
            <a:r>
              <a:rPr lang="en-US" sz="1250" dirty="0">
                <a:solidFill>
                  <a:srgbClr val="94A3B8"/>
                </a:solidFill>
                <a:latin typeface="Calibri" pitchFamily="34" charset="0"/>
                <a:ea typeface="Calibri" pitchFamily="34" charset="-122"/>
                <a:cs typeface="Calibri" pitchFamily="34" charset="-120"/>
              </a:rPr>
              <a:t>Dozens, sometimes hundreds of conversations, moving fast. </a:t>
            </a:r>
            <a:pPr algn="l" indent="0" marL="0">
              <a:lnSpc>
                <a:spcPct val="115000"/>
              </a:lnSpc>
              <a:buNone/>
            </a:pPr>
            <a:r>
              <a:rPr lang="en-US" sz="1250" b="1" dirty="0">
                <a:solidFill>
                  <a:srgbClr val="34D399"/>
                </a:solidFill>
                <a:latin typeface="Calibri" pitchFamily="34" charset="0"/>
                <a:ea typeface="Calibri" pitchFamily="34" charset="-122"/>
                <a:cs typeface="Calibri" pitchFamily="34" charset="-120"/>
              </a:rPr>
              <a:t>ExpoLead is being designed around this environment.</a:t>
            </a:r>
            <a:endParaRPr lang="en-US" sz="1250" dirty="0"/>
          </a:p>
        </p:txBody>
      </p:sp>
      <p:sp>
        <p:nvSpPr>
          <p:cNvPr id="28" name="Text 26"/>
          <p:cNvSpPr/>
          <p:nvPr/>
        </p:nvSpPr>
        <p:spPr>
          <a:xfrm>
            <a:off x="6355080" y="2286000"/>
            <a:ext cx="5333695" cy="274320"/>
          </a:xfrm>
          <a:prstGeom prst="rect">
            <a:avLst/>
          </a:prstGeom>
          <a:noFill/>
          <a:ln/>
        </p:spPr>
        <p:txBody>
          <a:bodyPr wrap="square" lIns="0" tIns="0" rIns="0" bIns="0" rtlCol="0" anchor="ctr"/>
          <a:lstStyle/>
          <a:p>
            <a:pPr indent="0" marL="0">
              <a:buNone/>
            </a:pPr>
            <a:r>
              <a:rPr lang="en-US" sz="1100" b="1" spc="100" kern="0" dirty="0">
                <a:solidFill>
                  <a:srgbClr val="059669"/>
                </a:solidFill>
                <a:latin typeface="Calibri" pitchFamily="34" charset="0"/>
                <a:ea typeface="Calibri" pitchFamily="34" charset="-122"/>
                <a:cs typeface="Calibri" pitchFamily="34" charset="-120"/>
              </a:rPr>
              <a:t>THE REAL PROBLEM IS FRAGMENTED EXECUTION</a:t>
            </a:r>
            <a:endParaRPr lang="en-US" sz="1100" dirty="0"/>
          </a:p>
        </p:txBody>
      </p:sp>
      <p:sp>
        <p:nvSpPr>
          <p:cNvPr id="29" name="Shape 27"/>
          <p:cNvSpPr/>
          <p:nvPr/>
        </p:nvSpPr>
        <p:spPr>
          <a:xfrm>
            <a:off x="6355080" y="2743200"/>
            <a:ext cx="1177747" cy="365760"/>
          </a:xfrm>
          <a:prstGeom prst="roundRect">
            <a:avLst>
              <a:gd name="adj" fmla="val 17500"/>
            </a:avLst>
          </a:prstGeom>
          <a:solidFill>
            <a:srgbClr val="F8FAFC"/>
          </a:solidFill>
          <a:ln w="12700">
            <a:solidFill>
              <a:srgbClr val="E2E8F0"/>
            </a:solidFill>
            <a:prstDash val="solid"/>
          </a:ln>
        </p:spPr>
      </p:sp>
      <p:sp>
        <p:nvSpPr>
          <p:cNvPr id="30" name="Text 28"/>
          <p:cNvSpPr/>
          <p:nvPr/>
        </p:nvSpPr>
        <p:spPr>
          <a:xfrm>
            <a:off x="6355080" y="2743200"/>
            <a:ext cx="1177747"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Business cards</a:t>
            </a:r>
            <a:endParaRPr lang="en-US" sz="1000" dirty="0"/>
          </a:p>
        </p:txBody>
      </p:sp>
      <p:sp>
        <p:nvSpPr>
          <p:cNvPr id="31" name="Shape 29"/>
          <p:cNvSpPr/>
          <p:nvPr/>
        </p:nvSpPr>
        <p:spPr>
          <a:xfrm>
            <a:off x="7642555" y="2743200"/>
            <a:ext cx="1177747" cy="365760"/>
          </a:xfrm>
          <a:prstGeom prst="roundRect">
            <a:avLst>
              <a:gd name="adj" fmla="val 17500"/>
            </a:avLst>
          </a:prstGeom>
          <a:solidFill>
            <a:srgbClr val="F8FAFC"/>
          </a:solidFill>
          <a:ln w="12700">
            <a:solidFill>
              <a:srgbClr val="E2E8F0"/>
            </a:solidFill>
            <a:prstDash val="solid"/>
          </a:ln>
        </p:spPr>
      </p:sp>
      <p:sp>
        <p:nvSpPr>
          <p:cNvPr id="32" name="Text 30"/>
          <p:cNvSpPr/>
          <p:nvPr/>
        </p:nvSpPr>
        <p:spPr>
          <a:xfrm>
            <a:off x="7642555" y="2743200"/>
            <a:ext cx="1177747"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Phone contacts</a:t>
            </a:r>
            <a:endParaRPr lang="en-US" sz="1000" dirty="0"/>
          </a:p>
        </p:txBody>
      </p:sp>
      <p:sp>
        <p:nvSpPr>
          <p:cNvPr id="33" name="Shape 31"/>
          <p:cNvSpPr/>
          <p:nvPr/>
        </p:nvSpPr>
        <p:spPr>
          <a:xfrm>
            <a:off x="6355080" y="3218688"/>
            <a:ext cx="782726" cy="365760"/>
          </a:xfrm>
          <a:prstGeom prst="roundRect">
            <a:avLst>
              <a:gd name="adj" fmla="val 17500"/>
            </a:avLst>
          </a:prstGeom>
          <a:solidFill>
            <a:srgbClr val="F8FAFC"/>
          </a:solidFill>
          <a:ln w="12700">
            <a:solidFill>
              <a:srgbClr val="E2E8F0"/>
            </a:solidFill>
            <a:prstDash val="solid"/>
          </a:ln>
        </p:spPr>
      </p:sp>
      <p:sp>
        <p:nvSpPr>
          <p:cNvPr id="34" name="Text 32"/>
          <p:cNvSpPr/>
          <p:nvPr/>
        </p:nvSpPr>
        <p:spPr>
          <a:xfrm>
            <a:off x="6355080" y="3218688"/>
            <a:ext cx="782726"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WhatsApp</a:t>
            </a:r>
            <a:endParaRPr lang="en-US" sz="1000" dirty="0"/>
          </a:p>
        </p:txBody>
      </p:sp>
      <p:sp>
        <p:nvSpPr>
          <p:cNvPr id="35" name="Shape 33"/>
          <p:cNvSpPr/>
          <p:nvPr/>
        </p:nvSpPr>
        <p:spPr>
          <a:xfrm>
            <a:off x="7247534" y="3218688"/>
            <a:ext cx="1177747" cy="365760"/>
          </a:xfrm>
          <a:prstGeom prst="roundRect">
            <a:avLst>
              <a:gd name="adj" fmla="val 17500"/>
            </a:avLst>
          </a:prstGeom>
          <a:solidFill>
            <a:srgbClr val="F8FAFC"/>
          </a:solidFill>
          <a:ln w="12700">
            <a:solidFill>
              <a:srgbClr val="E2E8F0"/>
            </a:solidFill>
            <a:prstDash val="solid"/>
          </a:ln>
        </p:spPr>
      </p:sp>
      <p:sp>
        <p:nvSpPr>
          <p:cNvPr id="36" name="Text 34"/>
          <p:cNvSpPr/>
          <p:nvPr/>
        </p:nvSpPr>
        <p:spPr>
          <a:xfrm>
            <a:off x="7247534" y="3218688"/>
            <a:ext cx="1177747"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Notebook notes</a:t>
            </a:r>
            <a:endParaRPr lang="en-US" sz="1000" dirty="0"/>
          </a:p>
        </p:txBody>
      </p:sp>
      <p:sp>
        <p:nvSpPr>
          <p:cNvPr id="37" name="Shape 35"/>
          <p:cNvSpPr/>
          <p:nvPr/>
        </p:nvSpPr>
        <p:spPr>
          <a:xfrm>
            <a:off x="6355080" y="3694176"/>
            <a:ext cx="651053" cy="365760"/>
          </a:xfrm>
          <a:prstGeom prst="roundRect">
            <a:avLst>
              <a:gd name="adj" fmla="val 17500"/>
            </a:avLst>
          </a:prstGeom>
          <a:solidFill>
            <a:srgbClr val="F8FAFC"/>
          </a:solidFill>
          <a:ln w="12700">
            <a:solidFill>
              <a:srgbClr val="E2E8F0"/>
            </a:solidFill>
            <a:prstDash val="solid"/>
          </a:ln>
        </p:spPr>
      </p:sp>
      <p:sp>
        <p:nvSpPr>
          <p:cNvPr id="38" name="Text 36"/>
          <p:cNvSpPr/>
          <p:nvPr/>
        </p:nvSpPr>
        <p:spPr>
          <a:xfrm>
            <a:off x="6355080" y="3694176"/>
            <a:ext cx="651053"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Photos</a:t>
            </a:r>
            <a:endParaRPr lang="en-US" sz="1000" dirty="0"/>
          </a:p>
        </p:txBody>
      </p:sp>
      <p:sp>
        <p:nvSpPr>
          <p:cNvPr id="39" name="Shape 37"/>
          <p:cNvSpPr/>
          <p:nvPr/>
        </p:nvSpPr>
        <p:spPr>
          <a:xfrm>
            <a:off x="7115861" y="3694176"/>
            <a:ext cx="1046074" cy="365760"/>
          </a:xfrm>
          <a:prstGeom prst="roundRect">
            <a:avLst>
              <a:gd name="adj" fmla="val 17500"/>
            </a:avLst>
          </a:prstGeom>
          <a:solidFill>
            <a:srgbClr val="F8FAFC"/>
          </a:solidFill>
          <a:ln w="12700">
            <a:solidFill>
              <a:srgbClr val="E2E8F0"/>
            </a:solidFill>
            <a:prstDash val="solid"/>
          </a:ln>
        </p:spPr>
      </p:sp>
      <p:sp>
        <p:nvSpPr>
          <p:cNvPr id="40" name="Text 38"/>
          <p:cNvSpPr/>
          <p:nvPr/>
        </p:nvSpPr>
        <p:spPr>
          <a:xfrm>
            <a:off x="7115861" y="3694176"/>
            <a:ext cx="1046074"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Spreadsheets</a:t>
            </a:r>
            <a:endParaRPr lang="en-US" sz="1000" dirty="0"/>
          </a:p>
        </p:txBody>
      </p:sp>
      <p:sp>
        <p:nvSpPr>
          <p:cNvPr id="41" name="Shape 39"/>
          <p:cNvSpPr/>
          <p:nvPr/>
        </p:nvSpPr>
        <p:spPr>
          <a:xfrm>
            <a:off x="8271662" y="3694176"/>
            <a:ext cx="651053" cy="365760"/>
          </a:xfrm>
          <a:prstGeom prst="roundRect">
            <a:avLst>
              <a:gd name="adj" fmla="val 17500"/>
            </a:avLst>
          </a:prstGeom>
          <a:solidFill>
            <a:srgbClr val="F8FAFC"/>
          </a:solidFill>
          <a:ln w="12700">
            <a:solidFill>
              <a:srgbClr val="E2E8F0"/>
            </a:solidFill>
            <a:prstDash val="solid"/>
          </a:ln>
        </p:spPr>
      </p:sp>
      <p:sp>
        <p:nvSpPr>
          <p:cNvPr id="42" name="Text 40"/>
          <p:cNvSpPr/>
          <p:nvPr/>
        </p:nvSpPr>
        <p:spPr>
          <a:xfrm>
            <a:off x="8271662" y="3694176"/>
            <a:ext cx="651053"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Memory</a:t>
            </a:r>
            <a:endParaRPr lang="en-US" sz="1000" dirty="0"/>
          </a:p>
        </p:txBody>
      </p:sp>
      <p:sp>
        <p:nvSpPr>
          <p:cNvPr id="43" name="Shape 41"/>
          <p:cNvSpPr/>
          <p:nvPr/>
        </p:nvSpPr>
        <p:spPr>
          <a:xfrm>
            <a:off x="6355080" y="4169664"/>
            <a:ext cx="1770278" cy="365760"/>
          </a:xfrm>
          <a:prstGeom prst="roundRect">
            <a:avLst>
              <a:gd name="adj" fmla="val 17500"/>
            </a:avLst>
          </a:prstGeom>
          <a:solidFill>
            <a:srgbClr val="F8FAFC"/>
          </a:solidFill>
          <a:ln w="12700">
            <a:solidFill>
              <a:srgbClr val="E2E8F0"/>
            </a:solidFill>
            <a:prstDash val="solid"/>
          </a:ln>
        </p:spPr>
      </p:sp>
      <p:sp>
        <p:nvSpPr>
          <p:cNvPr id="44" name="Text 42"/>
          <p:cNvSpPr/>
          <p:nvPr/>
        </p:nvSpPr>
        <p:spPr>
          <a:xfrm>
            <a:off x="6355080" y="4169664"/>
            <a:ext cx="1770278"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Unstructured follow-ups</a:t>
            </a:r>
            <a:endParaRPr lang="en-US" sz="1000" dirty="0"/>
          </a:p>
        </p:txBody>
      </p:sp>
      <p:sp>
        <p:nvSpPr>
          <p:cNvPr id="45" name="Text 43"/>
          <p:cNvSpPr/>
          <p:nvPr/>
        </p:nvSpPr>
        <p:spPr>
          <a:xfrm>
            <a:off x="9174175" y="3108960"/>
            <a:ext cx="457200" cy="640080"/>
          </a:xfrm>
          <a:prstGeom prst="rect">
            <a:avLst/>
          </a:prstGeom>
          <a:noFill/>
          <a:ln/>
        </p:spPr>
        <p:txBody>
          <a:bodyPr wrap="square" lIns="0" tIns="0" rIns="0" bIns="0" rtlCol="0" anchor="ctr"/>
          <a:lstStyle/>
          <a:p>
            <a:pPr algn="ctr" indent="0" marL="0">
              <a:buNone/>
            </a:pPr>
            <a:r>
              <a:rPr lang="en-US" sz="3400" b="1" dirty="0">
                <a:solidFill>
                  <a:srgbClr val="CBD5E1"/>
                </a:solidFill>
                <a:latin typeface="Calibri" pitchFamily="34" charset="0"/>
                <a:ea typeface="Calibri" pitchFamily="34" charset="-122"/>
                <a:cs typeface="Calibri" pitchFamily="34" charset="-120"/>
              </a:rPr>
              <a:t>›</a:t>
            </a:r>
            <a:endParaRPr lang="en-US" sz="3400" dirty="0"/>
          </a:p>
        </p:txBody>
      </p:sp>
      <p:sp>
        <p:nvSpPr>
          <p:cNvPr id="46" name="Shape 44"/>
          <p:cNvSpPr/>
          <p:nvPr/>
        </p:nvSpPr>
        <p:spPr>
          <a:xfrm>
            <a:off x="9631375" y="2880360"/>
            <a:ext cx="2057400" cy="1188720"/>
          </a:xfrm>
          <a:prstGeom prst="roundRect">
            <a:avLst>
              <a:gd name="adj" fmla="val 9231"/>
            </a:avLst>
          </a:prstGeom>
          <a:solidFill>
            <a:srgbClr val="059669"/>
          </a:solidFill>
          <a:ln/>
          <a:effectLst>
            <a:outerShdw sx="100000" sy="100000" kx="0" ky="0" algn="bl" rotWithShape="0" blurRad="127000" dist="38100" dir="5400000">
              <a:srgbClr val="10B981">
                <a:alpha val="35000"/>
              </a:srgbClr>
            </a:outerShdw>
          </a:effectLst>
        </p:spPr>
      </p:sp>
      <p:sp>
        <p:nvSpPr>
          <p:cNvPr id="47" name="Text 45"/>
          <p:cNvSpPr/>
          <p:nvPr/>
        </p:nvSpPr>
        <p:spPr>
          <a:xfrm>
            <a:off x="9631375" y="2880360"/>
            <a:ext cx="2057400" cy="118872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One exhibition</a:t>
            </a:r>
            <a:endParaRPr lang="en-US" sz="1400" dirty="0"/>
          </a:p>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workspace</a:t>
            </a:r>
            <a:endParaRPr lang="en-US" sz="1400" dirty="0"/>
          </a:p>
          <a:p>
            <a:pPr algn="ctr" indent="0" marL="0">
              <a:lnSpc>
                <a:spcPct val="100000"/>
              </a:lnSpc>
              <a:buNone/>
            </a:pPr>
            <a:r>
              <a:rPr lang="en-US" sz="1000" dirty="0">
                <a:solidFill>
                  <a:srgbClr val="D1FAE5"/>
                </a:solidFill>
                <a:latin typeface="Calibri" pitchFamily="34" charset="0"/>
                <a:ea typeface="Calibri" pitchFamily="34" charset="-122"/>
                <a:cs typeface="Calibri" pitchFamily="34" charset="-120"/>
              </a:rPr>
              <a:t>structured &amp; searchable</a:t>
            </a:r>
            <a:endParaRPr lang="en-US" sz="1400" dirty="0"/>
          </a:p>
        </p:txBody>
      </p:sp>
      <p:sp>
        <p:nvSpPr>
          <p:cNvPr id="48" name="Shape 46"/>
          <p:cNvSpPr/>
          <p:nvPr/>
        </p:nvSpPr>
        <p:spPr>
          <a:xfrm>
            <a:off x="6355080" y="4892040"/>
            <a:ext cx="5333695" cy="1234440"/>
          </a:xfrm>
          <a:prstGeom prst="roundRect">
            <a:avLst>
              <a:gd name="adj" fmla="val 7407"/>
            </a:avLst>
          </a:prstGeom>
          <a:solidFill>
            <a:srgbClr val="F8FAFC"/>
          </a:solidFill>
          <a:ln w="12700">
            <a:solidFill>
              <a:srgbClr val="E2E8F0"/>
            </a:solidFill>
            <a:prstDash val="solid"/>
          </a:ln>
        </p:spPr>
      </p:sp>
      <p:sp>
        <p:nvSpPr>
          <p:cNvPr id="49" name="Text 47"/>
          <p:cNvSpPr/>
          <p:nvPr/>
        </p:nvSpPr>
        <p:spPr>
          <a:xfrm>
            <a:off x="6629400" y="4892040"/>
            <a:ext cx="4785055" cy="1234440"/>
          </a:xfrm>
          <a:prstGeom prst="rect">
            <a:avLst/>
          </a:prstGeom>
          <a:noFill/>
          <a:ln/>
        </p:spPr>
        <p:txBody>
          <a:bodyPr wrap="square" lIns="0" tIns="0" rIns="0" bIns="0" rtlCol="0" anchor="ctr"/>
          <a:lstStyle/>
          <a:p>
            <a:pPr algn="l" indent="0" marL="0">
              <a:lnSpc>
                <a:spcPct val="120000"/>
              </a:lnSpc>
              <a:buNone/>
            </a:pPr>
            <a:r>
              <a:rPr lang="en-US" sz="1400" dirty="0">
                <a:solidFill>
                  <a:srgbClr val="475569"/>
                </a:solidFill>
                <a:latin typeface="Calibri" pitchFamily="34" charset="0"/>
                <a:ea typeface="Calibri" pitchFamily="34" charset="-122"/>
                <a:cs typeface="Calibri" pitchFamily="34" charset="-120"/>
              </a:rPr>
              <a:t>The real problem is not your CRM. </a:t>
            </a:r>
            <a:pPr algn="l" indent="0" marL="0">
              <a:lnSpc>
                <a:spcPct val="120000"/>
              </a:lnSpc>
              <a:buNone/>
            </a:pPr>
            <a:r>
              <a:rPr lang="en-US" sz="1400" b="1" dirty="0">
                <a:solidFill>
                  <a:srgbClr val="0F172A"/>
                </a:solidFill>
                <a:latin typeface="Calibri" pitchFamily="34" charset="0"/>
                <a:ea typeface="Calibri" pitchFamily="34" charset="-122"/>
                <a:cs typeface="Calibri" pitchFamily="34" charset="-120"/>
              </a:rPr>
              <a:t>It is fragmented exhibition execution,</a:t>
            </a:r>
            <a:pPr algn="l" indent="0" marL="0">
              <a:lnSpc>
                <a:spcPct val="120000"/>
              </a:lnSpc>
              <a:buNone/>
            </a:pPr>
            <a:r>
              <a:rPr lang="en-US" sz="1400" dirty="0">
                <a:solidFill>
                  <a:srgbClr val="475569"/>
                </a:solidFill>
                <a:latin typeface="Calibri" pitchFamily="34" charset="0"/>
                <a:ea typeface="Calibri" pitchFamily="34" charset="-122"/>
                <a:cs typeface="Calibri" pitchFamily="34" charset="-120"/>
              </a:rPr>
              <a:t> brought into one place.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00584" cy="100584"/>
          </a:xfrm>
          <a:prstGeom prst="roundRect">
            <a:avLst>
              <a:gd name="adj" fmla="val 18182"/>
            </a:avLst>
          </a:prstGeom>
          <a:solidFill>
            <a:srgbClr val="FFFFFF"/>
          </a:solidFill>
          <a:ln w="16510">
            <a:solidFill>
              <a:srgbClr val="0F172A"/>
            </a:solidFill>
            <a:prstDash val="solid"/>
          </a:ln>
        </p:spPr>
      </p:sp>
      <p:sp>
        <p:nvSpPr>
          <p:cNvPr id="3" name="Shape 1"/>
          <p:cNvSpPr/>
          <p:nvPr/>
        </p:nvSpPr>
        <p:spPr>
          <a:xfrm>
            <a:off x="644652" y="411480"/>
            <a:ext cx="100584" cy="100584"/>
          </a:xfrm>
          <a:prstGeom prst="roundRect">
            <a:avLst>
              <a:gd name="adj" fmla="val 18182"/>
            </a:avLst>
          </a:prstGeom>
          <a:solidFill>
            <a:srgbClr val="FFFFFF"/>
          </a:solidFill>
          <a:ln w="16510">
            <a:solidFill>
              <a:srgbClr val="0F172A"/>
            </a:solidFill>
            <a:prstDash val="solid"/>
          </a:ln>
        </p:spPr>
      </p:sp>
      <p:sp>
        <p:nvSpPr>
          <p:cNvPr id="4" name="Shape 2"/>
          <p:cNvSpPr/>
          <p:nvPr/>
        </p:nvSpPr>
        <p:spPr>
          <a:xfrm>
            <a:off x="502920" y="553212"/>
            <a:ext cx="100584" cy="100584"/>
          </a:xfrm>
          <a:prstGeom prst="roundRect">
            <a:avLst>
              <a:gd name="adj" fmla="val 18182"/>
            </a:avLst>
          </a:prstGeom>
          <a:solidFill>
            <a:srgbClr val="FFFFFF"/>
          </a:solidFill>
          <a:ln w="16510">
            <a:solidFill>
              <a:srgbClr val="0F172A"/>
            </a:solidFill>
            <a:prstDash val="solid"/>
          </a:ln>
        </p:spPr>
      </p:sp>
      <p:sp>
        <p:nvSpPr>
          <p:cNvPr id="5" name="Shape 3"/>
          <p:cNvSpPr/>
          <p:nvPr/>
        </p:nvSpPr>
        <p:spPr>
          <a:xfrm>
            <a:off x="644652" y="553212"/>
            <a:ext cx="100584" cy="100584"/>
          </a:xfrm>
          <a:prstGeom prst="roundRect">
            <a:avLst>
              <a:gd name="adj" fmla="val 18182"/>
            </a:avLst>
          </a:prstGeom>
          <a:solidFill>
            <a:srgbClr val="10B981"/>
          </a:solidFill>
          <a:ln w="16510">
            <a:solidFill>
              <a:srgbClr val="10B981"/>
            </a:solidFill>
            <a:prstDash val="solid"/>
          </a:ln>
        </p:spPr>
      </p:sp>
      <p:sp>
        <p:nvSpPr>
          <p:cNvPr id="6" name="Text 4"/>
          <p:cNvSpPr/>
          <p:nvPr/>
        </p:nvSpPr>
        <p:spPr>
          <a:xfrm>
            <a:off x="886968" y="365760"/>
            <a:ext cx="2011680" cy="329184"/>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Expo</a:t>
            </a:r>
            <a:pPr algn="l" indent="0" marL="0">
              <a:buNone/>
            </a:pPr>
            <a:r>
              <a:rPr lang="en-US" sz="1500" b="1" dirty="0">
                <a:solidFill>
                  <a:srgbClr val="10B981"/>
                </a:solidFill>
                <a:latin typeface="Calibri" pitchFamily="34" charset="0"/>
                <a:ea typeface="Calibri" pitchFamily="34" charset="-122"/>
                <a:cs typeface="Calibri" pitchFamily="34" charset="-120"/>
              </a:rPr>
              <a:t>Lead</a:t>
            </a:r>
            <a:pPr algn="l" indent="0" marL="0">
              <a:buNone/>
            </a:pP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1051560"/>
            <a:ext cx="8229600" cy="274320"/>
          </a:xfrm>
          <a:prstGeom prst="rect">
            <a:avLst/>
          </a:prstGeom>
          <a:noFill/>
          <a:ln/>
        </p:spPr>
        <p:txBody>
          <a:bodyPr wrap="square" lIns="0" tIns="0" rIns="0" bIns="0" rtlCol="0" anchor="ctr"/>
          <a:lstStyle/>
          <a:p>
            <a:pPr algn="l" indent="0" marL="0">
              <a:buNone/>
            </a:pPr>
            <a:r>
              <a:rPr lang="en-US" sz="1100" b="1" spc="220" kern="0" dirty="0">
                <a:solidFill>
                  <a:srgbClr val="059669"/>
                </a:solidFill>
                <a:latin typeface="Calibri" pitchFamily="34" charset="0"/>
                <a:ea typeface="Calibri" pitchFamily="34" charset="-122"/>
                <a:cs typeface="Calibri" pitchFamily="34" charset="-120"/>
              </a:rPr>
              <a:t>THE LONG-TERM VALUE</a:t>
            </a:r>
            <a:endParaRPr lang="en-US" sz="1100" dirty="0"/>
          </a:p>
        </p:txBody>
      </p:sp>
      <p:sp>
        <p:nvSpPr>
          <p:cNvPr id="8" name="Text 6"/>
          <p:cNvSpPr/>
          <p:nvPr/>
        </p:nvSpPr>
        <p:spPr>
          <a:xfrm>
            <a:off x="502920" y="1325880"/>
            <a:ext cx="10972800" cy="502920"/>
          </a:xfrm>
          <a:prstGeom prst="rect">
            <a:avLst/>
          </a:prstGeom>
          <a:noFill/>
          <a:ln/>
        </p:spPr>
        <p:txBody>
          <a:bodyPr wrap="square" lIns="0" tIns="0" rIns="0" bIns="0" rtlCol="0" anchor="t"/>
          <a:lstStyle/>
          <a:p>
            <a:pPr algn="l" indent="0" marL="0">
              <a:buNone/>
            </a:pPr>
            <a:r>
              <a:rPr lang="en-US" sz="2600" b="1" dirty="0">
                <a:solidFill>
                  <a:srgbClr val="0F172A"/>
                </a:solidFill>
                <a:latin typeface="Calibri" pitchFamily="34" charset="0"/>
                <a:ea typeface="Calibri" pitchFamily="34" charset="-122"/>
                <a:cs typeface="Calibri" pitchFamily="34" charset="-120"/>
              </a:rPr>
              <a:t>Not a business-card scanner. </a:t>
            </a:r>
            <a:pPr algn="l" indent="0" marL="0">
              <a:buNone/>
            </a:pPr>
            <a:r>
              <a:rPr lang="en-US" sz="2600" b="1" dirty="0">
                <a:solidFill>
                  <a:srgbClr val="059669"/>
                </a:solidFill>
                <a:latin typeface="Calibri" pitchFamily="34" charset="0"/>
                <a:ea typeface="Calibri" pitchFamily="34" charset="-122"/>
                <a:cs typeface="Calibri" pitchFamily="34" charset="-120"/>
              </a:rPr>
              <a:t>An Exhibition Intelligence Workspace.</a:t>
            </a:r>
            <a:endParaRPr lang="en-US" sz="2600" dirty="0"/>
          </a:p>
        </p:txBody>
      </p:sp>
      <p:sp>
        <p:nvSpPr>
          <p:cNvPr id="9" name="Text 7"/>
          <p:cNvSpPr/>
          <p:nvPr/>
        </p:nvSpPr>
        <p:spPr>
          <a:xfrm>
            <a:off x="502920" y="1920240"/>
            <a:ext cx="10515600" cy="457200"/>
          </a:xfrm>
          <a:prstGeom prst="rect">
            <a:avLst/>
          </a:prstGeom>
          <a:noFill/>
          <a:ln/>
        </p:spPr>
        <p:txBody>
          <a:bodyPr wrap="square" lIns="0" tIns="0" rIns="0" bIns="0" rtlCol="0" anchor="t"/>
          <a:lstStyle/>
          <a:p>
            <a:pPr algn="l" indent="0" marL="0">
              <a:buNone/>
            </a:pPr>
            <a:r>
              <a:rPr lang="en-US" sz="1300" dirty="0">
                <a:solidFill>
                  <a:srgbClr val="64748B"/>
                </a:solidFill>
                <a:latin typeface="Calibri" pitchFamily="34" charset="0"/>
                <a:ea typeface="Calibri" pitchFamily="34" charset="-122"/>
                <a:cs typeface="Calibri" pitchFamily="34" charset="-120"/>
              </a:rPr>
              <a:t>The value is turning exhibition activity into structured commercial intelligence, and helping management understand the performance of the show itself.</a:t>
            </a:r>
            <a:endParaRPr lang="en-US" sz="1300" dirty="0"/>
          </a:p>
        </p:txBody>
      </p:sp>
      <p:sp>
        <p:nvSpPr>
          <p:cNvPr id="10" name="Shape 8"/>
          <p:cNvSpPr/>
          <p:nvPr/>
        </p:nvSpPr>
        <p:spPr>
          <a:xfrm>
            <a:off x="502920" y="2606040"/>
            <a:ext cx="2625014" cy="3291840"/>
          </a:xfrm>
          <a:prstGeom prst="roundRect">
            <a:avLst>
              <a:gd name="adj" fmla="val 3135"/>
            </a:avLst>
          </a:prstGeom>
          <a:solidFill>
            <a:srgbClr val="F8FAFC"/>
          </a:solidFill>
          <a:ln w="15240">
            <a:solidFill>
              <a:srgbClr val="E2E8F0"/>
            </a:solidFill>
            <a:prstDash val="solid"/>
          </a:ln>
        </p:spPr>
      </p:sp>
      <p:sp>
        <p:nvSpPr>
          <p:cNvPr id="11" name="Shape 9"/>
          <p:cNvSpPr/>
          <p:nvPr/>
        </p:nvSpPr>
        <p:spPr>
          <a:xfrm>
            <a:off x="758952" y="2898648"/>
            <a:ext cx="128016" cy="128016"/>
          </a:xfrm>
          <a:prstGeom prst="roundRect">
            <a:avLst>
              <a:gd name="adj" fmla="val 50000"/>
            </a:avLst>
          </a:prstGeom>
          <a:solidFill>
            <a:srgbClr val="10B981"/>
          </a:solidFill>
          <a:ln/>
        </p:spPr>
      </p:sp>
      <p:sp>
        <p:nvSpPr>
          <p:cNvPr id="12" name="Text 10"/>
          <p:cNvSpPr/>
          <p:nvPr/>
        </p:nvSpPr>
        <p:spPr>
          <a:xfrm>
            <a:off x="960120" y="2807208"/>
            <a:ext cx="1984934" cy="274320"/>
          </a:xfrm>
          <a:prstGeom prst="rect">
            <a:avLst/>
          </a:prstGeom>
          <a:noFill/>
          <a:ln/>
        </p:spPr>
        <p:txBody>
          <a:bodyPr wrap="square" lIns="0" tIns="0" rIns="0" bIns="0" rtlCol="0" anchor="ctr"/>
          <a:lstStyle/>
          <a:p>
            <a:pPr algn="l" indent="0" marL="0">
              <a:buNone/>
            </a:pPr>
            <a:r>
              <a:rPr lang="en-US" sz="1300" b="1" spc="60" kern="0" dirty="0">
                <a:solidFill>
                  <a:srgbClr val="0F172A"/>
                </a:solidFill>
                <a:latin typeface="Calibri" pitchFamily="34" charset="0"/>
                <a:ea typeface="Calibri" pitchFamily="34" charset="-122"/>
                <a:cs typeface="Calibri" pitchFamily="34" charset="-120"/>
              </a:rPr>
              <a:t>BEFORE</a:t>
            </a:r>
            <a:endParaRPr lang="en-US" sz="1300" dirty="0"/>
          </a:p>
        </p:txBody>
      </p:sp>
      <p:sp>
        <p:nvSpPr>
          <p:cNvPr id="13" name="Text 11"/>
          <p:cNvSpPr/>
          <p:nvPr/>
        </p:nvSpPr>
        <p:spPr>
          <a:xfrm>
            <a:off x="758952" y="3291840"/>
            <a:ext cx="2167814" cy="2286000"/>
          </a:xfrm>
          <a:prstGeom prst="rect">
            <a:avLst/>
          </a:prstGeom>
          <a:noFill/>
          <a:ln/>
        </p:spPr>
        <p:txBody>
          <a:bodyPr wrap="square" lIns="0" tIns="0" rIns="0" bIns="0" rtlCol="0" anchor="t"/>
          <a:lstStyle/>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What are our objectives?</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Who are our targets?</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Which companies and booths matter?</a:t>
            </a:r>
            <a:endParaRPr lang="en-US" sz="1100" dirty="0"/>
          </a:p>
        </p:txBody>
      </p:sp>
      <p:sp>
        <p:nvSpPr>
          <p:cNvPr id="14" name="Shape 12"/>
          <p:cNvSpPr/>
          <p:nvPr/>
        </p:nvSpPr>
        <p:spPr>
          <a:xfrm>
            <a:off x="3356534" y="2606040"/>
            <a:ext cx="2625014" cy="3291840"/>
          </a:xfrm>
          <a:prstGeom prst="roundRect">
            <a:avLst>
              <a:gd name="adj" fmla="val 3135"/>
            </a:avLst>
          </a:prstGeom>
          <a:solidFill>
            <a:srgbClr val="F8FAFC"/>
          </a:solidFill>
          <a:ln w="15240">
            <a:solidFill>
              <a:srgbClr val="E2E8F0"/>
            </a:solidFill>
            <a:prstDash val="solid"/>
          </a:ln>
        </p:spPr>
      </p:sp>
      <p:sp>
        <p:nvSpPr>
          <p:cNvPr id="15" name="Shape 13"/>
          <p:cNvSpPr/>
          <p:nvPr/>
        </p:nvSpPr>
        <p:spPr>
          <a:xfrm>
            <a:off x="3612566" y="2898648"/>
            <a:ext cx="128016" cy="128016"/>
          </a:xfrm>
          <a:prstGeom prst="roundRect">
            <a:avLst>
              <a:gd name="adj" fmla="val 50000"/>
            </a:avLst>
          </a:prstGeom>
          <a:solidFill>
            <a:srgbClr val="10B981"/>
          </a:solidFill>
          <a:ln/>
        </p:spPr>
      </p:sp>
      <p:sp>
        <p:nvSpPr>
          <p:cNvPr id="16" name="Text 14"/>
          <p:cNvSpPr/>
          <p:nvPr/>
        </p:nvSpPr>
        <p:spPr>
          <a:xfrm>
            <a:off x="3813734" y="2807208"/>
            <a:ext cx="1984934" cy="274320"/>
          </a:xfrm>
          <a:prstGeom prst="rect">
            <a:avLst/>
          </a:prstGeom>
          <a:noFill/>
          <a:ln/>
        </p:spPr>
        <p:txBody>
          <a:bodyPr wrap="square" lIns="0" tIns="0" rIns="0" bIns="0" rtlCol="0" anchor="ctr"/>
          <a:lstStyle/>
          <a:p>
            <a:pPr algn="l" indent="0" marL="0">
              <a:buNone/>
            </a:pPr>
            <a:r>
              <a:rPr lang="en-US" sz="1300" b="1" spc="60" kern="0" dirty="0">
                <a:solidFill>
                  <a:srgbClr val="0F172A"/>
                </a:solidFill>
                <a:latin typeface="Calibri" pitchFamily="34" charset="0"/>
                <a:ea typeface="Calibri" pitchFamily="34" charset="-122"/>
                <a:cs typeface="Calibri" pitchFamily="34" charset="-120"/>
              </a:rPr>
              <a:t>DURING</a:t>
            </a:r>
            <a:endParaRPr lang="en-US" sz="1300" dirty="0"/>
          </a:p>
        </p:txBody>
      </p:sp>
      <p:sp>
        <p:nvSpPr>
          <p:cNvPr id="17" name="Text 15"/>
          <p:cNvSpPr/>
          <p:nvPr/>
        </p:nvSpPr>
        <p:spPr>
          <a:xfrm>
            <a:off x="3612566" y="3291840"/>
            <a:ext cx="2167814" cy="2286000"/>
          </a:xfrm>
          <a:prstGeom prst="rect">
            <a:avLst/>
          </a:prstGeom>
          <a:noFill/>
          <a:ln/>
        </p:spPr>
        <p:txBody>
          <a:bodyPr wrap="square" lIns="0" tIns="0" rIns="0" bIns="0" rtlCol="0" anchor="t"/>
          <a:lstStyle/>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Who has the team met?</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What opportunities are emerging?</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Who is high priority?</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What commitments were made?</a:t>
            </a:r>
            <a:endParaRPr lang="en-US" sz="1100" dirty="0"/>
          </a:p>
        </p:txBody>
      </p:sp>
      <p:sp>
        <p:nvSpPr>
          <p:cNvPr id="18" name="Shape 16"/>
          <p:cNvSpPr/>
          <p:nvPr/>
        </p:nvSpPr>
        <p:spPr>
          <a:xfrm>
            <a:off x="6210148" y="2606040"/>
            <a:ext cx="2625014" cy="3291840"/>
          </a:xfrm>
          <a:prstGeom prst="roundRect">
            <a:avLst>
              <a:gd name="adj" fmla="val 3135"/>
            </a:avLst>
          </a:prstGeom>
          <a:solidFill>
            <a:srgbClr val="F8FAFC"/>
          </a:solidFill>
          <a:ln w="15240">
            <a:solidFill>
              <a:srgbClr val="E2E8F0"/>
            </a:solidFill>
            <a:prstDash val="solid"/>
          </a:ln>
        </p:spPr>
      </p:sp>
      <p:sp>
        <p:nvSpPr>
          <p:cNvPr id="19" name="Shape 17"/>
          <p:cNvSpPr/>
          <p:nvPr/>
        </p:nvSpPr>
        <p:spPr>
          <a:xfrm>
            <a:off x="6466180" y="2898648"/>
            <a:ext cx="128016" cy="128016"/>
          </a:xfrm>
          <a:prstGeom prst="roundRect">
            <a:avLst>
              <a:gd name="adj" fmla="val 50000"/>
            </a:avLst>
          </a:prstGeom>
          <a:solidFill>
            <a:srgbClr val="10B981"/>
          </a:solidFill>
          <a:ln/>
        </p:spPr>
      </p:sp>
      <p:sp>
        <p:nvSpPr>
          <p:cNvPr id="20" name="Text 18"/>
          <p:cNvSpPr/>
          <p:nvPr/>
        </p:nvSpPr>
        <p:spPr>
          <a:xfrm>
            <a:off x="6667348" y="2807208"/>
            <a:ext cx="1984934" cy="274320"/>
          </a:xfrm>
          <a:prstGeom prst="rect">
            <a:avLst/>
          </a:prstGeom>
          <a:noFill/>
          <a:ln/>
        </p:spPr>
        <p:txBody>
          <a:bodyPr wrap="square" lIns="0" tIns="0" rIns="0" bIns="0" rtlCol="0" anchor="ctr"/>
          <a:lstStyle/>
          <a:p>
            <a:pPr algn="l" indent="0" marL="0">
              <a:buNone/>
            </a:pPr>
            <a:r>
              <a:rPr lang="en-US" sz="1300" b="1" spc="60" kern="0" dirty="0">
                <a:solidFill>
                  <a:srgbClr val="0F172A"/>
                </a:solidFill>
                <a:latin typeface="Calibri" pitchFamily="34" charset="0"/>
                <a:ea typeface="Calibri" pitchFamily="34" charset="-122"/>
                <a:cs typeface="Calibri" pitchFamily="34" charset="-120"/>
              </a:rPr>
              <a:t>AFTER</a:t>
            </a:r>
            <a:endParaRPr lang="en-US" sz="1300" dirty="0"/>
          </a:p>
        </p:txBody>
      </p:sp>
      <p:sp>
        <p:nvSpPr>
          <p:cNvPr id="21" name="Text 19"/>
          <p:cNvSpPr/>
          <p:nvPr/>
        </p:nvSpPr>
        <p:spPr>
          <a:xfrm>
            <a:off x="6466180" y="3291840"/>
            <a:ext cx="2167814" cy="2286000"/>
          </a:xfrm>
          <a:prstGeom prst="rect">
            <a:avLst/>
          </a:prstGeom>
          <a:noFill/>
          <a:ln/>
        </p:spPr>
        <p:txBody>
          <a:bodyPr wrap="square" lIns="0" tIns="0" rIns="0" bIns="0" rtlCol="0" anchor="t"/>
          <a:lstStyle/>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What came out of the show?</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Which opportunities need action?</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Who owns each follow-up?</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Which products drew interest?</a:t>
            </a:r>
            <a:endParaRPr lang="en-US" sz="1100" dirty="0"/>
          </a:p>
        </p:txBody>
      </p:sp>
      <p:sp>
        <p:nvSpPr>
          <p:cNvPr id="22" name="Shape 20"/>
          <p:cNvSpPr/>
          <p:nvPr/>
        </p:nvSpPr>
        <p:spPr>
          <a:xfrm>
            <a:off x="9063761" y="2606040"/>
            <a:ext cx="2625014" cy="3291840"/>
          </a:xfrm>
          <a:prstGeom prst="roundRect">
            <a:avLst>
              <a:gd name="adj" fmla="val 3135"/>
            </a:avLst>
          </a:prstGeom>
          <a:solidFill>
            <a:srgbClr val="FFFBEB"/>
          </a:solidFill>
          <a:ln w="15240">
            <a:solidFill>
              <a:srgbClr val="FDE68A"/>
            </a:solidFill>
            <a:prstDash val="solid"/>
          </a:ln>
        </p:spPr>
      </p:sp>
      <p:sp>
        <p:nvSpPr>
          <p:cNvPr id="23" name="Shape 21"/>
          <p:cNvSpPr/>
          <p:nvPr/>
        </p:nvSpPr>
        <p:spPr>
          <a:xfrm>
            <a:off x="9319793" y="2898648"/>
            <a:ext cx="128016" cy="128016"/>
          </a:xfrm>
          <a:prstGeom prst="roundRect">
            <a:avLst>
              <a:gd name="adj" fmla="val 50000"/>
            </a:avLst>
          </a:prstGeom>
          <a:solidFill>
            <a:srgbClr val="F59E0B"/>
          </a:solidFill>
          <a:ln/>
        </p:spPr>
      </p:sp>
      <p:sp>
        <p:nvSpPr>
          <p:cNvPr id="24" name="Text 22"/>
          <p:cNvSpPr/>
          <p:nvPr/>
        </p:nvSpPr>
        <p:spPr>
          <a:xfrm>
            <a:off x="9520961" y="2807208"/>
            <a:ext cx="1984934" cy="274320"/>
          </a:xfrm>
          <a:prstGeom prst="rect">
            <a:avLst/>
          </a:prstGeom>
          <a:noFill/>
          <a:ln/>
        </p:spPr>
        <p:txBody>
          <a:bodyPr wrap="square" lIns="0" tIns="0" rIns="0" bIns="0" rtlCol="0" anchor="ctr"/>
          <a:lstStyle/>
          <a:p>
            <a:pPr algn="l" indent="0" marL="0">
              <a:buNone/>
            </a:pPr>
            <a:r>
              <a:rPr lang="en-US" sz="1300" b="1" spc="60" kern="0" dirty="0">
                <a:solidFill>
                  <a:srgbClr val="0F172A"/>
                </a:solidFill>
                <a:latin typeface="Calibri" pitchFamily="34" charset="0"/>
                <a:ea typeface="Calibri" pitchFamily="34" charset="-122"/>
                <a:cs typeface="Calibri" pitchFamily="34" charset="-120"/>
              </a:rPr>
              <a:t>OVER TIME</a:t>
            </a:r>
            <a:endParaRPr lang="en-US" sz="1300" dirty="0"/>
          </a:p>
        </p:txBody>
      </p:sp>
      <p:sp>
        <p:nvSpPr>
          <p:cNvPr id="25" name="Shape 23"/>
          <p:cNvSpPr/>
          <p:nvPr/>
        </p:nvSpPr>
        <p:spPr>
          <a:xfrm>
            <a:off x="9319793" y="3172968"/>
            <a:ext cx="1051560" cy="237744"/>
          </a:xfrm>
          <a:prstGeom prst="roundRect">
            <a:avLst>
              <a:gd name="adj" fmla="val 30769"/>
            </a:avLst>
          </a:prstGeom>
          <a:solidFill>
            <a:srgbClr val="FFFFFF"/>
          </a:solidFill>
          <a:ln w="12700">
            <a:solidFill>
              <a:srgbClr val="FDE68A"/>
            </a:solidFill>
            <a:prstDash val="solid"/>
          </a:ln>
        </p:spPr>
      </p:sp>
      <p:sp>
        <p:nvSpPr>
          <p:cNvPr id="26" name="Text 24"/>
          <p:cNvSpPr/>
          <p:nvPr/>
        </p:nvSpPr>
        <p:spPr>
          <a:xfrm>
            <a:off x="9319793" y="3172968"/>
            <a:ext cx="1051560" cy="237744"/>
          </a:xfrm>
          <a:prstGeom prst="rect">
            <a:avLst/>
          </a:prstGeom>
          <a:noFill/>
          <a:ln/>
        </p:spPr>
        <p:txBody>
          <a:bodyPr wrap="square" lIns="0" tIns="0" rIns="0" bIns="0" rtlCol="0" anchor="ctr"/>
          <a:lstStyle/>
          <a:p>
            <a:pPr algn="ctr" indent="0" marL="0">
              <a:buNone/>
            </a:pPr>
            <a:r>
              <a:rPr lang="en-US" sz="800" b="1" dirty="0">
                <a:solidFill>
                  <a:srgbClr val="7C5B16"/>
                </a:solidFill>
                <a:latin typeface="Calibri" pitchFamily="34" charset="0"/>
                <a:ea typeface="Calibri" pitchFamily="34" charset="-122"/>
                <a:cs typeface="Calibri" pitchFamily="34" charset="-120"/>
              </a:rPr>
              <a:t>● DIRECTION</a:t>
            </a:r>
            <a:endParaRPr lang="en-US" sz="800" dirty="0"/>
          </a:p>
        </p:txBody>
      </p:sp>
      <p:sp>
        <p:nvSpPr>
          <p:cNvPr id="27" name="Text 25"/>
          <p:cNvSpPr/>
          <p:nvPr/>
        </p:nvSpPr>
        <p:spPr>
          <a:xfrm>
            <a:off x="9319793" y="3566160"/>
            <a:ext cx="2167814" cy="2286000"/>
          </a:xfrm>
          <a:prstGeom prst="rect">
            <a:avLst/>
          </a:prstGeom>
          <a:noFill/>
          <a:ln/>
        </p:spPr>
        <p:txBody>
          <a:bodyPr wrap="square" lIns="0" tIns="0" rIns="0" bIns="0" rtlCol="0" anchor="t"/>
          <a:lstStyle/>
          <a:p>
            <a:pPr algn="l" marL="139700" indent="-139700">
              <a:spcAft>
                <a:spcPts val="700"/>
              </a:spcAft>
              <a:buSzPct val="100000"/>
              <a:buChar char="•"/>
            </a:pPr>
            <a:r>
              <a:rPr lang="en-US" sz="1100" dirty="0">
                <a:solidFill>
                  <a:srgbClr val="92600C"/>
                </a:solidFill>
                <a:latin typeface="Calibri" pitchFamily="34" charset="0"/>
                <a:ea typeface="Calibri" pitchFamily="34" charset="-122"/>
                <a:cs typeface="Calibri" pitchFamily="34" charset="-120"/>
              </a:rPr>
              <a:t>Which shows created real opportunities?</a:t>
            </a:r>
            <a:endParaRPr lang="en-US" sz="1100" dirty="0"/>
          </a:p>
          <a:p>
            <a:pPr algn="l" marL="139700" indent="-139700">
              <a:spcAft>
                <a:spcPts val="700"/>
              </a:spcAft>
              <a:buSzPct val="100000"/>
              <a:buChar char="•"/>
            </a:pPr>
            <a:r>
              <a:rPr lang="en-US" sz="1100" dirty="0">
                <a:solidFill>
                  <a:srgbClr val="92600C"/>
                </a:solidFill>
                <a:latin typeface="Calibri" pitchFamily="34" charset="0"/>
                <a:ea typeface="Calibri" pitchFamily="34" charset="-122"/>
                <a:cs typeface="Calibri" pitchFamily="34" charset="-120"/>
              </a:rPr>
              <a:t>Which led to samples, quotes or orders?</a:t>
            </a:r>
            <a:endParaRPr lang="en-US" sz="1100" dirty="0"/>
          </a:p>
          <a:p>
            <a:pPr algn="l" marL="139700" indent="-139700">
              <a:spcAft>
                <a:spcPts val="700"/>
              </a:spcAft>
              <a:buSzPct val="100000"/>
              <a:buChar char="•"/>
            </a:pPr>
            <a:r>
              <a:rPr lang="en-US" sz="1100" dirty="0">
                <a:solidFill>
                  <a:srgbClr val="92600C"/>
                </a:solidFill>
                <a:latin typeface="Calibri" pitchFamily="34" charset="0"/>
                <a:ea typeface="Calibri" pitchFamily="34" charset="-122"/>
                <a:cs typeface="Calibri" pitchFamily="34" charset="-120"/>
              </a:rPr>
              <a:t>Which shows deserve future investment?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502920" y="457200"/>
            <a:ext cx="100584" cy="100584"/>
          </a:xfrm>
          <a:prstGeom prst="roundRect">
            <a:avLst>
              <a:gd name="adj" fmla="val 18182"/>
            </a:avLst>
          </a:prstGeom>
          <a:solidFill>
            <a:srgbClr val="0F172A"/>
          </a:solidFill>
          <a:ln w="16510">
            <a:solidFill>
              <a:srgbClr val="FFFFFF"/>
            </a:solidFill>
            <a:prstDash val="solid"/>
          </a:ln>
        </p:spPr>
      </p:sp>
      <p:sp>
        <p:nvSpPr>
          <p:cNvPr id="3" name="Shape 1"/>
          <p:cNvSpPr/>
          <p:nvPr/>
        </p:nvSpPr>
        <p:spPr>
          <a:xfrm>
            <a:off x="644652" y="457200"/>
            <a:ext cx="100584" cy="100584"/>
          </a:xfrm>
          <a:prstGeom prst="roundRect">
            <a:avLst>
              <a:gd name="adj" fmla="val 18182"/>
            </a:avLst>
          </a:prstGeom>
          <a:solidFill>
            <a:srgbClr val="0F172A"/>
          </a:solidFill>
          <a:ln w="16510">
            <a:solidFill>
              <a:srgbClr val="FFFFFF"/>
            </a:solidFill>
            <a:prstDash val="solid"/>
          </a:ln>
        </p:spPr>
      </p:sp>
      <p:sp>
        <p:nvSpPr>
          <p:cNvPr id="4" name="Shape 2"/>
          <p:cNvSpPr/>
          <p:nvPr/>
        </p:nvSpPr>
        <p:spPr>
          <a:xfrm>
            <a:off x="502920" y="598932"/>
            <a:ext cx="100584" cy="100584"/>
          </a:xfrm>
          <a:prstGeom prst="roundRect">
            <a:avLst>
              <a:gd name="adj" fmla="val 18182"/>
            </a:avLst>
          </a:prstGeom>
          <a:solidFill>
            <a:srgbClr val="0F172A"/>
          </a:solidFill>
          <a:ln w="16510">
            <a:solidFill>
              <a:srgbClr val="FFFFFF"/>
            </a:solidFill>
            <a:prstDash val="solid"/>
          </a:ln>
        </p:spPr>
      </p:sp>
      <p:sp>
        <p:nvSpPr>
          <p:cNvPr id="5" name="Shape 3"/>
          <p:cNvSpPr/>
          <p:nvPr/>
        </p:nvSpPr>
        <p:spPr>
          <a:xfrm>
            <a:off x="644652" y="598932"/>
            <a:ext cx="100584" cy="100584"/>
          </a:xfrm>
          <a:prstGeom prst="roundRect">
            <a:avLst>
              <a:gd name="adj" fmla="val 18182"/>
            </a:avLst>
          </a:prstGeom>
          <a:solidFill>
            <a:srgbClr val="10B981"/>
          </a:solidFill>
          <a:ln w="16510">
            <a:solidFill>
              <a:srgbClr val="10B981"/>
            </a:solidFill>
            <a:prstDash val="solid"/>
          </a:ln>
        </p:spPr>
      </p:sp>
      <p:sp>
        <p:nvSpPr>
          <p:cNvPr id="6" name="Text 4"/>
          <p:cNvSpPr/>
          <p:nvPr/>
        </p:nvSpPr>
        <p:spPr>
          <a:xfrm>
            <a:off x="886968" y="411480"/>
            <a:ext cx="2011680" cy="329184"/>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Expo</a:t>
            </a:r>
            <a:pPr algn="l" indent="0" marL="0">
              <a:buNone/>
            </a:pPr>
            <a:r>
              <a:rPr lang="en-US" sz="1500" b="1" dirty="0">
                <a:solidFill>
                  <a:srgbClr val="10B981"/>
                </a:solidFill>
                <a:latin typeface="Calibri" pitchFamily="34" charset="0"/>
                <a:ea typeface="Calibri" pitchFamily="34" charset="-122"/>
                <a:cs typeface="Calibri" pitchFamily="34" charset="-120"/>
              </a:rPr>
              <a:t>Lead</a:t>
            </a:r>
            <a:pPr algn="l" indent="0" marL="0">
              <a:buNone/>
            </a:pP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1737360"/>
            <a:ext cx="10972800" cy="1463040"/>
          </a:xfrm>
          <a:prstGeom prst="rect">
            <a:avLst/>
          </a:prstGeom>
          <a:noFill/>
          <a:ln/>
        </p:spPr>
        <p:txBody>
          <a:bodyPr wrap="square" lIns="0" tIns="0" rIns="0" bIns="0" rtlCol="0" anchor="t"/>
          <a:lstStyle/>
          <a:p>
            <a:pPr algn="l" indent="0" marL="0">
              <a:lnSpc>
                <a:spcPct val="103000"/>
              </a:lnSpc>
              <a:buNone/>
            </a:pPr>
            <a:r>
              <a:rPr lang="en-US" sz="3600" b="1" dirty="0">
                <a:solidFill>
                  <a:srgbClr val="FFFFFF"/>
                </a:solidFill>
                <a:latin typeface="Calibri" pitchFamily="34" charset="0"/>
                <a:ea typeface="Calibri" pitchFamily="34" charset="-122"/>
                <a:cs typeface="Calibri" pitchFamily="34" charset="-120"/>
              </a:rPr>
              <a:t>ExpoLead doesn’t replace your CRM.</a:t>
            </a:r>
            <a:endParaRPr lang="en-US" sz="3600" dirty="0"/>
          </a:p>
          <a:p>
            <a:pPr algn="l" indent="0" marL="0">
              <a:lnSpc>
                <a:spcPct val="103000"/>
              </a:lnSpc>
              <a:buNone/>
            </a:pPr>
            <a:r>
              <a:rPr lang="en-US" sz="3600" b="1" dirty="0">
                <a:solidFill>
                  <a:srgbClr val="34D399"/>
                </a:solidFill>
                <a:latin typeface="Calibri" pitchFamily="34" charset="0"/>
                <a:ea typeface="Calibri" pitchFamily="34" charset="-122"/>
                <a:cs typeface="Calibri" pitchFamily="34" charset="-120"/>
              </a:rPr>
              <a:t>It owns the exhibition layer.</a:t>
            </a:r>
            <a:endParaRPr lang="en-US" sz="3600" dirty="0"/>
          </a:p>
        </p:txBody>
      </p:sp>
      <p:sp>
        <p:nvSpPr>
          <p:cNvPr id="8" name="Text 6"/>
          <p:cNvSpPr/>
          <p:nvPr/>
        </p:nvSpPr>
        <p:spPr>
          <a:xfrm>
            <a:off x="502920" y="3200400"/>
            <a:ext cx="7772400" cy="548640"/>
          </a:xfrm>
          <a:prstGeom prst="rect">
            <a:avLst/>
          </a:prstGeom>
          <a:noFill/>
          <a:ln/>
        </p:spPr>
        <p:txBody>
          <a:bodyPr wrap="square" lIns="0" tIns="0" rIns="0" bIns="0" rtlCol="0" anchor="t"/>
          <a:lstStyle/>
          <a:p>
            <a:pPr algn="l" indent="0" marL="0">
              <a:lnSpc>
                <a:spcPct val="115000"/>
              </a:lnSpc>
              <a:buNone/>
            </a:pPr>
            <a:r>
              <a:rPr lang="en-US" sz="1500" dirty="0">
                <a:solidFill>
                  <a:srgbClr val="CBD5E1"/>
                </a:solidFill>
                <a:latin typeface="Calibri" pitchFamily="34" charset="0"/>
                <a:ea typeface="Calibri" pitchFamily="34" charset="-122"/>
                <a:cs typeface="Calibri" pitchFamily="34" charset="-120"/>
              </a:rPr>
              <a:t>Before, during and immediately after the show. Your CRM keeps the relationship, the pipeline and the revenue.</a:t>
            </a:r>
            <a:endParaRPr lang="en-US" sz="1500" dirty="0"/>
          </a:p>
        </p:txBody>
      </p:sp>
      <p:sp>
        <p:nvSpPr>
          <p:cNvPr id="9" name="Shape 7"/>
          <p:cNvSpPr/>
          <p:nvPr/>
        </p:nvSpPr>
        <p:spPr>
          <a:xfrm>
            <a:off x="502920" y="4023360"/>
            <a:ext cx="11185855" cy="1828800"/>
          </a:xfrm>
          <a:prstGeom prst="roundRect">
            <a:avLst>
              <a:gd name="adj" fmla="val 6000"/>
            </a:avLst>
          </a:prstGeom>
          <a:solidFill>
            <a:srgbClr val="12203A"/>
          </a:solidFill>
          <a:ln w="12700">
            <a:solidFill>
              <a:srgbClr val="334155"/>
            </a:solidFill>
            <a:prstDash val="solid"/>
          </a:ln>
        </p:spPr>
      </p:sp>
      <p:sp>
        <p:nvSpPr>
          <p:cNvPr id="10" name="Text 8"/>
          <p:cNvSpPr/>
          <p:nvPr/>
        </p:nvSpPr>
        <p:spPr>
          <a:xfrm>
            <a:off x="822960" y="4206240"/>
            <a:ext cx="5486400" cy="274320"/>
          </a:xfrm>
          <a:prstGeom prst="rect">
            <a:avLst/>
          </a:prstGeom>
          <a:noFill/>
          <a:ln/>
        </p:spPr>
        <p:txBody>
          <a:bodyPr wrap="square" lIns="0" tIns="0" rIns="0" bIns="0" rtlCol="0" anchor="ctr"/>
          <a:lstStyle/>
          <a:p>
            <a:pPr indent="0" marL="0">
              <a:buNone/>
            </a:pPr>
            <a:r>
              <a:rPr lang="en-US" sz="1100" b="1" spc="150" kern="0" dirty="0">
                <a:solidFill>
                  <a:srgbClr val="34D399"/>
                </a:solidFill>
                <a:latin typeface="Calibri" pitchFamily="34" charset="0"/>
                <a:ea typeface="Calibri" pitchFamily="34" charset="-122"/>
                <a:cs typeface="Calibri" pitchFamily="34" charset="-120"/>
              </a:rPr>
              <a:t>ASK YOUR TEAM</a:t>
            </a:r>
            <a:endParaRPr lang="en-US" sz="1100" dirty="0"/>
          </a:p>
        </p:txBody>
      </p:sp>
      <p:sp>
        <p:nvSpPr>
          <p:cNvPr id="11" name="Text 9"/>
          <p:cNvSpPr/>
          <p:nvPr/>
        </p:nvSpPr>
        <p:spPr>
          <a:xfrm>
            <a:off x="822960" y="4572000"/>
            <a:ext cx="10545775" cy="1188720"/>
          </a:xfrm>
          <a:prstGeom prst="rect">
            <a:avLst/>
          </a:prstGeom>
          <a:noFill/>
          <a:ln/>
        </p:spPr>
        <p:txBody>
          <a:bodyPr wrap="square" lIns="0" tIns="0" rIns="0" bIns="0" rtlCol="0" anchor="t"/>
          <a:lstStyle/>
          <a:p>
            <a:pPr algn="l" marL="203200" indent="-203200">
              <a:spcAft>
                <a:spcPts val="900"/>
              </a:spcAft>
              <a:buSzPct val="100000"/>
              <a:buChar char="?"/>
            </a:pPr>
            <a:r>
              <a:rPr lang="en-US" sz="1350" dirty="0">
                <a:solidFill>
                  <a:srgbClr val="CBD5E1"/>
                </a:solidFill>
                <a:latin typeface="Calibri" pitchFamily="34" charset="0"/>
                <a:ea typeface="Calibri" pitchFamily="34" charset="-122"/>
                <a:cs typeface="Calibri" pitchFamily="34" charset="-120"/>
              </a:rPr>
              <a:t>Back from a show with 50 to 100 conversations, how do you manage everything from that specific exhibition?</a:t>
            </a:r>
            <a:endParaRPr lang="en-US" sz="1350" dirty="0"/>
          </a:p>
          <a:p>
            <a:pPr algn="l" marL="203200" indent="-203200">
              <a:spcAft>
                <a:spcPts val="900"/>
              </a:spcAft>
              <a:buSzPct val="100000"/>
              <a:buChar char="?"/>
            </a:pPr>
            <a:r>
              <a:rPr lang="en-US" sz="1350" dirty="0">
                <a:solidFill>
                  <a:srgbClr val="CBD5E1"/>
                </a:solidFill>
                <a:latin typeface="Calibri" pitchFamily="34" charset="0"/>
                <a:ea typeface="Calibri" pitchFamily="34" charset="-122"/>
                <a:cs typeface="Calibri" pitchFamily="34" charset="-120"/>
              </a:rPr>
              <a:t>How do you separate serious opportunities from casual conversations?</a:t>
            </a:r>
            <a:endParaRPr lang="en-US" sz="1350" dirty="0"/>
          </a:p>
          <a:p>
            <a:pPr algn="l" marL="203200" indent="-203200">
              <a:spcAft>
                <a:spcPts val="900"/>
              </a:spcAft>
              <a:buSzPct val="100000"/>
              <a:buChar char="?"/>
            </a:pPr>
            <a:r>
              <a:rPr lang="en-US" sz="1350" dirty="0">
                <a:solidFill>
                  <a:srgbClr val="CBD5E1"/>
                </a:solidFill>
                <a:latin typeface="Calibri" pitchFamily="34" charset="0"/>
                <a:ea typeface="Calibri" pitchFamily="34" charset="-122"/>
                <a:cs typeface="Calibri" pitchFamily="34" charset="-120"/>
              </a:rPr>
              <a:t>Six months on, can you trace a deal back to the exhibition it started at?</a:t>
            </a:r>
            <a:endParaRPr lang="en-US" sz="1350" dirty="0"/>
          </a:p>
        </p:txBody>
      </p:sp>
      <p:sp>
        <p:nvSpPr>
          <p:cNvPr id="12" name="Text 10"/>
          <p:cNvSpPr/>
          <p:nvPr/>
        </p:nvSpPr>
        <p:spPr>
          <a:xfrm>
            <a:off x="502920" y="6126480"/>
            <a:ext cx="10972800" cy="274320"/>
          </a:xfrm>
          <a:prstGeom prst="rect">
            <a:avLst/>
          </a:prstGeom>
          <a:noFill/>
          <a:ln/>
        </p:spPr>
        <p:txBody>
          <a:bodyPr wrap="square" lIns="0" tIns="0" rIns="0" bIns="0" rtlCol="0" anchor="ctr"/>
          <a:lstStyle/>
          <a:p>
            <a:pPr algn="l" indent="0" marL="0">
              <a:buNone/>
            </a:pPr>
            <a:r>
              <a:rPr lang="en-US" sz="1050" b="1" spc="120" kern="0" dirty="0">
                <a:solidFill>
                  <a:srgbClr val="64748B"/>
                </a:solidFill>
                <a:latin typeface="Calibri" pitchFamily="34" charset="0"/>
                <a:ea typeface="Calibri" pitchFamily="34" charset="-122"/>
                <a:cs typeface="Calibri" pitchFamily="34" charset="-120"/>
              </a:rPr>
              <a:t>WORKS ALONGSIDE  ·  SALESFORCE  ·  HUBSPOT  ·  ZOHO  ·  BIGIN  ·  PIPEDRIVE  ·  ODOO</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2026-08-08T08:53:30Z</dcterms:created>
  <dcterms:modified xsi:type="dcterms:W3CDTF">2026-08-08T08:53:30Z</dcterms:modified>
</cp:coreProperties>
</file>