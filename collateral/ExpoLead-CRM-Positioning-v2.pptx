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ExpoLead is not a CRM competitor. It sits alongside whatever CRM the prospect already runs (Salesforce, HubSpot, Zoho, Bigin, Pipedrive, Odoo) and owns only the exhibition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ExpoLead spans Before / During / After. The CRM is the long-term system for Ongoing Sales. They overlap deliberately at After (opportunities and follow-up). No hard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of work is different. A CRM organises around the contact and the deal. ExpoLead organises around the exhibition and everything it generates. It is the operational workspace around the show, not another contact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red X vs green tick. A CRM can be configured to do most rows. The differentiation is purpose-built design. Understanding exhibition outcomes is flagged as product direction, not a shipped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is not the CRM. It is business cards, WhatsApp, notebooks, photos, spreadsheets and memory scattered across the team. ExpoLead consolidates the exhibition layer into one structured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is exhibition intelligence: management can read the performance of each show and, over time, decide which exhibitions deserve future investment. Over-time and outcome views are flagged as product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reassurance: no rip-and-replace. ExpoLead owns only the exhibition layer and complements any CRM. Use the three discovery questions to open the conversation without telling the prospect their CRM is inadequate.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411480"/>
            <a:ext cx="20116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6156655" y="457200"/>
            <a:ext cx="5532120" cy="274320"/>
          </a:xfrm>
          <a:prstGeom prst="rect">
            <a:avLst/>
          </a:prstGeom>
          <a:noFill/>
          <a:ln/>
        </p:spPr>
        <p:txBody>
          <a:bodyPr wrap="square" lIns="0" tIns="0" rIns="0" bIns="0" rtlCol="0" anchor="ctr"/>
          <a:lstStyle/>
          <a:p>
            <a:pPr algn="r" indent="0" marL="0">
              <a:buNone/>
            </a:pPr>
            <a:r>
              <a:rPr lang="en-US" sz="1100" b="1" spc="150" kern="0" dirty="0">
                <a:solidFill>
                  <a:srgbClr val="94A3B8"/>
                </a:solidFill>
                <a:latin typeface="Calibri" pitchFamily="34" charset="0"/>
                <a:ea typeface="Calibri" pitchFamily="34" charset="-122"/>
                <a:cs typeface="Calibri" pitchFamily="34" charset="-120"/>
              </a:rPr>
              <a:t>POSITIONING  ·  FOR TEAMS WHO ALREADY USE A CRM</a:t>
            </a:r>
            <a:endParaRPr lang="en-US" sz="1100" dirty="0"/>
          </a:p>
        </p:txBody>
      </p:sp>
      <p:sp>
        <p:nvSpPr>
          <p:cNvPr id="8" name="Text 6"/>
          <p:cNvSpPr/>
          <p:nvPr/>
        </p:nvSpPr>
        <p:spPr>
          <a:xfrm>
            <a:off x="502920" y="1874520"/>
            <a:ext cx="8229600" cy="274320"/>
          </a:xfrm>
          <a:prstGeom prst="rect">
            <a:avLst/>
          </a:prstGeom>
          <a:noFill/>
          <a:ln/>
        </p:spPr>
        <p:txBody>
          <a:bodyPr wrap="square" lIns="0" tIns="0" rIns="0" bIns="0" rtlCol="0" anchor="ctr"/>
          <a:lstStyle/>
          <a:p>
            <a:pPr algn="l" indent="0" marL="0">
              <a:buNone/>
            </a:pPr>
            <a:r>
              <a:rPr lang="en-US" sz="1100" b="1" spc="220" kern="0" dirty="0">
                <a:solidFill>
                  <a:srgbClr val="34D399"/>
                </a:solidFill>
                <a:latin typeface="Calibri" pitchFamily="34" charset="0"/>
                <a:ea typeface="Calibri" pitchFamily="34" charset="-122"/>
                <a:cs typeface="Calibri" pitchFamily="34" charset="-120"/>
              </a:rPr>
              <a:t>TWO SYSTEMS. TWO DIFFERENT JOBS.</a:t>
            </a:r>
            <a:endParaRPr lang="en-US" sz="1100" dirty="0"/>
          </a:p>
        </p:txBody>
      </p:sp>
      <p:sp>
        <p:nvSpPr>
          <p:cNvPr id="9" name="Text 7"/>
          <p:cNvSpPr/>
          <p:nvPr/>
        </p:nvSpPr>
        <p:spPr>
          <a:xfrm>
            <a:off x="502920" y="2194560"/>
            <a:ext cx="1060704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libri" pitchFamily="34" charset="0"/>
                <a:ea typeface="Calibri" pitchFamily="34" charset="-122"/>
                <a:cs typeface="Calibri" pitchFamily="34" charset="-120"/>
              </a:rPr>
              <a:t>Your CRM manages the relationship.</a:t>
            </a:r>
            <a:endParaRPr lang="en-US" sz="4000" dirty="0"/>
          </a:p>
          <a:p>
            <a:pPr algn="l" indent="0" marL="0">
              <a:lnSpc>
                <a:spcPct val="102000"/>
              </a:lnSpc>
              <a:buNone/>
            </a:pPr>
            <a:r>
              <a:rPr lang="en-US" sz="4000" b="1" dirty="0">
                <a:solidFill>
                  <a:srgbClr val="34D399"/>
                </a:solidFill>
                <a:latin typeface="Calibri" pitchFamily="34" charset="0"/>
                <a:ea typeface="Calibri" pitchFamily="34" charset="-122"/>
                <a:cs typeface="Calibri" pitchFamily="34" charset="-120"/>
              </a:rPr>
              <a:t>ExpoLead manages the exhibition journey.</a:t>
            </a:r>
            <a:endParaRPr lang="en-US" sz="4000" dirty="0"/>
          </a:p>
        </p:txBody>
      </p:sp>
      <p:sp>
        <p:nvSpPr>
          <p:cNvPr id="10" name="Text 8"/>
          <p:cNvSpPr/>
          <p:nvPr/>
        </p:nvSpPr>
        <p:spPr>
          <a:xfrm>
            <a:off x="502920" y="3977640"/>
            <a:ext cx="8778240" cy="822960"/>
          </a:xfrm>
          <a:prstGeom prst="rect">
            <a:avLst/>
          </a:prstGeom>
          <a:noFill/>
          <a:ln/>
        </p:spPr>
        <p:txBody>
          <a:bodyPr wrap="square" lIns="0" tIns="0" rIns="0" bIns="0" rtlCol="0" anchor="t"/>
          <a:lstStyle/>
          <a:p>
            <a:pPr algn="l" indent="0" marL="0">
              <a:lnSpc>
                <a:spcPct val="115000"/>
              </a:lnSpc>
              <a:buNone/>
            </a:pPr>
            <a:r>
              <a:rPr lang="en-US" sz="1500" dirty="0">
                <a:solidFill>
                  <a:srgbClr val="CBD5E1"/>
                </a:solidFill>
                <a:latin typeface="Calibri" pitchFamily="34" charset="0"/>
                <a:ea typeface="Calibri" pitchFamily="34" charset="-122"/>
                <a:cs typeface="Calibri" pitchFamily="34" charset="-120"/>
              </a:rPr>
              <a:t>ExpoLead does not replace your CRM. It gives your exhibition team a purpose-built workspace for the part of the commercial journey that happens before, during and immediately after the show.</a:t>
            </a:r>
            <a:endParaRPr lang="en-US" sz="1500" dirty="0"/>
          </a:p>
        </p:txBody>
      </p:sp>
      <p:sp>
        <p:nvSpPr>
          <p:cNvPr id="11" name="Text 9"/>
          <p:cNvSpPr/>
          <p:nvPr/>
        </p:nvSpPr>
        <p:spPr>
          <a:xfrm>
            <a:off x="502920" y="5257800"/>
            <a:ext cx="8229600" cy="256032"/>
          </a:xfrm>
          <a:prstGeom prst="rect">
            <a:avLst/>
          </a:prstGeom>
          <a:noFill/>
          <a:ln/>
        </p:spPr>
        <p:txBody>
          <a:bodyPr wrap="square" lIns="0" tIns="0" rIns="0" bIns="0" rtlCol="0" anchor="ctr"/>
          <a:lstStyle/>
          <a:p>
            <a:pPr algn="l" indent="0" marL="0">
              <a:buNone/>
            </a:pPr>
            <a:r>
              <a:rPr lang="en-US" sz="1050" b="1" spc="150" kern="0" dirty="0">
                <a:solidFill>
                  <a:srgbClr val="34D399"/>
                </a:solidFill>
                <a:latin typeface="Calibri" pitchFamily="34" charset="0"/>
                <a:ea typeface="Calibri" pitchFamily="34" charset="-122"/>
                <a:cs typeface="Calibri" pitchFamily="34" charset="-120"/>
              </a:rPr>
              <a:t>WORKS ALONGSIDE THE CRM YOU ALREADY USE</a:t>
            </a:r>
            <a:endParaRPr lang="en-US" sz="1050" dirty="0"/>
          </a:p>
        </p:txBody>
      </p:sp>
      <p:sp>
        <p:nvSpPr>
          <p:cNvPr id="12" name="Shape 10"/>
          <p:cNvSpPr/>
          <p:nvPr/>
        </p:nvSpPr>
        <p:spPr>
          <a:xfrm>
            <a:off x="502920" y="5577840"/>
            <a:ext cx="1197864" cy="384048"/>
          </a:xfrm>
          <a:prstGeom prst="roundRect">
            <a:avLst>
              <a:gd name="adj" fmla="val 23810"/>
            </a:avLst>
          </a:prstGeom>
          <a:solidFill>
            <a:srgbClr val="1E293B"/>
          </a:solidFill>
          <a:ln w="12700">
            <a:solidFill>
              <a:srgbClr val="334155"/>
            </a:solidFill>
            <a:prstDash val="solid"/>
          </a:ln>
        </p:spPr>
      </p:sp>
      <p:sp>
        <p:nvSpPr>
          <p:cNvPr id="13" name="Text 11"/>
          <p:cNvSpPr/>
          <p:nvPr/>
        </p:nvSpPr>
        <p:spPr>
          <a:xfrm>
            <a:off x="502920" y="5577840"/>
            <a:ext cx="1197864"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Salesforce</a:t>
            </a:r>
            <a:endParaRPr lang="en-US" sz="1200" dirty="0"/>
          </a:p>
        </p:txBody>
      </p:sp>
      <p:sp>
        <p:nvSpPr>
          <p:cNvPr id="14" name="Shape 12"/>
          <p:cNvSpPr/>
          <p:nvPr/>
        </p:nvSpPr>
        <p:spPr>
          <a:xfrm>
            <a:off x="1847088" y="5577840"/>
            <a:ext cx="937260" cy="384048"/>
          </a:xfrm>
          <a:prstGeom prst="roundRect">
            <a:avLst>
              <a:gd name="adj" fmla="val 23810"/>
            </a:avLst>
          </a:prstGeom>
          <a:solidFill>
            <a:srgbClr val="1E293B"/>
          </a:solidFill>
          <a:ln w="12700">
            <a:solidFill>
              <a:srgbClr val="334155"/>
            </a:solidFill>
            <a:prstDash val="solid"/>
          </a:ln>
        </p:spPr>
      </p:sp>
      <p:sp>
        <p:nvSpPr>
          <p:cNvPr id="15" name="Text 13"/>
          <p:cNvSpPr/>
          <p:nvPr/>
        </p:nvSpPr>
        <p:spPr>
          <a:xfrm>
            <a:off x="1847088" y="5577840"/>
            <a:ext cx="937260"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HubSpot</a:t>
            </a:r>
            <a:endParaRPr lang="en-US" sz="1200" dirty="0"/>
          </a:p>
        </p:txBody>
      </p:sp>
      <p:sp>
        <p:nvSpPr>
          <p:cNvPr id="16" name="Shape 14"/>
          <p:cNvSpPr/>
          <p:nvPr/>
        </p:nvSpPr>
        <p:spPr>
          <a:xfrm>
            <a:off x="2930652" y="5577840"/>
            <a:ext cx="1024128" cy="384048"/>
          </a:xfrm>
          <a:prstGeom prst="roundRect">
            <a:avLst>
              <a:gd name="adj" fmla="val 23810"/>
            </a:avLst>
          </a:prstGeom>
          <a:solidFill>
            <a:srgbClr val="1E293B"/>
          </a:solidFill>
          <a:ln w="12700">
            <a:solidFill>
              <a:srgbClr val="334155"/>
            </a:solidFill>
            <a:prstDash val="solid"/>
          </a:ln>
        </p:spPr>
      </p:sp>
      <p:sp>
        <p:nvSpPr>
          <p:cNvPr id="17" name="Text 15"/>
          <p:cNvSpPr/>
          <p:nvPr/>
        </p:nvSpPr>
        <p:spPr>
          <a:xfrm>
            <a:off x="2930652" y="5577840"/>
            <a:ext cx="1024128"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Zoho CRM</a:t>
            </a:r>
            <a:endParaRPr lang="en-US" sz="1200" dirty="0"/>
          </a:p>
        </p:txBody>
      </p:sp>
      <p:sp>
        <p:nvSpPr>
          <p:cNvPr id="18" name="Shape 16"/>
          <p:cNvSpPr/>
          <p:nvPr/>
        </p:nvSpPr>
        <p:spPr>
          <a:xfrm>
            <a:off x="4101084" y="5577840"/>
            <a:ext cx="763524" cy="384048"/>
          </a:xfrm>
          <a:prstGeom prst="roundRect">
            <a:avLst>
              <a:gd name="adj" fmla="val 23810"/>
            </a:avLst>
          </a:prstGeom>
          <a:solidFill>
            <a:srgbClr val="1E293B"/>
          </a:solidFill>
          <a:ln w="12700">
            <a:solidFill>
              <a:srgbClr val="334155"/>
            </a:solidFill>
            <a:prstDash val="solid"/>
          </a:ln>
        </p:spPr>
      </p:sp>
      <p:sp>
        <p:nvSpPr>
          <p:cNvPr id="19" name="Text 17"/>
          <p:cNvSpPr/>
          <p:nvPr/>
        </p:nvSpPr>
        <p:spPr>
          <a:xfrm>
            <a:off x="4101084" y="5577840"/>
            <a:ext cx="763524"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Bigin</a:t>
            </a:r>
            <a:endParaRPr lang="en-US" sz="1200" dirty="0"/>
          </a:p>
        </p:txBody>
      </p:sp>
      <p:sp>
        <p:nvSpPr>
          <p:cNvPr id="20" name="Shape 18"/>
          <p:cNvSpPr/>
          <p:nvPr/>
        </p:nvSpPr>
        <p:spPr>
          <a:xfrm>
            <a:off x="5010912" y="5577840"/>
            <a:ext cx="1110996" cy="384048"/>
          </a:xfrm>
          <a:prstGeom prst="roundRect">
            <a:avLst>
              <a:gd name="adj" fmla="val 23810"/>
            </a:avLst>
          </a:prstGeom>
          <a:solidFill>
            <a:srgbClr val="1E293B"/>
          </a:solidFill>
          <a:ln w="12700">
            <a:solidFill>
              <a:srgbClr val="334155"/>
            </a:solidFill>
            <a:prstDash val="solid"/>
          </a:ln>
        </p:spPr>
      </p:sp>
      <p:sp>
        <p:nvSpPr>
          <p:cNvPr id="21" name="Text 19"/>
          <p:cNvSpPr/>
          <p:nvPr/>
        </p:nvSpPr>
        <p:spPr>
          <a:xfrm>
            <a:off x="5010912" y="5577840"/>
            <a:ext cx="1110996"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Pipedrive</a:t>
            </a:r>
            <a:endParaRPr lang="en-US" sz="1200" dirty="0"/>
          </a:p>
        </p:txBody>
      </p:sp>
      <p:sp>
        <p:nvSpPr>
          <p:cNvPr id="22" name="Shape 20"/>
          <p:cNvSpPr/>
          <p:nvPr/>
        </p:nvSpPr>
        <p:spPr>
          <a:xfrm>
            <a:off x="6268212" y="5577840"/>
            <a:ext cx="676656" cy="384048"/>
          </a:xfrm>
          <a:prstGeom prst="roundRect">
            <a:avLst>
              <a:gd name="adj" fmla="val 23810"/>
            </a:avLst>
          </a:prstGeom>
          <a:solidFill>
            <a:srgbClr val="1E293B"/>
          </a:solidFill>
          <a:ln w="12700">
            <a:solidFill>
              <a:srgbClr val="334155"/>
            </a:solidFill>
            <a:prstDash val="solid"/>
          </a:ln>
        </p:spPr>
      </p:sp>
      <p:sp>
        <p:nvSpPr>
          <p:cNvPr id="23" name="Text 21"/>
          <p:cNvSpPr/>
          <p:nvPr/>
        </p:nvSpPr>
        <p:spPr>
          <a:xfrm>
            <a:off x="6268212" y="5577840"/>
            <a:ext cx="676656" cy="38404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Odoo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COMMERCIAL WORKFLOW</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algn="l" indent="0" marL="0">
              <a:buNone/>
            </a:pPr>
            <a:r>
              <a:rPr lang="en-US" sz="2800" b="1" dirty="0">
                <a:solidFill>
                  <a:srgbClr val="0F172A"/>
                </a:solidFill>
                <a:latin typeface="Calibri" pitchFamily="34" charset="0"/>
                <a:ea typeface="Calibri" pitchFamily="34" charset="-122"/>
                <a:cs typeface="Calibri" pitchFamily="34" charset="-120"/>
              </a:rPr>
              <a:t>Where ExpoLead sits, and where your CRM takes over</a:t>
            </a:r>
            <a:endParaRPr lang="en-US" sz="2800" dirty="0"/>
          </a:p>
        </p:txBody>
      </p:sp>
      <p:sp>
        <p:nvSpPr>
          <p:cNvPr id="9" name="Shape 7"/>
          <p:cNvSpPr/>
          <p:nvPr/>
        </p:nvSpPr>
        <p:spPr>
          <a:xfrm>
            <a:off x="502920" y="2148840"/>
            <a:ext cx="8339099" cy="310896"/>
          </a:xfrm>
          <a:prstGeom prst="roundRect">
            <a:avLst>
              <a:gd name="adj" fmla="val 20588"/>
            </a:avLst>
          </a:prstGeom>
          <a:solidFill>
            <a:srgbClr val="ECFDF5"/>
          </a:solidFill>
          <a:ln/>
        </p:spPr>
      </p:sp>
      <p:sp>
        <p:nvSpPr>
          <p:cNvPr id="10" name="Text 8"/>
          <p:cNvSpPr/>
          <p:nvPr/>
        </p:nvSpPr>
        <p:spPr>
          <a:xfrm>
            <a:off x="612648" y="2148840"/>
            <a:ext cx="7936763" cy="310896"/>
          </a:xfrm>
          <a:prstGeom prst="rect">
            <a:avLst/>
          </a:prstGeom>
          <a:noFill/>
          <a:ln/>
        </p:spPr>
        <p:txBody>
          <a:bodyPr wrap="square" lIns="0" tIns="0" rIns="0" bIns="0" rtlCol="0" anchor="ctr"/>
          <a:lstStyle/>
          <a:p>
            <a:pPr algn="l" indent="0" marL="0">
              <a:buNone/>
            </a:pPr>
            <a:r>
              <a:rPr lang="en-US" sz="1050" b="1" spc="120" kern="0" dirty="0">
                <a:solidFill>
                  <a:srgbClr val="047857"/>
                </a:solidFill>
                <a:latin typeface="Calibri" pitchFamily="34" charset="0"/>
                <a:ea typeface="Calibri" pitchFamily="34" charset="-122"/>
                <a:cs typeface="Calibri" pitchFamily="34" charset="-120"/>
              </a:rPr>
              <a:t>EXPOLEAD OS  ·  THE EXHIBITION LAYER</a:t>
            </a:r>
            <a:endParaRPr lang="en-US" sz="1050" dirty="0"/>
          </a:p>
        </p:txBody>
      </p:sp>
      <p:sp>
        <p:nvSpPr>
          <p:cNvPr id="11" name="Shape 9"/>
          <p:cNvSpPr/>
          <p:nvPr/>
        </p:nvSpPr>
        <p:spPr>
          <a:xfrm>
            <a:off x="6196432" y="2532888"/>
            <a:ext cx="5492344" cy="310896"/>
          </a:xfrm>
          <a:prstGeom prst="roundRect">
            <a:avLst>
              <a:gd name="adj" fmla="val 20588"/>
            </a:avLst>
          </a:prstGeom>
          <a:solidFill>
            <a:srgbClr val="F1F5F9"/>
          </a:solidFill>
          <a:ln/>
        </p:spPr>
      </p:sp>
      <p:sp>
        <p:nvSpPr>
          <p:cNvPr id="12" name="Text 10"/>
          <p:cNvSpPr/>
          <p:nvPr/>
        </p:nvSpPr>
        <p:spPr>
          <a:xfrm>
            <a:off x="6306160" y="2532888"/>
            <a:ext cx="5291176" cy="310896"/>
          </a:xfrm>
          <a:prstGeom prst="rect">
            <a:avLst/>
          </a:prstGeom>
          <a:noFill/>
          <a:ln/>
        </p:spPr>
        <p:txBody>
          <a:bodyPr wrap="square" lIns="0" tIns="0" rIns="0" bIns="0" rtlCol="0" anchor="ctr"/>
          <a:lstStyle/>
          <a:p>
            <a:pPr algn="l" indent="0" marL="0">
              <a:buNone/>
            </a:pPr>
            <a:r>
              <a:rPr lang="en-US" sz="1050" b="1" spc="120" kern="0" dirty="0">
                <a:solidFill>
                  <a:srgbClr val="475569"/>
                </a:solidFill>
                <a:latin typeface="Calibri" pitchFamily="34" charset="0"/>
                <a:ea typeface="Calibri" pitchFamily="34" charset="-122"/>
                <a:cs typeface="Calibri" pitchFamily="34" charset="-120"/>
              </a:rPr>
              <a:t>YOUR CRM  ·  THE RELATIONSHIP LAYER</a:t>
            </a:r>
            <a:endParaRPr lang="en-US" sz="1050" dirty="0"/>
          </a:p>
        </p:txBody>
      </p:sp>
      <p:sp>
        <p:nvSpPr>
          <p:cNvPr id="13" name="Shape 11"/>
          <p:cNvSpPr/>
          <p:nvPr/>
        </p:nvSpPr>
        <p:spPr>
          <a:xfrm>
            <a:off x="502920"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14" name="Text 12"/>
          <p:cNvSpPr/>
          <p:nvPr/>
        </p:nvSpPr>
        <p:spPr>
          <a:xfrm>
            <a:off x="704088"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01</a:t>
            </a:r>
            <a:endParaRPr lang="en-US" sz="1100" dirty="0"/>
          </a:p>
        </p:txBody>
      </p:sp>
      <p:sp>
        <p:nvSpPr>
          <p:cNvPr id="15" name="Text 13"/>
          <p:cNvSpPr/>
          <p:nvPr/>
        </p:nvSpPr>
        <p:spPr>
          <a:xfrm>
            <a:off x="704088"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Before expo</a:t>
            </a:r>
            <a:endParaRPr lang="en-US" sz="1600" dirty="0"/>
          </a:p>
        </p:txBody>
      </p:sp>
      <p:sp>
        <p:nvSpPr>
          <p:cNvPr id="16" name="Text 14"/>
          <p:cNvSpPr/>
          <p:nvPr/>
        </p:nvSpPr>
        <p:spPr>
          <a:xfrm>
            <a:off x="704088"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PLAN</a:t>
            </a:r>
            <a:endParaRPr lang="en-US" sz="1050" dirty="0"/>
          </a:p>
        </p:txBody>
      </p:sp>
      <p:sp>
        <p:nvSpPr>
          <p:cNvPr id="17" name="Text 15"/>
          <p:cNvSpPr/>
          <p:nvPr/>
        </p:nvSpPr>
        <p:spPr>
          <a:xfrm>
            <a:off x="704088"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targets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companies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Prioritise booths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Prepare objectives</a:t>
            </a:r>
            <a:endParaRPr lang="en-US" sz="1150" dirty="0"/>
          </a:p>
        </p:txBody>
      </p:sp>
      <p:sp>
        <p:nvSpPr>
          <p:cNvPr id="18" name="Shape 16"/>
          <p:cNvSpPr/>
          <p:nvPr/>
        </p:nvSpPr>
        <p:spPr>
          <a:xfrm>
            <a:off x="3349676"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19" name="Text 17"/>
          <p:cNvSpPr/>
          <p:nvPr/>
        </p:nvSpPr>
        <p:spPr>
          <a:xfrm>
            <a:off x="3550844"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02</a:t>
            </a:r>
            <a:endParaRPr lang="en-US" sz="1100" dirty="0"/>
          </a:p>
        </p:txBody>
      </p:sp>
      <p:sp>
        <p:nvSpPr>
          <p:cNvPr id="20" name="Text 18"/>
          <p:cNvSpPr/>
          <p:nvPr/>
        </p:nvSpPr>
        <p:spPr>
          <a:xfrm>
            <a:off x="3550844"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During expo</a:t>
            </a:r>
            <a:endParaRPr lang="en-US" sz="1600" dirty="0"/>
          </a:p>
        </p:txBody>
      </p:sp>
      <p:sp>
        <p:nvSpPr>
          <p:cNvPr id="21" name="Text 19"/>
          <p:cNvSpPr/>
          <p:nvPr/>
        </p:nvSpPr>
        <p:spPr>
          <a:xfrm>
            <a:off x="3550844"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CAPTURE</a:t>
            </a:r>
            <a:endParaRPr lang="en-US" sz="1050" dirty="0"/>
          </a:p>
        </p:txBody>
      </p:sp>
      <p:sp>
        <p:nvSpPr>
          <p:cNvPr id="22" name="Text 20"/>
          <p:cNvSpPr/>
          <p:nvPr/>
        </p:nvSpPr>
        <p:spPr>
          <a:xfrm>
            <a:off x="3550844"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Record conversations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Identify opportunities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Set priorities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Note next actions</a:t>
            </a:r>
            <a:endParaRPr lang="en-US" sz="1150" dirty="0"/>
          </a:p>
        </p:txBody>
      </p:sp>
      <p:sp>
        <p:nvSpPr>
          <p:cNvPr id="23" name="Shape 21"/>
          <p:cNvSpPr/>
          <p:nvPr/>
        </p:nvSpPr>
        <p:spPr>
          <a:xfrm>
            <a:off x="6196432" y="2971800"/>
            <a:ext cx="2645588" cy="3063240"/>
          </a:xfrm>
          <a:prstGeom prst="roundRect">
            <a:avLst>
              <a:gd name="adj" fmla="val 3111"/>
            </a:avLst>
          </a:prstGeom>
          <a:solidFill>
            <a:srgbClr val="FFFFFF"/>
          </a:solidFill>
          <a:ln w="15240">
            <a:solidFill>
              <a:srgbClr val="D1FAE5"/>
            </a:solidFill>
            <a:prstDash val="solid"/>
          </a:ln>
          <a:effectLst>
            <a:outerShdw sx="100000" sy="100000" kx="0" ky="0" algn="bl" rotWithShape="0" blurRad="76200" dist="25400" dir="5400000">
              <a:srgbClr val="101018">
                <a:alpha val="6000"/>
              </a:srgbClr>
            </a:outerShdw>
          </a:effectLst>
        </p:spPr>
      </p:sp>
      <p:sp>
        <p:nvSpPr>
          <p:cNvPr id="24" name="Text 22"/>
          <p:cNvSpPr/>
          <p:nvPr/>
        </p:nvSpPr>
        <p:spPr>
          <a:xfrm>
            <a:off x="6397600"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397600"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After expo</a:t>
            </a:r>
            <a:endParaRPr lang="en-US" sz="1600" dirty="0"/>
          </a:p>
        </p:txBody>
      </p:sp>
      <p:sp>
        <p:nvSpPr>
          <p:cNvPr id="26" name="Text 24"/>
          <p:cNvSpPr/>
          <p:nvPr/>
        </p:nvSpPr>
        <p:spPr>
          <a:xfrm>
            <a:off x="6397600" y="3685032"/>
            <a:ext cx="2279828" cy="237744"/>
          </a:xfrm>
          <a:prstGeom prst="rect">
            <a:avLst/>
          </a:prstGeom>
          <a:noFill/>
          <a:ln/>
        </p:spPr>
        <p:txBody>
          <a:bodyPr wrap="square" lIns="0" tIns="0" rIns="0" bIns="0" rtlCol="0" anchor="ctr"/>
          <a:lstStyle/>
          <a:p>
            <a:pPr indent="0" marL="0">
              <a:buNone/>
            </a:pPr>
            <a:r>
              <a:rPr lang="en-US" sz="1050" b="1" spc="100" kern="0" dirty="0">
                <a:solidFill>
                  <a:srgbClr val="059669"/>
                </a:solidFill>
                <a:latin typeface="Calibri" pitchFamily="34" charset="0"/>
                <a:ea typeface="Calibri" pitchFamily="34" charset="-122"/>
                <a:cs typeface="Calibri" pitchFamily="34" charset="-120"/>
              </a:rPr>
              <a:t>CONVERT</a:t>
            </a:r>
            <a:endParaRPr lang="en-US" sz="1050" dirty="0"/>
          </a:p>
        </p:txBody>
      </p:sp>
      <p:sp>
        <p:nvSpPr>
          <p:cNvPr id="27" name="Text 25"/>
          <p:cNvSpPr/>
          <p:nvPr/>
        </p:nvSpPr>
        <p:spPr>
          <a:xfrm>
            <a:off x="6397600"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Follow up</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Track commitments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Progress opportunities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Read exhibition outcomes</a:t>
            </a:r>
            <a:endParaRPr lang="en-US" sz="1150" dirty="0"/>
          </a:p>
        </p:txBody>
      </p:sp>
      <p:sp>
        <p:nvSpPr>
          <p:cNvPr id="28" name="Shape 26"/>
          <p:cNvSpPr/>
          <p:nvPr/>
        </p:nvSpPr>
        <p:spPr>
          <a:xfrm>
            <a:off x="9043187" y="2971800"/>
            <a:ext cx="2645588" cy="3063240"/>
          </a:xfrm>
          <a:prstGeom prst="roundRect">
            <a:avLst>
              <a:gd name="adj" fmla="val 3111"/>
            </a:avLst>
          </a:prstGeom>
          <a:solidFill>
            <a:srgbClr val="F8FAFC"/>
          </a:solidFill>
          <a:ln w="15240">
            <a:solidFill>
              <a:srgbClr val="E2E8F0"/>
            </a:solidFill>
            <a:prstDash val="solid"/>
          </a:ln>
          <a:effectLst>
            <a:outerShdw sx="100000" sy="100000" kx="0" ky="0" algn="bl" rotWithShape="0" blurRad="76200" dist="25400" dir="5400000">
              <a:srgbClr val="101018">
                <a:alpha val="6000"/>
              </a:srgbClr>
            </a:outerShdw>
          </a:effectLst>
        </p:spPr>
      </p:sp>
      <p:sp>
        <p:nvSpPr>
          <p:cNvPr id="29" name="Text 27"/>
          <p:cNvSpPr/>
          <p:nvPr/>
        </p:nvSpPr>
        <p:spPr>
          <a:xfrm>
            <a:off x="9244355" y="3118104"/>
            <a:ext cx="914400" cy="219456"/>
          </a:xfrm>
          <a:prstGeom prst="rect">
            <a:avLst/>
          </a:prstGeom>
          <a:noFill/>
          <a:ln/>
        </p:spPr>
        <p:txBody>
          <a:bodyPr wrap="square" lIns="0" tIns="0" rIns="0" bIns="0" rtlCol="0" anchor="ctr"/>
          <a:lstStyle/>
          <a:p>
            <a:pPr indent="0" marL="0">
              <a:buNone/>
            </a:pPr>
            <a:r>
              <a:rPr lang="en-US" sz="1100" b="1" spc="100" kern="0" dirty="0">
                <a:solidFill>
                  <a:srgbClr val="CBD5E1"/>
                </a:solidFill>
                <a:latin typeface="Calibri" pitchFamily="34" charset="0"/>
                <a:ea typeface="Calibri" pitchFamily="34" charset="-122"/>
                <a:cs typeface="Calibri" pitchFamily="34" charset="-120"/>
              </a:rPr>
              <a:t>04</a:t>
            </a:r>
            <a:endParaRPr lang="en-US" sz="1100" dirty="0"/>
          </a:p>
        </p:txBody>
      </p:sp>
      <p:sp>
        <p:nvSpPr>
          <p:cNvPr id="30" name="Text 28"/>
          <p:cNvSpPr/>
          <p:nvPr/>
        </p:nvSpPr>
        <p:spPr>
          <a:xfrm>
            <a:off x="9244355" y="3337560"/>
            <a:ext cx="2279828" cy="329184"/>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Ongoing sales</a:t>
            </a:r>
            <a:endParaRPr lang="en-US" sz="1600" dirty="0"/>
          </a:p>
        </p:txBody>
      </p:sp>
      <p:sp>
        <p:nvSpPr>
          <p:cNvPr id="31" name="Text 29"/>
          <p:cNvSpPr/>
          <p:nvPr/>
        </p:nvSpPr>
        <p:spPr>
          <a:xfrm>
            <a:off x="9244355" y="3685032"/>
            <a:ext cx="2279828" cy="237744"/>
          </a:xfrm>
          <a:prstGeom prst="rect">
            <a:avLst/>
          </a:prstGeom>
          <a:noFill/>
          <a:ln/>
        </p:spPr>
        <p:txBody>
          <a:bodyPr wrap="square" lIns="0" tIns="0" rIns="0" bIns="0" rtlCol="0" anchor="ctr"/>
          <a:lstStyle/>
          <a:p>
            <a:pPr indent="0" marL="0">
              <a:buNone/>
            </a:pPr>
            <a:r>
              <a:rPr lang="en-US" sz="1050" b="1" spc="100" kern="0" dirty="0">
                <a:solidFill>
                  <a:srgbClr val="64748B"/>
                </a:solidFill>
                <a:latin typeface="Calibri" pitchFamily="34" charset="0"/>
                <a:ea typeface="Calibri" pitchFamily="34" charset="-122"/>
                <a:cs typeface="Calibri" pitchFamily="34" charset="-120"/>
              </a:rPr>
              <a:t>MANAGE · CRM</a:t>
            </a:r>
            <a:endParaRPr lang="en-US" sz="1050" dirty="0"/>
          </a:p>
        </p:txBody>
      </p:sp>
      <p:sp>
        <p:nvSpPr>
          <p:cNvPr id="32" name="Text 30"/>
          <p:cNvSpPr/>
          <p:nvPr/>
        </p:nvSpPr>
        <p:spPr>
          <a:xfrm>
            <a:off x="9244355" y="4023360"/>
            <a:ext cx="2261540" cy="1874520"/>
          </a:xfrm>
          <a:prstGeom prst="rect">
            <a:avLst/>
          </a:prstGeom>
          <a:noFill/>
          <a:ln/>
        </p:spPr>
        <p:txBody>
          <a:bodyPr wrap="square" lIns="0" tIns="0" rIns="0" bIns="0" rtlCol="0" anchor="t"/>
          <a:lstStyle/>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Contacts &amp; accounts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Deals &amp; pipeline</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Activities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Customer relationships</a:t>
            </a:r>
            <a:endParaRPr lang="en-US" sz="1150" dirty="0"/>
          </a:p>
          <a:p>
            <a:pPr algn="l" marL="139700" indent="-139700">
              <a:spcAft>
                <a:spcPts val="500"/>
              </a:spcAft>
              <a:buSzPct val="100000"/>
              <a:buChar char="•"/>
            </a:pPr>
            <a:r>
              <a:rPr lang="en-US" sz="1150" dirty="0">
                <a:solidFill>
                  <a:srgbClr val="334155"/>
                </a:solidFill>
                <a:latin typeface="Calibri" pitchFamily="34" charset="0"/>
                <a:ea typeface="Calibri" pitchFamily="34" charset="-122"/>
                <a:cs typeface="Calibri" pitchFamily="34" charset="-120"/>
              </a:rPr>
              <a:t>Revenue</a:t>
            </a:r>
            <a:endParaRPr lang="en-US" sz="1150" dirty="0"/>
          </a:p>
        </p:txBody>
      </p:sp>
      <p:sp>
        <p:nvSpPr>
          <p:cNvPr id="33" name="Shape 31"/>
          <p:cNvSpPr/>
          <p:nvPr/>
        </p:nvSpPr>
        <p:spPr>
          <a:xfrm>
            <a:off x="6397600" y="5650992"/>
            <a:ext cx="2243252" cy="274320"/>
          </a:xfrm>
          <a:prstGeom prst="roundRect">
            <a:avLst>
              <a:gd name="adj" fmla="val 26667"/>
            </a:avLst>
          </a:prstGeom>
          <a:solidFill>
            <a:srgbClr val="ECFDF5"/>
          </a:solidFill>
          <a:ln w="12700">
            <a:solidFill>
              <a:srgbClr val="34D399"/>
            </a:solidFill>
            <a:prstDash val="dash"/>
          </a:ln>
        </p:spPr>
      </p:sp>
      <p:sp>
        <p:nvSpPr>
          <p:cNvPr id="34" name="Text 32"/>
          <p:cNvSpPr/>
          <p:nvPr/>
        </p:nvSpPr>
        <p:spPr>
          <a:xfrm>
            <a:off x="6397600" y="5650992"/>
            <a:ext cx="2243252" cy="274320"/>
          </a:xfrm>
          <a:prstGeom prst="rect">
            <a:avLst/>
          </a:prstGeom>
          <a:noFill/>
          <a:ln/>
        </p:spPr>
        <p:txBody>
          <a:bodyPr wrap="square" lIns="0" tIns="0" rIns="0" bIns="0" rtlCol="0" anchor="ctr"/>
          <a:lstStyle/>
          <a:p>
            <a:pPr algn="ctr" indent="0" marL="0">
              <a:buNone/>
            </a:pPr>
            <a:r>
              <a:rPr lang="en-US" sz="850" b="1" dirty="0">
                <a:solidFill>
                  <a:srgbClr val="047857"/>
                </a:solidFill>
                <a:latin typeface="Calibri" pitchFamily="34" charset="0"/>
                <a:ea typeface="Calibri" pitchFamily="34" charset="-122"/>
                <a:cs typeface="Calibri" pitchFamily="34" charset="-120"/>
              </a:rPr>
              <a:t>SHARED GROUND · OPPORTUNITIES &amp; FOLLOW-UP</a:t>
            </a:r>
            <a:endParaRPr lang="en-US" sz="850" dirty="0"/>
          </a:p>
        </p:txBody>
      </p:sp>
      <p:sp>
        <p:nvSpPr>
          <p:cNvPr id="35" name="Text 33"/>
          <p:cNvSpPr/>
          <p:nvPr/>
        </p:nvSpPr>
        <p:spPr>
          <a:xfrm>
            <a:off x="502920" y="6355080"/>
            <a:ext cx="10972800" cy="32004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Some overlap is intentional. Both systems touch opportunities and follow-up. The difference is which job each was built to do.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CONCEPTUAL DIFFERENCE</a:t>
            </a:r>
            <a:endParaRPr lang="en-US" sz="1100" dirty="0"/>
          </a:p>
        </p:txBody>
      </p:sp>
      <p:sp>
        <p:nvSpPr>
          <p:cNvPr id="8" name="Text 6"/>
          <p:cNvSpPr/>
          <p:nvPr/>
        </p:nvSpPr>
        <p:spPr>
          <a:xfrm>
            <a:off x="502920" y="1325880"/>
            <a:ext cx="10972800" cy="54864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A CRM is built around records. ExpoLead is built around the exhibition.</a:t>
            </a:r>
            <a:endParaRPr lang="en-US" sz="2600" dirty="0"/>
          </a:p>
        </p:txBody>
      </p:sp>
      <p:sp>
        <p:nvSpPr>
          <p:cNvPr id="9" name="Shape 7"/>
          <p:cNvSpPr/>
          <p:nvPr/>
        </p:nvSpPr>
        <p:spPr>
          <a:xfrm>
            <a:off x="502920" y="2103120"/>
            <a:ext cx="11185855" cy="1051560"/>
          </a:xfrm>
          <a:prstGeom prst="roundRect">
            <a:avLst>
              <a:gd name="adj" fmla="val 8696"/>
            </a:avLst>
          </a:prstGeom>
          <a:solidFill>
            <a:srgbClr val="0F172A"/>
          </a:solidFill>
          <a:ln/>
        </p:spPr>
      </p:sp>
      <p:sp>
        <p:nvSpPr>
          <p:cNvPr id="10" name="Text 8"/>
          <p:cNvSpPr/>
          <p:nvPr/>
        </p:nvSpPr>
        <p:spPr>
          <a:xfrm>
            <a:off x="822960" y="2103120"/>
            <a:ext cx="10545775" cy="1051560"/>
          </a:xfrm>
          <a:prstGeom prst="rect">
            <a:avLst/>
          </a:prstGeom>
          <a:noFill/>
          <a:ln/>
        </p:spPr>
        <p:txBody>
          <a:bodyPr wrap="square" lIns="0" tIns="0" rIns="0" bIns="0" rtlCol="0" anchor="ctr"/>
          <a:lstStyle/>
          <a:p>
            <a:pPr algn="l" indent="0" marL="0">
              <a:lnSpc>
                <a:spcPct val="115000"/>
              </a:lnSpc>
              <a:buNone/>
            </a:pPr>
            <a:r>
              <a:rPr lang="en-US" sz="1400" b="1" dirty="0">
                <a:solidFill>
                  <a:srgbClr val="FFFFFF"/>
                </a:solidFill>
                <a:latin typeface="Calibri" pitchFamily="34" charset="0"/>
                <a:ea typeface="Calibri" pitchFamily="34" charset="-122"/>
                <a:cs typeface="Calibri" pitchFamily="34" charset="-120"/>
              </a:rPr>
              <a:t>CRM systems are excellent at managing structured customer and sales data over time. </a:t>
            </a:r>
            <a:pPr algn="l" indent="0" marL="0">
              <a:lnSpc>
                <a:spcPct val="115000"/>
              </a:lnSpc>
              <a:buNone/>
            </a:pPr>
            <a:r>
              <a:rPr lang="en-US" sz="1400" dirty="0">
                <a:solidFill>
                  <a:srgbClr val="CBD5E1"/>
                </a:solidFill>
                <a:latin typeface="Calibri" pitchFamily="34" charset="0"/>
                <a:ea typeface="Calibri" pitchFamily="34" charset="-122"/>
                <a:cs typeface="Calibri" pitchFamily="34" charset="-120"/>
              </a:rPr>
              <a:t>ExpoLead is purpose-built for the high-volume, fast-moving environment of exhibitions, helping teams organise what they want to achieve before the show, capture what happens on the floor, and turn conversations into structured opportunities and actions immediately afterwards.</a:t>
            </a:r>
            <a:endParaRPr lang="en-US" sz="1400" dirty="0"/>
          </a:p>
        </p:txBody>
      </p:sp>
      <p:sp>
        <p:nvSpPr>
          <p:cNvPr id="11" name="Shape 9"/>
          <p:cNvSpPr/>
          <p:nvPr/>
        </p:nvSpPr>
        <p:spPr>
          <a:xfrm>
            <a:off x="502920" y="3520440"/>
            <a:ext cx="11185855" cy="1097280"/>
          </a:xfrm>
          <a:prstGeom prst="roundRect">
            <a:avLst>
              <a:gd name="adj" fmla="val 8333"/>
            </a:avLst>
          </a:prstGeom>
          <a:solidFill>
            <a:srgbClr val="F8FAFC"/>
          </a:solidFill>
          <a:ln w="12700">
            <a:solidFill>
              <a:srgbClr val="E2E8F0"/>
            </a:solidFill>
            <a:prstDash val="solid"/>
          </a:ln>
        </p:spPr>
      </p:sp>
      <p:sp>
        <p:nvSpPr>
          <p:cNvPr id="12" name="Text 10"/>
          <p:cNvSpPr/>
          <p:nvPr/>
        </p:nvSpPr>
        <p:spPr>
          <a:xfrm>
            <a:off x="777240" y="3657600"/>
            <a:ext cx="7315200" cy="256032"/>
          </a:xfrm>
          <a:prstGeom prst="rect">
            <a:avLst/>
          </a:prstGeom>
          <a:noFill/>
          <a:ln/>
        </p:spPr>
        <p:txBody>
          <a:bodyPr wrap="square" lIns="0" tIns="0" rIns="0" bIns="0" rtlCol="0" anchor="ctr"/>
          <a:lstStyle/>
          <a:p>
            <a:pPr indent="0" marL="0">
              <a:buNone/>
            </a:pPr>
            <a:r>
              <a:rPr lang="en-US" sz="1100" b="1" spc="120" kern="0" dirty="0">
                <a:solidFill>
                  <a:srgbClr val="64748B"/>
                </a:solidFill>
                <a:latin typeface="Calibri" pitchFamily="34" charset="0"/>
                <a:ea typeface="Calibri" pitchFamily="34" charset="-122"/>
                <a:cs typeface="Calibri" pitchFamily="34" charset="-120"/>
              </a:rPr>
              <a:t>CRM IS PRIMARILY RECORD-CENTRIC</a:t>
            </a:r>
            <a:endParaRPr lang="en-US" sz="1100" dirty="0"/>
          </a:p>
        </p:txBody>
      </p:sp>
      <p:sp>
        <p:nvSpPr>
          <p:cNvPr id="13" name="Shape 11"/>
          <p:cNvSpPr/>
          <p:nvPr/>
        </p:nvSpPr>
        <p:spPr>
          <a:xfrm>
            <a:off x="777240" y="4041648"/>
            <a:ext cx="627278" cy="310896"/>
          </a:xfrm>
          <a:prstGeom prst="roundRect">
            <a:avLst>
              <a:gd name="adj" fmla="val 17647"/>
            </a:avLst>
          </a:prstGeom>
          <a:solidFill>
            <a:srgbClr val="FFFFFF"/>
          </a:solidFill>
          <a:ln w="12700">
            <a:solidFill>
              <a:srgbClr val="E2E8F0"/>
            </a:solidFill>
            <a:prstDash val="solid"/>
          </a:ln>
        </p:spPr>
      </p:sp>
      <p:sp>
        <p:nvSpPr>
          <p:cNvPr id="14" name="Text 12"/>
          <p:cNvSpPr/>
          <p:nvPr/>
        </p:nvSpPr>
        <p:spPr>
          <a:xfrm>
            <a:off x="777240" y="4041648"/>
            <a:ext cx="627278"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Contact</a:t>
            </a:r>
            <a:endParaRPr lang="en-US" sz="1050" dirty="0"/>
          </a:p>
        </p:txBody>
      </p:sp>
      <p:sp>
        <p:nvSpPr>
          <p:cNvPr id="15" name="Text 13"/>
          <p:cNvSpPr/>
          <p:nvPr/>
        </p:nvSpPr>
        <p:spPr>
          <a:xfrm>
            <a:off x="1404518"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1678838" y="4041648"/>
            <a:ext cx="627278" cy="310896"/>
          </a:xfrm>
          <a:prstGeom prst="roundRect">
            <a:avLst>
              <a:gd name="adj" fmla="val 17647"/>
            </a:avLst>
          </a:prstGeom>
          <a:solidFill>
            <a:srgbClr val="FFFFFF"/>
          </a:solidFill>
          <a:ln w="12700">
            <a:solidFill>
              <a:srgbClr val="E2E8F0"/>
            </a:solidFill>
            <a:prstDash val="solid"/>
          </a:ln>
        </p:spPr>
      </p:sp>
      <p:sp>
        <p:nvSpPr>
          <p:cNvPr id="17" name="Text 15"/>
          <p:cNvSpPr/>
          <p:nvPr/>
        </p:nvSpPr>
        <p:spPr>
          <a:xfrm>
            <a:off x="1678838" y="4041648"/>
            <a:ext cx="627278"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Company</a:t>
            </a:r>
            <a:endParaRPr lang="en-US" sz="1050" dirty="0"/>
          </a:p>
        </p:txBody>
      </p:sp>
      <p:sp>
        <p:nvSpPr>
          <p:cNvPr id="18" name="Text 16"/>
          <p:cNvSpPr/>
          <p:nvPr/>
        </p:nvSpPr>
        <p:spPr>
          <a:xfrm>
            <a:off x="2306117"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2580437" y="4041648"/>
            <a:ext cx="413309" cy="310896"/>
          </a:xfrm>
          <a:prstGeom prst="roundRect">
            <a:avLst>
              <a:gd name="adj" fmla="val 17647"/>
            </a:avLst>
          </a:prstGeom>
          <a:solidFill>
            <a:srgbClr val="FFFFFF"/>
          </a:solidFill>
          <a:ln w="12700">
            <a:solidFill>
              <a:srgbClr val="E2E8F0"/>
            </a:solidFill>
            <a:prstDash val="solid"/>
          </a:ln>
        </p:spPr>
      </p:sp>
      <p:sp>
        <p:nvSpPr>
          <p:cNvPr id="20" name="Text 18"/>
          <p:cNvSpPr/>
          <p:nvPr/>
        </p:nvSpPr>
        <p:spPr>
          <a:xfrm>
            <a:off x="2580437" y="4041648"/>
            <a:ext cx="413309"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Deal</a:t>
            </a:r>
            <a:endParaRPr lang="en-US" sz="1050" dirty="0"/>
          </a:p>
        </p:txBody>
      </p:sp>
      <p:sp>
        <p:nvSpPr>
          <p:cNvPr id="21" name="Text 19"/>
          <p:cNvSpPr/>
          <p:nvPr/>
        </p:nvSpPr>
        <p:spPr>
          <a:xfrm>
            <a:off x="2993746"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3268066" y="4041648"/>
            <a:ext cx="698602" cy="310896"/>
          </a:xfrm>
          <a:prstGeom prst="roundRect">
            <a:avLst>
              <a:gd name="adj" fmla="val 17647"/>
            </a:avLst>
          </a:prstGeom>
          <a:solidFill>
            <a:srgbClr val="FFFFFF"/>
          </a:solidFill>
          <a:ln w="12700">
            <a:solidFill>
              <a:srgbClr val="E2E8F0"/>
            </a:solidFill>
            <a:prstDash val="solid"/>
          </a:ln>
        </p:spPr>
      </p:sp>
      <p:sp>
        <p:nvSpPr>
          <p:cNvPr id="23" name="Text 21"/>
          <p:cNvSpPr/>
          <p:nvPr/>
        </p:nvSpPr>
        <p:spPr>
          <a:xfrm>
            <a:off x="3268066" y="4041648"/>
            <a:ext cx="698602"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Activity</a:t>
            </a:r>
            <a:endParaRPr lang="en-US" sz="1050" dirty="0"/>
          </a:p>
        </p:txBody>
      </p:sp>
      <p:sp>
        <p:nvSpPr>
          <p:cNvPr id="24" name="Text 22"/>
          <p:cNvSpPr/>
          <p:nvPr/>
        </p:nvSpPr>
        <p:spPr>
          <a:xfrm>
            <a:off x="3966667" y="4041648"/>
            <a:ext cx="274320" cy="310896"/>
          </a:xfrm>
          <a:prstGeom prst="rect">
            <a:avLst/>
          </a:prstGeom>
          <a:noFill/>
          <a:ln/>
        </p:spPr>
        <p:txBody>
          <a:bodyPr wrap="square" lIns="0" tIns="0" rIns="0" bIns="0" rtlCol="0" anchor="ctr"/>
          <a:lstStyle/>
          <a:p>
            <a:pPr algn="ctr" indent="0" marL="0">
              <a:buNone/>
            </a:pPr>
            <a:r>
              <a:rPr lang="en-US" sz="1300" b="1" dirty="0">
                <a:solidFill>
                  <a:srgbClr val="E2E8F0"/>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4240987" y="4041648"/>
            <a:ext cx="698602" cy="310896"/>
          </a:xfrm>
          <a:prstGeom prst="roundRect">
            <a:avLst>
              <a:gd name="adj" fmla="val 17647"/>
            </a:avLst>
          </a:prstGeom>
          <a:solidFill>
            <a:srgbClr val="FFFFFF"/>
          </a:solidFill>
          <a:ln w="12700">
            <a:solidFill>
              <a:srgbClr val="E2E8F0"/>
            </a:solidFill>
            <a:prstDash val="solid"/>
          </a:ln>
        </p:spPr>
      </p:sp>
      <p:sp>
        <p:nvSpPr>
          <p:cNvPr id="26" name="Text 24"/>
          <p:cNvSpPr/>
          <p:nvPr/>
        </p:nvSpPr>
        <p:spPr>
          <a:xfrm>
            <a:off x="4240987" y="4041648"/>
            <a:ext cx="698602" cy="310896"/>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Pipeline</a:t>
            </a:r>
            <a:endParaRPr lang="en-US" sz="1050" dirty="0"/>
          </a:p>
        </p:txBody>
      </p:sp>
      <p:sp>
        <p:nvSpPr>
          <p:cNvPr id="27" name="Shape 25"/>
          <p:cNvSpPr/>
          <p:nvPr/>
        </p:nvSpPr>
        <p:spPr>
          <a:xfrm>
            <a:off x="502920" y="4800600"/>
            <a:ext cx="11185855" cy="1508760"/>
          </a:xfrm>
          <a:prstGeom prst="roundRect">
            <a:avLst>
              <a:gd name="adj" fmla="val 6061"/>
            </a:avLst>
          </a:prstGeom>
          <a:solidFill>
            <a:srgbClr val="ECFDF5"/>
          </a:solidFill>
          <a:ln w="12700">
            <a:solidFill>
              <a:srgbClr val="D1FAE5"/>
            </a:solidFill>
            <a:prstDash val="solid"/>
          </a:ln>
        </p:spPr>
      </p:sp>
      <p:sp>
        <p:nvSpPr>
          <p:cNvPr id="28" name="Text 26"/>
          <p:cNvSpPr/>
          <p:nvPr/>
        </p:nvSpPr>
        <p:spPr>
          <a:xfrm>
            <a:off x="777240" y="4937760"/>
            <a:ext cx="7315200" cy="256032"/>
          </a:xfrm>
          <a:prstGeom prst="rect">
            <a:avLst/>
          </a:prstGeom>
          <a:noFill/>
          <a:ln/>
        </p:spPr>
        <p:txBody>
          <a:bodyPr wrap="square" lIns="0" tIns="0" rIns="0" bIns="0" rtlCol="0" anchor="ctr"/>
          <a:lstStyle/>
          <a:p>
            <a:pPr indent="0" marL="0">
              <a:buNone/>
            </a:pPr>
            <a:r>
              <a:rPr lang="en-US" sz="1100" b="1" spc="120" kern="0" dirty="0">
                <a:solidFill>
                  <a:srgbClr val="047857"/>
                </a:solidFill>
                <a:latin typeface="Calibri" pitchFamily="34" charset="0"/>
                <a:ea typeface="Calibri" pitchFamily="34" charset="-122"/>
                <a:cs typeface="Calibri" pitchFamily="34" charset="-120"/>
              </a:rPr>
              <a:t>EXPOLEAD IS EXHIBITION-CENTRIC</a:t>
            </a:r>
            <a:endParaRPr lang="en-US" sz="1100" dirty="0"/>
          </a:p>
        </p:txBody>
      </p:sp>
      <p:sp>
        <p:nvSpPr>
          <p:cNvPr id="29" name="Shape 27"/>
          <p:cNvSpPr/>
          <p:nvPr/>
        </p:nvSpPr>
        <p:spPr>
          <a:xfrm>
            <a:off x="777240" y="5303520"/>
            <a:ext cx="841248" cy="310896"/>
          </a:xfrm>
          <a:prstGeom prst="roundRect">
            <a:avLst>
              <a:gd name="adj" fmla="val 17647"/>
            </a:avLst>
          </a:prstGeom>
          <a:solidFill>
            <a:srgbClr val="FFFFFF"/>
          </a:solidFill>
          <a:ln w="12700">
            <a:solidFill>
              <a:srgbClr val="D1FAE5"/>
            </a:solidFill>
            <a:prstDash val="solid"/>
          </a:ln>
        </p:spPr>
      </p:sp>
      <p:sp>
        <p:nvSpPr>
          <p:cNvPr id="30" name="Text 28"/>
          <p:cNvSpPr/>
          <p:nvPr/>
        </p:nvSpPr>
        <p:spPr>
          <a:xfrm>
            <a:off x="777240" y="5303520"/>
            <a:ext cx="84124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Exhibition</a:t>
            </a:r>
            <a:endParaRPr lang="en-US" sz="1050" dirty="0"/>
          </a:p>
        </p:txBody>
      </p:sp>
      <p:sp>
        <p:nvSpPr>
          <p:cNvPr id="31" name="Text 29"/>
          <p:cNvSpPr/>
          <p:nvPr/>
        </p:nvSpPr>
        <p:spPr>
          <a:xfrm>
            <a:off x="1618488"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1892808" y="5303520"/>
            <a:ext cx="555955" cy="310896"/>
          </a:xfrm>
          <a:prstGeom prst="roundRect">
            <a:avLst>
              <a:gd name="adj" fmla="val 17647"/>
            </a:avLst>
          </a:prstGeom>
          <a:solidFill>
            <a:srgbClr val="FFFFFF"/>
          </a:solidFill>
          <a:ln w="12700">
            <a:solidFill>
              <a:srgbClr val="D1FAE5"/>
            </a:solidFill>
            <a:prstDash val="solid"/>
          </a:ln>
        </p:spPr>
      </p:sp>
      <p:sp>
        <p:nvSpPr>
          <p:cNvPr id="33" name="Text 31"/>
          <p:cNvSpPr/>
          <p:nvPr/>
        </p:nvSpPr>
        <p:spPr>
          <a:xfrm>
            <a:off x="1892808" y="5303520"/>
            <a:ext cx="55595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Target</a:t>
            </a:r>
            <a:endParaRPr lang="en-US" sz="1050" dirty="0"/>
          </a:p>
        </p:txBody>
      </p:sp>
      <p:sp>
        <p:nvSpPr>
          <p:cNvPr id="34" name="Text 32"/>
          <p:cNvSpPr/>
          <p:nvPr/>
        </p:nvSpPr>
        <p:spPr>
          <a:xfrm>
            <a:off x="2448763"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5" name="Shape 33"/>
          <p:cNvSpPr/>
          <p:nvPr/>
        </p:nvSpPr>
        <p:spPr>
          <a:xfrm>
            <a:off x="2723083" y="5303520"/>
            <a:ext cx="484632" cy="310896"/>
          </a:xfrm>
          <a:prstGeom prst="roundRect">
            <a:avLst>
              <a:gd name="adj" fmla="val 17647"/>
            </a:avLst>
          </a:prstGeom>
          <a:solidFill>
            <a:srgbClr val="FFFFFF"/>
          </a:solidFill>
          <a:ln w="12700">
            <a:solidFill>
              <a:srgbClr val="D1FAE5"/>
            </a:solidFill>
            <a:prstDash val="solid"/>
          </a:ln>
        </p:spPr>
      </p:sp>
      <p:sp>
        <p:nvSpPr>
          <p:cNvPr id="36" name="Text 34"/>
          <p:cNvSpPr/>
          <p:nvPr/>
        </p:nvSpPr>
        <p:spPr>
          <a:xfrm>
            <a:off x="2723083" y="5303520"/>
            <a:ext cx="484632"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Booth</a:t>
            </a:r>
            <a:endParaRPr lang="en-US" sz="1050" dirty="0"/>
          </a:p>
        </p:txBody>
      </p:sp>
      <p:sp>
        <p:nvSpPr>
          <p:cNvPr id="37" name="Text 35"/>
          <p:cNvSpPr/>
          <p:nvPr/>
        </p:nvSpPr>
        <p:spPr>
          <a:xfrm>
            <a:off x="3207715"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38" name="Shape 36"/>
          <p:cNvSpPr/>
          <p:nvPr/>
        </p:nvSpPr>
        <p:spPr>
          <a:xfrm>
            <a:off x="3482035" y="5303520"/>
            <a:ext cx="555955" cy="310896"/>
          </a:xfrm>
          <a:prstGeom prst="roundRect">
            <a:avLst>
              <a:gd name="adj" fmla="val 17647"/>
            </a:avLst>
          </a:prstGeom>
          <a:solidFill>
            <a:srgbClr val="FFFFFF"/>
          </a:solidFill>
          <a:ln w="12700">
            <a:solidFill>
              <a:srgbClr val="D1FAE5"/>
            </a:solidFill>
            <a:prstDash val="solid"/>
          </a:ln>
        </p:spPr>
      </p:sp>
      <p:sp>
        <p:nvSpPr>
          <p:cNvPr id="39" name="Text 37"/>
          <p:cNvSpPr/>
          <p:nvPr/>
        </p:nvSpPr>
        <p:spPr>
          <a:xfrm>
            <a:off x="3482035" y="5303520"/>
            <a:ext cx="55595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Person</a:t>
            </a:r>
            <a:endParaRPr lang="en-US" sz="1050" dirty="0"/>
          </a:p>
        </p:txBody>
      </p:sp>
      <p:sp>
        <p:nvSpPr>
          <p:cNvPr id="40" name="Text 38"/>
          <p:cNvSpPr/>
          <p:nvPr/>
        </p:nvSpPr>
        <p:spPr>
          <a:xfrm>
            <a:off x="4037990"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1" name="Shape 39"/>
          <p:cNvSpPr/>
          <p:nvPr/>
        </p:nvSpPr>
        <p:spPr>
          <a:xfrm>
            <a:off x="4312310" y="5303520"/>
            <a:ext cx="983894" cy="310896"/>
          </a:xfrm>
          <a:prstGeom prst="roundRect">
            <a:avLst>
              <a:gd name="adj" fmla="val 17647"/>
            </a:avLst>
          </a:prstGeom>
          <a:solidFill>
            <a:srgbClr val="FFFFFF"/>
          </a:solidFill>
          <a:ln w="12700">
            <a:solidFill>
              <a:srgbClr val="D1FAE5"/>
            </a:solidFill>
            <a:prstDash val="solid"/>
          </a:ln>
        </p:spPr>
      </p:sp>
      <p:sp>
        <p:nvSpPr>
          <p:cNvPr id="42" name="Text 40"/>
          <p:cNvSpPr/>
          <p:nvPr/>
        </p:nvSpPr>
        <p:spPr>
          <a:xfrm>
            <a:off x="4312310" y="5303520"/>
            <a:ext cx="983894"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Conversation</a:t>
            </a:r>
            <a:endParaRPr lang="en-US" sz="1050" dirty="0"/>
          </a:p>
        </p:txBody>
      </p:sp>
      <p:sp>
        <p:nvSpPr>
          <p:cNvPr id="43" name="Text 41"/>
          <p:cNvSpPr/>
          <p:nvPr/>
        </p:nvSpPr>
        <p:spPr>
          <a:xfrm>
            <a:off x="5296205" y="5303520"/>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4" name="Shape 42"/>
          <p:cNvSpPr/>
          <p:nvPr/>
        </p:nvSpPr>
        <p:spPr>
          <a:xfrm>
            <a:off x="5570525" y="5303520"/>
            <a:ext cx="1126541" cy="310896"/>
          </a:xfrm>
          <a:prstGeom prst="roundRect">
            <a:avLst>
              <a:gd name="adj" fmla="val 17647"/>
            </a:avLst>
          </a:prstGeom>
          <a:solidFill>
            <a:srgbClr val="FFFFFF"/>
          </a:solidFill>
          <a:ln w="12700">
            <a:solidFill>
              <a:srgbClr val="D1FAE5"/>
            </a:solidFill>
            <a:prstDash val="solid"/>
          </a:ln>
        </p:spPr>
      </p:sp>
      <p:sp>
        <p:nvSpPr>
          <p:cNvPr id="45" name="Text 43"/>
          <p:cNvSpPr/>
          <p:nvPr/>
        </p:nvSpPr>
        <p:spPr>
          <a:xfrm>
            <a:off x="5570525" y="5303520"/>
            <a:ext cx="1126541"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Product / need</a:t>
            </a:r>
            <a:endParaRPr lang="en-US" sz="1050" dirty="0"/>
          </a:p>
        </p:txBody>
      </p:sp>
      <p:sp>
        <p:nvSpPr>
          <p:cNvPr id="46" name="Shape 44"/>
          <p:cNvSpPr/>
          <p:nvPr/>
        </p:nvSpPr>
        <p:spPr>
          <a:xfrm>
            <a:off x="777240" y="5742432"/>
            <a:ext cx="912571" cy="310896"/>
          </a:xfrm>
          <a:prstGeom prst="roundRect">
            <a:avLst>
              <a:gd name="adj" fmla="val 17647"/>
            </a:avLst>
          </a:prstGeom>
          <a:solidFill>
            <a:srgbClr val="FFFFFF"/>
          </a:solidFill>
          <a:ln w="12700">
            <a:solidFill>
              <a:srgbClr val="D1FAE5"/>
            </a:solidFill>
            <a:prstDash val="solid"/>
          </a:ln>
        </p:spPr>
      </p:sp>
      <p:sp>
        <p:nvSpPr>
          <p:cNvPr id="47" name="Text 45"/>
          <p:cNvSpPr/>
          <p:nvPr/>
        </p:nvSpPr>
        <p:spPr>
          <a:xfrm>
            <a:off x="777240" y="5742432"/>
            <a:ext cx="912571"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Opportunity</a:t>
            </a:r>
            <a:endParaRPr lang="en-US" sz="1050" dirty="0"/>
          </a:p>
        </p:txBody>
      </p:sp>
      <p:sp>
        <p:nvSpPr>
          <p:cNvPr id="48" name="Text 46"/>
          <p:cNvSpPr/>
          <p:nvPr/>
        </p:nvSpPr>
        <p:spPr>
          <a:xfrm>
            <a:off x="1689811"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1964131" y="5742432"/>
            <a:ext cx="841248" cy="310896"/>
          </a:xfrm>
          <a:prstGeom prst="roundRect">
            <a:avLst>
              <a:gd name="adj" fmla="val 17647"/>
            </a:avLst>
          </a:prstGeom>
          <a:solidFill>
            <a:srgbClr val="FFFFFF"/>
          </a:solidFill>
          <a:ln w="12700">
            <a:solidFill>
              <a:srgbClr val="D1FAE5"/>
            </a:solidFill>
            <a:prstDash val="solid"/>
          </a:ln>
        </p:spPr>
      </p:sp>
      <p:sp>
        <p:nvSpPr>
          <p:cNvPr id="50" name="Text 48"/>
          <p:cNvSpPr/>
          <p:nvPr/>
        </p:nvSpPr>
        <p:spPr>
          <a:xfrm>
            <a:off x="1964131" y="5742432"/>
            <a:ext cx="84124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Commitment</a:t>
            </a:r>
            <a:endParaRPr lang="en-US" sz="1050" dirty="0"/>
          </a:p>
        </p:txBody>
      </p:sp>
      <p:sp>
        <p:nvSpPr>
          <p:cNvPr id="51" name="Text 49"/>
          <p:cNvSpPr/>
          <p:nvPr/>
        </p:nvSpPr>
        <p:spPr>
          <a:xfrm>
            <a:off x="2805379"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2" name="Shape 50"/>
          <p:cNvSpPr/>
          <p:nvPr/>
        </p:nvSpPr>
        <p:spPr>
          <a:xfrm>
            <a:off x="3079699" y="5742432"/>
            <a:ext cx="769925" cy="310896"/>
          </a:xfrm>
          <a:prstGeom prst="roundRect">
            <a:avLst>
              <a:gd name="adj" fmla="val 17647"/>
            </a:avLst>
          </a:prstGeom>
          <a:solidFill>
            <a:srgbClr val="FFFFFF"/>
          </a:solidFill>
          <a:ln w="12700">
            <a:solidFill>
              <a:srgbClr val="D1FAE5"/>
            </a:solidFill>
            <a:prstDash val="solid"/>
          </a:ln>
        </p:spPr>
      </p:sp>
      <p:sp>
        <p:nvSpPr>
          <p:cNvPr id="53" name="Text 51"/>
          <p:cNvSpPr/>
          <p:nvPr/>
        </p:nvSpPr>
        <p:spPr>
          <a:xfrm>
            <a:off x="3079699" y="5742432"/>
            <a:ext cx="769925"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Follow-up</a:t>
            </a:r>
            <a:endParaRPr lang="en-US" sz="1050" dirty="0"/>
          </a:p>
        </p:txBody>
      </p:sp>
      <p:sp>
        <p:nvSpPr>
          <p:cNvPr id="54" name="Text 52"/>
          <p:cNvSpPr/>
          <p:nvPr/>
        </p:nvSpPr>
        <p:spPr>
          <a:xfrm>
            <a:off x="3849624" y="5742432"/>
            <a:ext cx="274320" cy="310896"/>
          </a:xfrm>
          <a:prstGeom prst="rect">
            <a:avLst/>
          </a:prstGeom>
          <a:noFill/>
          <a:ln/>
        </p:spPr>
        <p:txBody>
          <a:bodyPr wrap="square" lIns="0" tIns="0" rIns="0" bIns="0" rtlCol="0" anchor="ctr"/>
          <a:lstStyle/>
          <a:p>
            <a:pPr algn="ctr" indent="0" marL="0">
              <a:buNone/>
            </a:pPr>
            <a:r>
              <a:rPr lang="en-US" sz="1300" b="1" dirty="0">
                <a:solidFill>
                  <a:srgbClr val="D1FAE5"/>
                </a:solidFill>
                <a:latin typeface="Calibri" pitchFamily="34" charset="0"/>
                <a:ea typeface="Calibri" pitchFamily="34" charset="-122"/>
                <a:cs typeface="Calibri" pitchFamily="34" charset="-120"/>
              </a:rPr>
              <a:t>›</a:t>
            </a:r>
            <a:endParaRPr lang="en-US" sz="1300" dirty="0"/>
          </a:p>
        </p:txBody>
      </p:sp>
      <p:sp>
        <p:nvSpPr>
          <p:cNvPr id="55" name="Shape 53"/>
          <p:cNvSpPr/>
          <p:nvPr/>
        </p:nvSpPr>
        <p:spPr>
          <a:xfrm>
            <a:off x="4123944" y="5742432"/>
            <a:ext cx="627278" cy="310896"/>
          </a:xfrm>
          <a:prstGeom prst="roundRect">
            <a:avLst>
              <a:gd name="adj" fmla="val 17647"/>
            </a:avLst>
          </a:prstGeom>
          <a:solidFill>
            <a:srgbClr val="FFFFFF"/>
          </a:solidFill>
          <a:ln w="12700">
            <a:solidFill>
              <a:srgbClr val="D1FAE5"/>
            </a:solidFill>
            <a:prstDash val="solid"/>
          </a:ln>
        </p:spPr>
      </p:sp>
      <p:sp>
        <p:nvSpPr>
          <p:cNvPr id="56" name="Text 54"/>
          <p:cNvSpPr/>
          <p:nvPr/>
        </p:nvSpPr>
        <p:spPr>
          <a:xfrm>
            <a:off x="4123944" y="5742432"/>
            <a:ext cx="627278" cy="310896"/>
          </a:xfrm>
          <a:prstGeom prst="rect">
            <a:avLst/>
          </a:prstGeom>
          <a:noFill/>
          <a:ln/>
        </p:spPr>
        <p:txBody>
          <a:bodyPr wrap="square" lIns="0" tIns="0" rIns="0" bIns="0" rtlCol="0" anchor="ctr"/>
          <a:lstStyle/>
          <a:p>
            <a:pPr algn="ctr" indent="0" marL="0">
              <a:buNone/>
            </a:pPr>
            <a:r>
              <a:rPr lang="en-US" sz="1050" b="1" dirty="0">
                <a:solidFill>
                  <a:srgbClr val="047857"/>
                </a:solidFill>
                <a:latin typeface="Calibri" pitchFamily="34" charset="0"/>
                <a:ea typeface="Calibri" pitchFamily="34" charset="-122"/>
                <a:cs typeface="Calibri" pitchFamily="34" charset="-120"/>
              </a:rPr>
              <a:t>Outcome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36576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0749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0749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2004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96012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HONEST QUESTION</a:t>
            </a:r>
            <a:endParaRPr lang="en-US" sz="1100" dirty="0"/>
          </a:p>
        </p:txBody>
      </p:sp>
      <p:sp>
        <p:nvSpPr>
          <p:cNvPr id="8" name="Text 6"/>
          <p:cNvSpPr/>
          <p:nvPr/>
        </p:nvSpPr>
        <p:spPr>
          <a:xfrm>
            <a:off x="502920" y="1216152"/>
            <a:ext cx="8961120" cy="50292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“Can’t we just use our CRM at the exhibition?”</a:t>
            </a:r>
            <a:endParaRPr lang="en-US" sz="2600" dirty="0"/>
          </a:p>
        </p:txBody>
      </p:sp>
      <p:sp>
        <p:nvSpPr>
          <p:cNvPr id="9" name="Shape 7"/>
          <p:cNvSpPr/>
          <p:nvPr/>
        </p:nvSpPr>
        <p:spPr>
          <a:xfrm>
            <a:off x="7391095" y="1280160"/>
            <a:ext cx="4297680" cy="548640"/>
          </a:xfrm>
          <a:prstGeom prst="roundRect">
            <a:avLst>
              <a:gd name="adj" fmla="val 16667"/>
            </a:avLst>
          </a:prstGeom>
          <a:solidFill>
            <a:srgbClr val="ECFDF5"/>
          </a:solidFill>
          <a:ln w="12700">
            <a:solidFill>
              <a:srgbClr val="D1FAE5"/>
            </a:solidFill>
            <a:prstDash val="solid"/>
          </a:ln>
        </p:spPr>
      </p:sp>
      <p:sp>
        <p:nvSpPr>
          <p:cNvPr id="10" name="Text 8"/>
          <p:cNvSpPr/>
          <p:nvPr/>
        </p:nvSpPr>
        <p:spPr>
          <a:xfrm>
            <a:off x="7528255" y="1280160"/>
            <a:ext cx="411480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047857"/>
                </a:solidFill>
                <a:latin typeface="Calibri" pitchFamily="34" charset="0"/>
                <a:ea typeface="Calibri" pitchFamily="34" charset="-122"/>
                <a:cs typeface="Calibri" pitchFamily="34" charset="-120"/>
              </a:rPr>
              <a:t>Yes, you can.  </a:t>
            </a:r>
            <a:pPr algn="l" indent="0" marL="0">
              <a:lnSpc>
                <a:spcPct val="100000"/>
              </a:lnSpc>
              <a:buNone/>
            </a:pPr>
            <a:r>
              <a:rPr lang="en-US" sz="1150" dirty="0">
                <a:solidFill>
                  <a:srgbClr val="334155"/>
                </a:solidFill>
                <a:latin typeface="Calibri" pitchFamily="34" charset="0"/>
                <a:ea typeface="Calibri" pitchFamily="34" charset="-122"/>
                <a:cs typeface="Calibri" pitchFamily="34" charset="-120"/>
              </a:rPr>
              <a:t>The question is whether</a:t>
            </a:r>
            <a:endParaRPr lang="en-US" sz="1150" dirty="0"/>
          </a:p>
          <a:p>
            <a:pPr algn="l" indent="0" marL="0">
              <a:lnSpc>
                <a:spcPct val="100000"/>
              </a:lnSpc>
              <a:buNone/>
            </a:pPr>
            <a:r>
              <a:rPr lang="en-US" sz="1150" dirty="0">
                <a:solidFill>
                  <a:srgbClr val="334155"/>
                </a:solidFill>
                <a:latin typeface="Calibri" pitchFamily="34" charset="0"/>
                <a:ea typeface="Calibri" pitchFamily="34" charset="-122"/>
                <a:cs typeface="Calibri" pitchFamily="34" charset="-120"/>
              </a:rPr>
              <a:t>it was designed for that job.</a:t>
            </a:r>
            <a:endParaRPr lang="en-US" sz="1150" dirty="0"/>
          </a:p>
        </p:txBody>
      </p:sp>
      <p:sp>
        <p:nvSpPr>
          <p:cNvPr id="11" name="Text 9"/>
          <p:cNvSpPr/>
          <p:nvPr/>
        </p:nvSpPr>
        <p:spPr>
          <a:xfrm>
            <a:off x="594360" y="2057400"/>
            <a:ext cx="4389120" cy="237744"/>
          </a:xfrm>
          <a:prstGeom prst="rect">
            <a:avLst/>
          </a:prstGeom>
          <a:noFill/>
          <a:ln/>
        </p:spPr>
        <p:txBody>
          <a:bodyPr wrap="square" lIns="0" tIns="0" rIns="0" bIns="0" rtlCol="0" anchor="t"/>
          <a:lstStyle/>
          <a:p>
            <a:pPr algn="l" indent="0" marL="0">
              <a:buNone/>
            </a:pPr>
            <a:r>
              <a:rPr lang="en-US" sz="1050" b="1" spc="100" kern="0" dirty="0">
                <a:solidFill>
                  <a:srgbClr val="94A3B8"/>
                </a:solidFill>
                <a:latin typeface="Calibri" pitchFamily="34" charset="0"/>
                <a:ea typeface="Calibri" pitchFamily="34" charset="-122"/>
                <a:cs typeface="Calibri" pitchFamily="34" charset="-120"/>
              </a:rPr>
              <a:t>EXHIBITION ACTIVITY</a:t>
            </a:r>
            <a:endParaRPr lang="en-US" sz="1050" dirty="0"/>
          </a:p>
        </p:txBody>
      </p:sp>
      <p:sp>
        <p:nvSpPr>
          <p:cNvPr id="12" name="Text 10"/>
          <p:cNvSpPr/>
          <p:nvPr/>
        </p:nvSpPr>
        <p:spPr>
          <a:xfrm>
            <a:off x="5074920" y="2057400"/>
            <a:ext cx="2926080" cy="237744"/>
          </a:xfrm>
          <a:prstGeom prst="rect">
            <a:avLst/>
          </a:prstGeom>
          <a:noFill/>
          <a:ln/>
        </p:spPr>
        <p:txBody>
          <a:bodyPr wrap="square" lIns="0" tIns="0" rIns="0" bIns="0" rtlCol="0" anchor="t"/>
          <a:lstStyle/>
          <a:p>
            <a:pPr algn="l" indent="0" marL="0">
              <a:buNone/>
            </a:pPr>
            <a:r>
              <a:rPr lang="en-US" sz="1050" b="1" spc="100" kern="0" dirty="0">
                <a:solidFill>
                  <a:srgbClr val="94A3B8"/>
                </a:solidFill>
                <a:latin typeface="Calibri" pitchFamily="34" charset="0"/>
                <a:ea typeface="Calibri" pitchFamily="34" charset="-122"/>
                <a:cs typeface="Calibri" pitchFamily="34" charset="-120"/>
              </a:rPr>
              <a:t>GENERAL CRM</a:t>
            </a:r>
            <a:endParaRPr lang="en-US" sz="1050" dirty="0"/>
          </a:p>
        </p:txBody>
      </p:sp>
      <p:sp>
        <p:nvSpPr>
          <p:cNvPr id="13" name="Text 11"/>
          <p:cNvSpPr/>
          <p:nvPr/>
        </p:nvSpPr>
        <p:spPr>
          <a:xfrm>
            <a:off x="5074920" y="2286000"/>
            <a:ext cx="2880360" cy="201168"/>
          </a:xfrm>
          <a:prstGeom prst="rect">
            <a:avLst/>
          </a:prstGeom>
          <a:noFill/>
          <a:ln/>
        </p:spPr>
        <p:txBody>
          <a:bodyPr wrap="square" lIns="0" tIns="0" rIns="0" bIns="0" rtlCol="0" anchor="t"/>
          <a:lstStyle/>
          <a:p>
            <a:pPr algn="l" indent="0" marL="0">
              <a:buNone/>
            </a:pPr>
            <a:r>
              <a:rPr lang="en-US" sz="900" dirty="0">
                <a:solidFill>
                  <a:srgbClr val="94A3B8"/>
                </a:solidFill>
                <a:latin typeface="Calibri" pitchFamily="34" charset="0"/>
                <a:ea typeface="Calibri" pitchFamily="34" charset="-122"/>
                <a:cs typeface="Calibri" pitchFamily="34" charset="-120"/>
              </a:rPr>
              <a:t>you configure &amp; maintain it</a:t>
            </a:r>
            <a:endParaRPr lang="en-US" sz="900" dirty="0"/>
          </a:p>
        </p:txBody>
      </p:sp>
      <p:sp>
        <p:nvSpPr>
          <p:cNvPr id="14" name="Text 12"/>
          <p:cNvSpPr/>
          <p:nvPr/>
        </p:nvSpPr>
        <p:spPr>
          <a:xfrm>
            <a:off x="8092440" y="2057400"/>
            <a:ext cx="3596335" cy="237744"/>
          </a:xfrm>
          <a:prstGeom prst="rect">
            <a:avLst/>
          </a:prstGeom>
          <a:noFill/>
          <a:ln/>
        </p:spPr>
        <p:txBody>
          <a:bodyPr wrap="square" lIns="0" tIns="0" rIns="0" bIns="0" rtlCol="0" anchor="t"/>
          <a:lstStyle/>
          <a:p>
            <a:pPr algn="l" indent="0" marL="0">
              <a:buNone/>
            </a:pPr>
            <a:r>
              <a:rPr lang="en-US" sz="1050" b="1" spc="100" kern="0" dirty="0">
                <a:solidFill>
                  <a:srgbClr val="059669"/>
                </a:solidFill>
                <a:latin typeface="Calibri" pitchFamily="34" charset="0"/>
                <a:ea typeface="Calibri" pitchFamily="34" charset="-122"/>
                <a:cs typeface="Calibri" pitchFamily="34" charset="-120"/>
              </a:rPr>
              <a:t>EXPOLEAD OS</a:t>
            </a:r>
            <a:endParaRPr lang="en-US" sz="1050" dirty="0"/>
          </a:p>
        </p:txBody>
      </p:sp>
      <p:sp>
        <p:nvSpPr>
          <p:cNvPr id="15" name="Text 13"/>
          <p:cNvSpPr/>
          <p:nvPr/>
        </p:nvSpPr>
        <p:spPr>
          <a:xfrm>
            <a:off x="8092440" y="2286000"/>
            <a:ext cx="3550615" cy="201168"/>
          </a:xfrm>
          <a:prstGeom prst="rect">
            <a:avLst/>
          </a:prstGeom>
          <a:noFill/>
          <a:ln/>
        </p:spPr>
        <p:txBody>
          <a:bodyPr wrap="square" lIns="0" tIns="0" rIns="0" bIns="0" rtlCol="0" anchor="t"/>
          <a:lstStyle/>
          <a:p>
            <a:pPr algn="l" indent="0" marL="0">
              <a:buNone/>
            </a:pPr>
            <a:r>
              <a:rPr lang="en-US" sz="900" dirty="0">
                <a:solidFill>
                  <a:srgbClr val="059669"/>
                </a:solidFill>
                <a:latin typeface="Calibri" pitchFamily="34" charset="0"/>
                <a:ea typeface="Calibri" pitchFamily="34" charset="-122"/>
                <a:cs typeface="Calibri" pitchFamily="34" charset="-120"/>
              </a:rPr>
              <a:t>built for expos, no setup</a:t>
            </a:r>
            <a:endParaRPr lang="en-US" sz="900" dirty="0"/>
          </a:p>
        </p:txBody>
      </p:sp>
      <p:sp>
        <p:nvSpPr>
          <p:cNvPr id="16" name="Shape 14"/>
          <p:cNvSpPr/>
          <p:nvPr/>
        </p:nvSpPr>
        <p:spPr>
          <a:xfrm>
            <a:off x="502920" y="2514600"/>
            <a:ext cx="11185855" cy="302455"/>
          </a:xfrm>
          <a:prstGeom prst="rect">
            <a:avLst/>
          </a:prstGeom>
          <a:solidFill>
            <a:srgbClr val="FCFCFD"/>
          </a:solidFill>
          <a:ln/>
        </p:spPr>
      </p:sp>
      <p:sp>
        <p:nvSpPr>
          <p:cNvPr id="17" name="Shape 15"/>
          <p:cNvSpPr/>
          <p:nvPr/>
        </p:nvSpPr>
        <p:spPr>
          <a:xfrm>
            <a:off x="502920" y="2514600"/>
            <a:ext cx="11185855" cy="0"/>
          </a:xfrm>
          <a:prstGeom prst="line">
            <a:avLst/>
          </a:prstGeom>
          <a:noFill/>
          <a:ln w="9525">
            <a:solidFill>
              <a:srgbClr val="F1F5F9"/>
            </a:solidFill>
            <a:prstDash val="solid"/>
          </a:ln>
        </p:spPr>
      </p:sp>
      <p:sp>
        <p:nvSpPr>
          <p:cNvPr id="18" name="Text 16"/>
          <p:cNvSpPr/>
          <p:nvPr/>
        </p:nvSpPr>
        <p:spPr>
          <a:xfrm>
            <a:off x="594360" y="2514600"/>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Store companies &amp; contacts</a:t>
            </a:r>
            <a:endParaRPr lang="en-US" sz="1100" dirty="0"/>
          </a:p>
        </p:txBody>
      </p:sp>
      <p:sp>
        <p:nvSpPr>
          <p:cNvPr id="19" name="Text 17"/>
          <p:cNvSpPr/>
          <p:nvPr/>
        </p:nvSpPr>
        <p:spPr>
          <a:xfrm>
            <a:off x="5074920" y="2514600"/>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20" name="Shape 18"/>
          <p:cNvSpPr/>
          <p:nvPr/>
        </p:nvSpPr>
        <p:spPr>
          <a:xfrm>
            <a:off x="8092440" y="2564892"/>
            <a:ext cx="994867" cy="201871"/>
          </a:xfrm>
          <a:prstGeom prst="roundRect">
            <a:avLst>
              <a:gd name="adj" fmla="val 27178"/>
            </a:avLst>
          </a:prstGeom>
          <a:solidFill>
            <a:srgbClr val="F8FAFC"/>
          </a:solidFill>
          <a:ln w="12700">
            <a:solidFill>
              <a:srgbClr val="E2E8F0"/>
            </a:solidFill>
            <a:prstDash val="solid"/>
          </a:ln>
        </p:spPr>
      </p:sp>
      <p:sp>
        <p:nvSpPr>
          <p:cNvPr id="21" name="Text 19"/>
          <p:cNvSpPr/>
          <p:nvPr/>
        </p:nvSpPr>
        <p:spPr>
          <a:xfrm>
            <a:off x="8092440" y="2564892"/>
            <a:ext cx="994867" cy="201871"/>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Supported</a:t>
            </a:r>
            <a:endParaRPr lang="en-US" sz="1000" dirty="0"/>
          </a:p>
        </p:txBody>
      </p:sp>
      <p:sp>
        <p:nvSpPr>
          <p:cNvPr id="22" name="Shape 20"/>
          <p:cNvSpPr/>
          <p:nvPr/>
        </p:nvSpPr>
        <p:spPr>
          <a:xfrm>
            <a:off x="502920" y="2817055"/>
            <a:ext cx="11185855" cy="0"/>
          </a:xfrm>
          <a:prstGeom prst="line">
            <a:avLst/>
          </a:prstGeom>
          <a:noFill/>
          <a:ln w="9525">
            <a:solidFill>
              <a:srgbClr val="F1F5F9"/>
            </a:solidFill>
            <a:prstDash val="solid"/>
          </a:ln>
        </p:spPr>
      </p:sp>
      <p:sp>
        <p:nvSpPr>
          <p:cNvPr id="23" name="Text 21"/>
          <p:cNvSpPr/>
          <p:nvPr/>
        </p:nvSpPr>
        <p:spPr>
          <a:xfrm>
            <a:off x="594360" y="2817055"/>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Long-term customer relationships</a:t>
            </a:r>
            <a:endParaRPr lang="en-US" sz="1100" dirty="0"/>
          </a:p>
        </p:txBody>
      </p:sp>
      <p:sp>
        <p:nvSpPr>
          <p:cNvPr id="24" name="Text 22"/>
          <p:cNvSpPr/>
          <p:nvPr/>
        </p:nvSpPr>
        <p:spPr>
          <a:xfrm>
            <a:off x="5074920" y="2817055"/>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25" name="Shape 23"/>
          <p:cNvSpPr/>
          <p:nvPr/>
        </p:nvSpPr>
        <p:spPr>
          <a:xfrm>
            <a:off x="8092440" y="2867347"/>
            <a:ext cx="2044598" cy="201871"/>
          </a:xfrm>
          <a:prstGeom prst="roundRect">
            <a:avLst>
              <a:gd name="adj" fmla="val 27178"/>
            </a:avLst>
          </a:prstGeom>
          <a:solidFill>
            <a:srgbClr val="F8FAFC"/>
          </a:solidFill>
          <a:ln w="12700">
            <a:solidFill>
              <a:srgbClr val="E2E8F0"/>
            </a:solidFill>
            <a:prstDash val="solid"/>
          </a:ln>
        </p:spPr>
      </p:sp>
      <p:sp>
        <p:nvSpPr>
          <p:cNvPr id="26" name="Text 24"/>
          <p:cNvSpPr/>
          <p:nvPr/>
        </p:nvSpPr>
        <p:spPr>
          <a:xfrm>
            <a:off x="8092440" y="2867347"/>
            <a:ext cx="2044598" cy="201871"/>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Not its primary purpose</a:t>
            </a:r>
            <a:endParaRPr lang="en-US" sz="1000" dirty="0"/>
          </a:p>
        </p:txBody>
      </p:sp>
      <p:sp>
        <p:nvSpPr>
          <p:cNvPr id="27" name="Shape 25"/>
          <p:cNvSpPr/>
          <p:nvPr/>
        </p:nvSpPr>
        <p:spPr>
          <a:xfrm>
            <a:off x="502920" y="3119511"/>
            <a:ext cx="11185855" cy="302455"/>
          </a:xfrm>
          <a:prstGeom prst="rect">
            <a:avLst/>
          </a:prstGeom>
          <a:solidFill>
            <a:srgbClr val="FCFCFD"/>
          </a:solidFill>
          <a:ln/>
        </p:spPr>
      </p:sp>
      <p:sp>
        <p:nvSpPr>
          <p:cNvPr id="28" name="Shape 26"/>
          <p:cNvSpPr/>
          <p:nvPr/>
        </p:nvSpPr>
        <p:spPr>
          <a:xfrm>
            <a:off x="502920" y="3119511"/>
            <a:ext cx="11185855" cy="0"/>
          </a:xfrm>
          <a:prstGeom prst="line">
            <a:avLst/>
          </a:prstGeom>
          <a:noFill/>
          <a:ln w="9525">
            <a:solidFill>
              <a:srgbClr val="F1F5F9"/>
            </a:solidFill>
            <a:prstDash val="solid"/>
          </a:ln>
        </p:spPr>
      </p:sp>
      <p:sp>
        <p:nvSpPr>
          <p:cNvPr id="29" name="Text 27"/>
          <p:cNvSpPr/>
          <p:nvPr/>
        </p:nvSpPr>
        <p:spPr>
          <a:xfrm>
            <a:off x="594360" y="3119511"/>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Sales / deal pipeline</a:t>
            </a:r>
            <a:endParaRPr lang="en-US" sz="1100" dirty="0"/>
          </a:p>
        </p:txBody>
      </p:sp>
      <p:sp>
        <p:nvSpPr>
          <p:cNvPr id="30" name="Text 28"/>
          <p:cNvSpPr/>
          <p:nvPr/>
        </p:nvSpPr>
        <p:spPr>
          <a:xfrm>
            <a:off x="5074920" y="3119511"/>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Core capability</a:t>
            </a:r>
            <a:endParaRPr lang="en-US" sz="1050" dirty="0"/>
          </a:p>
        </p:txBody>
      </p:sp>
      <p:sp>
        <p:nvSpPr>
          <p:cNvPr id="31" name="Shape 29"/>
          <p:cNvSpPr/>
          <p:nvPr/>
        </p:nvSpPr>
        <p:spPr>
          <a:xfrm>
            <a:off x="8092440" y="3169803"/>
            <a:ext cx="2719426" cy="201871"/>
          </a:xfrm>
          <a:prstGeom prst="roundRect">
            <a:avLst>
              <a:gd name="adj" fmla="val 27178"/>
            </a:avLst>
          </a:prstGeom>
          <a:solidFill>
            <a:srgbClr val="F8FAFC"/>
          </a:solidFill>
          <a:ln w="12700">
            <a:solidFill>
              <a:srgbClr val="E2E8F0"/>
            </a:solidFill>
            <a:prstDash val="solid"/>
          </a:ln>
        </p:spPr>
      </p:sp>
      <p:sp>
        <p:nvSpPr>
          <p:cNvPr id="32" name="Text 30"/>
          <p:cNvSpPr/>
          <p:nvPr/>
        </p:nvSpPr>
        <p:spPr>
          <a:xfrm>
            <a:off x="8092440" y="3169803"/>
            <a:ext cx="2719426" cy="201871"/>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Supports the opportunity journey</a:t>
            </a:r>
            <a:endParaRPr lang="en-US" sz="1000" dirty="0"/>
          </a:p>
        </p:txBody>
      </p:sp>
      <p:sp>
        <p:nvSpPr>
          <p:cNvPr id="33" name="Shape 31"/>
          <p:cNvSpPr/>
          <p:nvPr/>
        </p:nvSpPr>
        <p:spPr>
          <a:xfrm>
            <a:off x="502920" y="3421966"/>
            <a:ext cx="11185855" cy="0"/>
          </a:xfrm>
          <a:prstGeom prst="line">
            <a:avLst/>
          </a:prstGeom>
          <a:noFill/>
          <a:ln w="9525">
            <a:solidFill>
              <a:srgbClr val="F1F5F9"/>
            </a:solidFill>
            <a:prstDash val="solid"/>
          </a:ln>
        </p:spPr>
      </p:sp>
      <p:sp>
        <p:nvSpPr>
          <p:cNvPr id="34" name="Text 32"/>
          <p:cNvSpPr/>
          <p:nvPr/>
        </p:nvSpPr>
        <p:spPr>
          <a:xfrm>
            <a:off x="594360" y="3421966"/>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Plan companies &amp; booths to visit</a:t>
            </a:r>
            <a:endParaRPr lang="en-US" sz="1100" dirty="0"/>
          </a:p>
        </p:txBody>
      </p:sp>
      <p:sp>
        <p:nvSpPr>
          <p:cNvPr id="35" name="Text 33"/>
          <p:cNvSpPr/>
          <p:nvPr/>
        </p:nvSpPr>
        <p:spPr>
          <a:xfrm>
            <a:off x="5074920" y="3421966"/>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Build it: custom fields &amp; setup</a:t>
            </a:r>
            <a:endParaRPr lang="en-US" sz="1050" dirty="0"/>
          </a:p>
        </p:txBody>
      </p:sp>
      <p:sp>
        <p:nvSpPr>
          <p:cNvPr id="36" name="Shape 34"/>
          <p:cNvSpPr/>
          <p:nvPr/>
        </p:nvSpPr>
        <p:spPr>
          <a:xfrm>
            <a:off x="8092440" y="3472258"/>
            <a:ext cx="1219810" cy="201871"/>
          </a:xfrm>
          <a:prstGeom prst="roundRect">
            <a:avLst>
              <a:gd name="adj" fmla="val 27178"/>
            </a:avLst>
          </a:prstGeom>
          <a:solidFill>
            <a:srgbClr val="ECFDF5"/>
          </a:solidFill>
          <a:ln w="12700">
            <a:solidFill>
              <a:srgbClr val="D1FAE5"/>
            </a:solidFill>
            <a:prstDash val="solid"/>
          </a:ln>
        </p:spPr>
      </p:sp>
      <p:sp>
        <p:nvSpPr>
          <p:cNvPr id="37" name="Text 35"/>
          <p:cNvSpPr/>
          <p:nvPr/>
        </p:nvSpPr>
        <p:spPr>
          <a:xfrm>
            <a:off x="8092440" y="3472258"/>
            <a:ext cx="1219810"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Ready to use</a:t>
            </a:r>
            <a:endParaRPr lang="en-US" sz="1000" dirty="0"/>
          </a:p>
        </p:txBody>
      </p:sp>
      <p:sp>
        <p:nvSpPr>
          <p:cNvPr id="38" name="Shape 36"/>
          <p:cNvSpPr/>
          <p:nvPr/>
        </p:nvSpPr>
        <p:spPr>
          <a:xfrm>
            <a:off x="502920" y="3724422"/>
            <a:ext cx="11185855" cy="302455"/>
          </a:xfrm>
          <a:prstGeom prst="rect">
            <a:avLst/>
          </a:prstGeom>
          <a:solidFill>
            <a:srgbClr val="FCFCFD"/>
          </a:solidFill>
          <a:ln/>
        </p:spPr>
      </p:sp>
      <p:sp>
        <p:nvSpPr>
          <p:cNvPr id="39" name="Shape 37"/>
          <p:cNvSpPr/>
          <p:nvPr/>
        </p:nvSpPr>
        <p:spPr>
          <a:xfrm>
            <a:off x="502920" y="3724422"/>
            <a:ext cx="11185855" cy="0"/>
          </a:xfrm>
          <a:prstGeom prst="line">
            <a:avLst/>
          </a:prstGeom>
          <a:noFill/>
          <a:ln w="9525">
            <a:solidFill>
              <a:srgbClr val="F1F5F9"/>
            </a:solidFill>
            <a:prstDash val="solid"/>
          </a:ln>
        </p:spPr>
      </p:sp>
      <p:sp>
        <p:nvSpPr>
          <p:cNvPr id="40" name="Text 38"/>
          <p:cNvSpPr/>
          <p:nvPr/>
        </p:nvSpPr>
        <p:spPr>
          <a:xfrm>
            <a:off x="594360" y="3724422"/>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Track visited &amp; unvisited targets</a:t>
            </a:r>
            <a:endParaRPr lang="en-US" sz="1100" dirty="0"/>
          </a:p>
        </p:txBody>
      </p:sp>
      <p:sp>
        <p:nvSpPr>
          <p:cNvPr id="41" name="Text 39"/>
          <p:cNvSpPr/>
          <p:nvPr/>
        </p:nvSpPr>
        <p:spPr>
          <a:xfrm>
            <a:off x="5074920" y="3724422"/>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Custom fields &amp; team discipline</a:t>
            </a:r>
            <a:endParaRPr lang="en-US" sz="1050" dirty="0"/>
          </a:p>
        </p:txBody>
      </p:sp>
      <p:sp>
        <p:nvSpPr>
          <p:cNvPr id="42" name="Shape 40"/>
          <p:cNvSpPr/>
          <p:nvPr/>
        </p:nvSpPr>
        <p:spPr>
          <a:xfrm>
            <a:off x="8092440" y="3774714"/>
            <a:ext cx="1219810" cy="201871"/>
          </a:xfrm>
          <a:prstGeom prst="roundRect">
            <a:avLst>
              <a:gd name="adj" fmla="val 27178"/>
            </a:avLst>
          </a:prstGeom>
          <a:solidFill>
            <a:srgbClr val="ECFDF5"/>
          </a:solidFill>
          <a:ln w="12700">
            <a:solidFill>
              <a:srgbClr val="D1FAE5"/>
            </a:solidFill>
            <a:prstDash val="solid"/>
          </a:ln>
        </p:spPr>
      </p:sp>
      <p:sp>
        <p:nvSpPr>
          <p:cNvPr id="43" name="Text 41"/>
          <p:cNvSpPr/>
          <p:nvPr/>
        </p:nvSpPr>
        <p:spPr>
          <a:xfrm>
            <a:off x="8092440" y="3774714"/>
            <a:ext cx="1219810"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Ready to use</a:t>
            </a:r>
            <a:endParaRPr lang="en-US" sz="1000" dirty="0"/>
          </a:p>
        </p:txBody>
      </p:sp>
      <p:sp>
        <p:nvSpPr>
          <p:cNvPr id="44" name="Shape 42"/>
          <p:cNvSpPr/>
          <p:nvPr/>
        </p:nvSpPr>
        <p:spPr>
          <a:xfrm>
            <a:off x="502920" y="4026877"/>
            <a:ext cx="11185855" cy="0"/>
          </a:xfrm>
          <a:prstGeom prst="line">
            <a:avLst/>
          </a:prstGeom>
          <a:noFill/>
          <a:ln w="9525">
            <a:solidFill>
              <a:srgbClr val="F1F5F9"/>
            </a:solidFill>
            <a:prstDash val="solid"/>
          </a:ln>
        </p:spPr>
      </p:sp>
      <p:sp>
        <p:nvSpPr>
          <p:cNvPr id="45" name="Text 43"/>
          <p:cNvSpPr/>
          <p:nvPr/>
        </p:nvSpPr>
        <p:spPr>
          <a:xfrm>
            <a:off x="594360" y="4026877"/>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Capture conversations on the floor</a:t>
            </a:r>
            <a:endParaRPr lang="en-US" sz="1100" dirty="0"/>
          </a:p>
        </p:txBody>
      </p:sp>
      <p:sp>
        <p:nvSpPr>
          <p:cNvPr id="46" name="Text 44"/>
          <p:cNvSpPr/>
          <p:nvPr/>
        </p:nvSpPr>
        <p:spPr>
          <a:xfrm>
            <a:off x="5074920" y="4026877"/>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Heavy data entry at the booth</a:t>
            </a:r>
            <a:endParaRPr lang="en-US" sz="1050" dirty="0"/>
          </a:p>
        </p:txBody>
      </p:sp>
      <p:sp>
        <p:nvSpPr>
          <p:cNvPr id="47" name="Shape 45"/>
          <p:cNvSpPr/>
          <p:nvPr/>
        </p:nvSpPr>
        <p:spPr>
          <a:xfrm>
            <a:off x="8092440" y="4077169"/>
            <a:ext cx="1969618" cy="201871"/>
          </a:xfrm>
          <a:prstGeom prst="roundRect">
            <a:avLst>
              <a:gd name="adj" fmla="val 27178"/>
            </a:avLst>
          </a:prstGeom>
          <a:solidFill>
            <a:srgbClr val="ECFDF5"/>
          </a:solidFill>
          <a:ln w="12700">
            <a:solidFill>
              <a:srgbClr val="D1FAE5"/>
            </a:solidFill>
            <a:prstDash val="solid"/>
          </a:ln>
        </p:spPr>
      </p:sp>
      <p:sp>
        <p:nvSpPr>
          <p:cNvPr id="48" name="Text 46"/>
          <p:cNvSpPr/>
          <p:nvPr/>
        </p:nvSpPr>
        <p:spPr>
          <a:xfrm>
            <a:off x="8092440" y="4077169"/>
            <a:ext cx="1969618"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Designed for the floor</a:t>
            </a:r>
            <a:endParaRPr lang="en-US" sz="1000" dirty="0"/>
          </a:p>
        </p:txBody>
      </p:sp>
      <p:sp>
        <p:nvSpPr>
          <p:cNvPr id="49" name="Shape 47"/>
          <p:cNvSpPr/>
          <p:nvPr/>
        </p:nvSpPr>
        <p:spPr>
          <a:xfrm>
            <a:off x="502920" y="4329332"/>
            <a:ext cx="11185855" cy="302455"/>
          </a:xfrm>
          <a:prstGeom prst="rect">
            <a:avLst/>
          </a:prstGeom>
          <a:solidFill>
            <a:srgbClr val="FCFCFD"/>
          </a:solidFill>
          <a:ln/>
        </p:spPr>
      </p:sp>
      <p:sp>
        <p:nvSpPr>
          <p:cNvPr id="50" name="Shape 48"/>
          <p:cNvSpPr/>
          <p:nvPr/>
        </p:nvSpPr>
        <p:spPr>
          <a:xfrm>
            <a:off x="502920" y="4329332"/>
            <a:ext cx="11185855" cy="0"/>
          </a:xfrm>
          <a:prstGeom prst="line">
            <a:avLst/>
          </a:prstGeom>
          <a:noFill/>
          <a:ln w="9525">
            <a:solidFill>
              <a:srgbClr val="F1F5F9"/>
            </a:solidFill>
            <a:prstDash val="solid"/>
          </a:ln>
        </p:spPr>
      </p:sp>
      <p:sp>
        <p:nvSpPr>
          <p:cNvPr id="51" name="Text 49"/>
          <p:cNvSpPr/>
          <p:nvPr/>
        </p:nvSpPr>
        <p:spPr>
          <a:xfrm>
            <a:off x="594360" y="4329332"/>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Record booth &amp; exhibition context</a:t>
            </a:r>
            <a:endParaRPr lang="en-US" sz="1100" dirty="0"/>
          </a:p>
        </p:txBody>
      </p:sp>
      <p:sp>
        <p:nvSpPr>
          <p:cNvPr id="52" name="Text 50"/>
          <p:cNvSpPr/>
          <p:nvPr/>
        </p:nvSpPr>
        <p:spPr>
          <a:xfrm>
            <a:off x="5074920" y="4329332"/>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Extra custom fields to build</a:t>
            </a:r>
            <a:endParaRPr lang="en-US" sz="1050" dirty="0"/>
          </a:p>
        </p:txBody>
      </p:sp>
      <p:sp>
        <p:nvSpPr>
          <p:cNvPr id="53" name="Shape 51"/>
          <p:cNvSpPr/>
          <p:nvPr/>
        </p:nvSpPr>
        <p:spPr>
          <a:xfrm>
            <a:off x="8092440" y="4379624"/>
            <a:ext cx="1969618" cy="201871"/>
          </a:xfrm>
          <a:prstGeom prst="roundRect">
            <a:avLst>
              <a:gd name="adj" fmla="val 27178"/>
            </a:avLst>
          </a:prstGeom>
          <a:solidFill>
            <a:srgbClr val="ECFDF5"/>
          </a:solidFill>
          <a:ln w="12700">
            <a:solidFill>
              <a:srgbClr val="D1FAE5"/>
            </a:solidFill>
            <a:prstDash val="solid"/>
          </a:ln>
        </p:spPr>
      </p:sp>
      <p:sp>
        <p:nvSpPr>
          <p:cNvPr id="54" name="Text 52"/>
          <p:cNvSpPr/>
          <p:nvPr/>
        </p:nvSpPr>
        <p:spPr>
          <a:xfrm>
            <a:off x="8092440" y="4379624"/>
            <a:ext cx="1969618"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Native, out of the box</a:t>
            </a:r>
            <a:endParaRPr lang="en-US" sz="1000" dirty="0"/>
          </a:p>
        </p:txBody>
      </p:sp>
      <p:sp>
        <p:nvSpPr>
          <p:cNvPr id="55" name="Shape 53"/>
          <p:cNvSpPr/>
          <p:nvPr/>
        </p:nvSpPr>
        <p:spPr>
          <a:xfrm>
            <a:off x="502920" y="4631788"/>
            <a:ext cx="11185855" cy="0"/>
          </a:xfrm>
          <a:prstGeom prst="line">
            <a:avLst/>
          </a:prstGeom>
          <a:noFill/>
          <a:ln w="9525">
            <a:solidFill>
              <a:srgbClr val="F1F5F9"/>
            </a:solidFill>
            <a:prstDash val="solid"/>
          </a:ln>
        </p:spPr>
      </p:sp>
      <p:sp>
        <p:nvSpPr>
          <p:cNvPr id="56" name="Text 54"/>
          <p:cNvSpPr/>
          <p:nvPr/>
        </p:nvSpPr>
        <p:spPr>
          <a:xfrm>
            <a:off x="594360" y="4631788"/>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Capture product, need &amp; opportunity</a:t>
            </a:r>
            <a:endParaRPr lang="en-US" sz="1100" dirty="0"/>
          </a:p>
        </p:txBody>
      </p:sp>
      <p:sp>
        <p:nvSpPr>
          <p:cNvPr id="57" name="Text 55"/>
          <p:cNvSpPr/>
          <p:nvPr/>
        </p:nvSpPr>
        <p:spPr>
          <a:xfrm>
            <a:off x="5074920" y="4631788"/>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Manual fields &amp; steps</a:t>
            </a:r>
            <a:endParaRPr lang="en-US" sz="1050" dirty="0"/>
          </a:p>
        </p:txBody>
      </p:sp>
      <p:sp>
        <p:nvSpPr>
          <p:cNvPr id="58" name="Shape 56"/>
          <p:cNvSpPr/>
          <p:nvPr/>
        </p:nvSpPr>
        <p:spPr>
          <a:xfrm>
            <a:off x="8092440" y="4682080"/>
            <a:ext cx="1894637" cy="201871"/>
          </a:xfrm>
          <a:prstGeom prst="roundRect">
            <a:avLst>
              <a:gd name="adj" fmla="val 27178"/>
            </a:avLst>
          </a:prstGeom>
          <a:solidFill>
            <a:srgbClr val="ECFDF5"/>
          </a:solidFill>
          <a:ln w="12700">
            <a:solidFill>
              <a:srgbClr val="D1FAE5"/>
            </a:solidFill>
            <a:prstDash val="solid"/>
          </a:ln>
        </p:spPr>
      </p:sp>
      <p:sp>
        <p:nvSpPr>
          <p:cNvPr id="59" name="Text 57"/>
          <p:cNvSpPr/>
          <p:nvPr/>
        </p:nvSpPr>
        <p:spPr>
          <a:xfrm>
            <a:off x="8092440" y="4682080"/>
            <a:ext cx="1894637"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Exhibition-first flow</a:t>
            </a:r>
            <a:endParaRPr lang="en-US" sz="1000" dirty="0"/>
          </a:p>
        </p:txBody>
      </p:sp>
      <p:sp>
        <p:nvSpPr>
          <p:cNvPr id="60" name="Shape 58"/>
          <p:cNvSpPr/>
          <p:nvPr/>
        </p:nvSpPr>
        <p:spPr>
          <a:xfrm>
            <a:off x="502920" y="4934243"/>
            <a:ext cx="11185855" cy="302455"/>
          </a:xfrm>
          <a:prstGeom prst="rect">
            <a:avLst/>
          </a:prstGeom>
          <a:solidFill>
            <a:srgbClr val="FCFCFD"/>
          </a:solidFill>
          <a:ln/>
        </p:spPr>
      </p:sp>
      <p:sp>
        <p:nvSpPr>
          <p:cNvPr id="61" name="Shape 59"/>
          <p:cNvSpPr/>
          <p:nvPr/>
        </p:nvSpPr>
        <p:spPr>
          <a:xfrm>
            <a:off x="502920" y="4934243"/>
            <a:ext cx="11185855" cy="0"/>
          </a:xfrm>
          <a:prstGeom prst="line">
            <a:avLst/>
          </a:prstGeom>
          <a:noFill/>
          <a:ln w="9525">
            <a:solidFill>
              <a:srgbClr val="F1F5F9"/>
            </a:solidFill>
            <a:prstDash val="solid"/>
          </a:ln>
        </p:spPr>
      </p:sp>
      <p:sp>
        <p:nvSpPr>
          <p:cNvPr id="62" name="Text 60"/>
          <p:cNvSpPr/>
          <p:nvPr/>
        </p:nvSpPr>
        <p:spPr>
          <a:xfrm>
            <a:off x="594360" y="4934243"/>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Prioritise contacts right after meeting</a:t>
            </a:r>
            <a:endParaRPr lang="en-US" sz="1100" dirty="0"/>
          </a:p>
        </p:txBody>
      </p:sp>
      <p:sp>
        <p:nvSpPr>
          <p:cNvPr id="63" name="Text 61"/>
          <p:cNvSpPr/>
          <p:nvPr/>
        </p:nvSpPr>
        <p:spPr>
          <a:xfrm>
            <a:off x="5074920" y="4934243"/>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Manual tagging</a:t>
            </a:r>
            <a:endParaRPr lang="en-US" sz="1050" dirty="0"/>
          </a:p>
        </p:txBody>
      </p:sp>
      <p:sp>
        <p:nvSpPr>
          <p:cNvPr id="64" name="Shape 62"/>
          <p:cNvSpPr/>
          <p:nvPr/>
        </p:nvSpPr>
        <p:spPr>
          <a:xfrm>
            <a:off x="8092440" y="4984535"/>
            <a:ext cx="1744675" cy="201871"/>
          </a:xfrm>
          <a:prstGeom prst="roundRect">
            <a:avLst>
              <a:gd name="adj" fmla="val 27178"/>
            </a:avLst>
          </a:prstGeom>
          <a:solidFill>
            <a:srgbClr val="ECFDF5"/>
          </a:solidFill>
          <a:ln w="12700">
            <a:solidFill>
              <a:srgbClr val="D1FAE5"/>
            </a:solidFill>
            <a:prstDash val="solid"/>
          </a:ln>
        </p:spPr>
      </p:sp>
      <p:sp>
        <p:nvSpPr>
          <p:cNvPr id="65" name="Text 63"/>
          <p:cNvSpPr/>
          <p:nvPr/>
        </p:nvSpPr>
        <p:spPr>
          <a:xfrm>
            <a:off x="8092440" y="4984535"/>
            <a:ext cx="1744675"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 into the flow</a:t>
            </a:r>
            <a:endParaRPr lang="en-US" sz="1000" dirty="0"/>
          </a:p>
        </p:txBody>
      </p:sp>
      <p:sp>
        <p:nvSpPr>
          <p:cNvPr id="66" name="Shape 64"/>
          <p:cNvSpPr/>
          <p:nvPr/>
        </p:nvSpPr>
        <p:spPr>
          <a:xfrm>
            <a:off x="502920" y="5236698"/>
            <a:ext cx="11185855" cy="0"/>
          </a:xfrm>
          <a:prstGeom prst="line">
            <a:avLst/>
          </a:prstGeom>
          <a:noFill/>
          <a:ln w="9525">
            <a:solidFill>
              <a:srgbClr val="F1F5F9"/>
            </a:solidFill>
            <a:prstDash val="solid"/>
          </a:ln>
        </p:spPr>
      </p:sp>
      <p:sp>
        <p:nvSpPr>
          <p:cNvPr id="67" name="Text 65"/>
          <p:cNvSpPr/>
          <p:nvPr/>
        </p:nvSpPr>
        <p:spPr>
          <a:xfrm>
            <a:off x="594360" y="5236698"/>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Track commitments (sample, quote)</a:t>
            </a:r>
            <a:endParaRPr lang="en-US" sz="1100" dirty="0"/>
          </a:p>
        </p:txBody>
      </p:sp>
      <p:sp>
        <p:nvSpPr>
          <p:cNvPr id="68" name="Text 66"/>
          <p:cNvSpPr/>
          <p:nvPr/>
        </p:nvSpPr>
        <p:spPr>
          <a:xfrm>
            <a:off x="5074920" y="5236698"/>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Generic tasks to set up</a:t>
            </a:r>
            <a:endParaRPr lang="en-US" sz="1050" dirty="0"/>
          </a:p>
        </p:txBody>
      </p:sp>
      <p:sp>
        <p:nvSpPr>
          <p:cNvPr id="69" name="Shape 67"/>
          <p:cNvSpPr/>
          <p:nvPr/>
        </p:nvSpPr>
        <p:spPr>
          <a:xfrm>
            <a:off x="8092440" y="5286990"/>
            <a:ext cx="2044598" cy="201871"/>
          </a:xfrm>
          <a:prstGeom prst="roundRect">
            <a:avLst>
              <a:gd name="adj" fmla="val 27178"/>
            </a:avLst>
          </a:prstGeom>
          <a:solidFill>
            <a:srgbClr val="ECFDF5"/>
          </a:solidFill>
          <a:ln w="12700">
            <a:solidFill>
              <a:srgbClr val="D1FAE5"/>
            </a:solidFill>
            <a:prstDash val="solid"/>
          </a:ln>
        </p:spPr>
      </p:sp>
      <p:sp>
        <p:nvSpPr>
          <p:cNvPr id="70" name="Text 68"/>
          <p:cNvSpPr/>
          <p:nvPr/>
        </p:nvSpPr>
        <p:spPr>
          <a:xfrm>
            <a:off x="8092440" y="5286990"/>
            <a:ext cx="2044598"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Tied to the interaction</a:t>
            </a:r>
            <a:endParaRPr lang="en-US" sz="1000" dirty="0"/>
          </a:p>
        </p:txBody>
      </p:sp>
      <p:sp>
        <p:nvSpPr>
          <p:cNvPr id="71" name="Shape 69"/>
          <p:cNvSpPr/>
          <p:nvPr/>
        </p:nvSpPr>
        <p:spPr>
          <a:xfrm>
            <a:off x="502920" y="5539154"/>
            <a:ext cx="11185855" cy="302455"/>
          </a:xfrm>
          <a:prstGeom prst="rect">
            <a:avLst/>
          </a:prstGeom>
          <a:solidFill>
            <a:srgbClr val="FCFCFD"/>
          </a:solidFill>
          <a:ln/>
        </p:spPr>
      </p:sp>
      <p:sp>
        <p:nvSpPr>
          <p:cNvPr id="72" name="Shape 70"/>
          <p:cNvSpPr/>
          <p:nvPr/>
        </p:nvSpPr>
        <p:spPr>
          <a:xfrm>
            <a:off x="502920" y="5539154"/>
            <a:ext cx="11185855" cy="0"/>
          </a:xfrm>
          <a:prstGeom prst="line">
            <a:avLst/>
          </a:prstGeom>
          <a:noFill/>
          <a:ln w="9525">
            <a:solidFill>
              <a:srgbClr val="F1F5F9"/>
            </a:solidFill>
            <a:prstDash val="solid"/>
          </a:ln>
        </p:spPr>
      </p:sp>
      <p:sp>
        <p:nvSpPr>
          <p:cNvPr id="73" name="Text 71"/>
          <p:cNvSpPr/>
          <p:nvPr/>
        </p:nvSpPr>
        <p:spPr>
          <a:xfrm>
            <a:off x="594360" y="5539154"/>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See everything from one exhibition</a:t>
            </a:r>
            <a:endParaRPr lang="en-US" sz="1100" dirty="0"/>
          </a:p>
        </p:txBody>
      </p:sp>
      <p:sp>
        <p:nvSpPr>
          <p:cNvPr id="74" name="Text 72"/>
          <p:cNvSpPr/>
          <p:nvPr/>
        </p:nvSpPr>
        <p:spPr>
          <a:xfrm>
            <a:off x="5074920" y="5539154"/>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Custom reports to build</a:t>
            </a:r>
            <a:endParaRPr lang="en-US" sz="1050" dirty="0"/>
          </a:p>
        </p:txBody>
      </p:sp>
      <p:sp>
        <p:nvSpPr>
          <p:cNvPr id="75" name="Shape 73"/>
          <p:cNvSpPr/>
          <p:nvPr/>
        </p:nvSpPr>
        <p:spPr>
          <a:xfrm>
            <a:off x="8092440" y="5589446"/>
            <a:ext cx="1894637" cy="201871"/>
          </a:xfrm>
          <a:prstGeom prst="roundRect">
            <a:avLst>
              <a:gd name="adj" fmla="val 27178"/>
            </a:avLst>
          </a:prstGeom>
          <a:solidFill>
            <a:srgbClr val="ECFDF5"/>
          </a:solidFill>
          <a:ln w="12700">
            <a:solidFill>
              <a:srgbClr val="D1FAE5"/>
            </a:solidFill>
            <a:prstDash val="solid"/>
          </a:ln>
        </p:spPr>
      </p:sp>
      <p:sp>
        <p:nvSpPr>
          <p:cNvPr id="76" name="Text 74"/>
          <p:cNvSpPr/>
          <p:nvPr/>
        </p:nvSpPr>
        <p:spPr>
          <a:xfrm>
            <a:off x="8092440" y="5589446"/>
            <a:ext cx="1894637" cy="201871"/>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Exhibition-level view</a:t>
            </a:r>
            <a:endParaRPr lang="en-US" sz="1000" dirty="0"/>
          </a:p>
        </p:txBody>
      </p:sp>
      <p:sp>
        <p:nvSpPr>
          <p:cNvPr id="77" name="Shape 75"/>
          <p:cNvSpPr/>
          <p:nvPr/>
        </p:nvSpPr>
        <p:spPr>
          <a:xfrm>
            <a:off x="502920" y="5841609"/>
            <a:ext cx="11185855" cy="0"/>
          </a:xfrm>
          <a:prstGeom prst="line">
            <a:avLst/>
          </a:prstGeom>
          <a:noFill/>
          <a:ln w="9525">
            <a:solidFill>
              <a:srgbClr val="F1F5F9"/>
            </a:solidFill>
            <a:prstDash val="solid"/>
          </a:ln>
        </p:spPr>
      </p:sp>
      <p:sp>
        <p:nvSpPr>
          <p:cNvPr id="78" name="Text 76"/>
          <p:cNvSpPr/>
          <p:nvPr/>
        </p:nvSpPr>
        <p:spPr>
          <a:xfrm>
            <a:off x="594360" y="5841609"/>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Understand exhibition outcomes</a:t>
            </a:r>
            <a:endParaRPr lang="en-US" sz="1100" dirty="0"/>
          </a:p>
        </p:txBody>
      </p:sp>
      <p:sp>
        <p:nvSpPr>
          <p:cNvPr id="79" name="Text 77"/>
          <p:cNvSpPr/>
          <p:nvPr/>
        </p:nvSpPr>
        <p:spPr>
          <a:xfrm>
            <a:off x="5074920" y="5841609"/>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Needs data model &amp; reports</a:t>
            </a:r>
            <a:endParaRPr lang="en-US" sz="1050" dirty="0"/>
          </a:p>
        </p:txBody>
      </p:sp>
      <p:sp>
        <p:nvSpPr>
          <p:cNvPr id="80" name="Shape 78"/>
          <p:cNvSpPr/>
          <p:nvPr/>
        </p:nvSpPr>
        <p:spPr>
          <a:xfrm>
            <a:off x="8092440" y="5891901"/>
            <a:ext cx="1969618" cy="201871"/>
          </a:xfrm>
          <a:prstGeom prst="roundRect">
            <a:avLst>
              <a:gd name="adj" fmla="val 27178"/>
            </a:avLst>
          </a:prstGeom>
          <a:solidFill>
            <a:srgbClr val="FFFBEB"/>
          </a:solidFill>
          <a:ln w="12700">
            <a:solidFill>
              <a:srgbClr val="FDE68A"/>
            </a:solidFill>
            <a:prstDash val="solid"/>
          </a:ln>
        </p:spPr>
      </p:sp>
      <p:sp>
        <p:nvSpPr>
          <p:cNvPr id="81" name="Text 79"/>
          <p:cNvSpPr/>
          <p:nvPr/>
        </p:nvSpPr>
        <p:spPr>
          <a:xfrm>
            <a:off x="8092440" y="5891901"/>
            <a:ext cx="1969618" cy="201871"/>
          </a:xfrm>
          <a:prstGeom prst="rect">
            <a:avLst/>
          </a:prstGeom>
          <a:noFill/>
          <a:ln/>
        </p:spPr>
        <p:txBody>
          <a:bodyPr wrap="square" lIns="0" tIns="0" rIns="0" bIns="0" rtlCol="0" anchor="ctr"/>
          <a:lstStyle/>
          <a:p>
            <a:pPr algn="ctr" indent="0" marL="0">
              <a:buNone/>
            </a:pPr>
            <a:r>
              <a:rPr lang="en-US" sz="1000" b="1" dirty="0">
                <a:solidFill>
                  <a:srgbClr val="7C5B16"/>
                </a:solidFill>
                <a:latin typeface="Calibri" pitchFamily="34" charset="0"/>
                <a:ea typeface="Calibri" pitchFamily="34" charset="-122"/>
                <a:cs typeface="Calibri" pitchFamily="34" charset="-120"/>
              </a:rPr>
              <a:t>● Core product direction</a:t>
            </a:r>
            <a:endParaRPr lang="en-US" sz="1000" dirty="0"/>
          </a:p>
        </p:txBody>
      </p:sp>
      <p:sp>
        <p:nvSpPr>
          <p:cNvPr id="82" name="Shape 80"/>
          <p:cNvSpPr/>
          <p:nvPr/>
        </p:nvSpPr>
        <p:spPr>
          <a:xfrm>
            <a:off x="502920" y="6144065"/>
            <a:ext cx="11185855" cy="302455"/>
          </a:xfrm>
          <a:prstGeom prst="rect">
            <a:avLst/>
          </a:prstGeom>
          <a:solidFill>
            <a:srgbClr val="FCFCFD"/>
          </a:solidFill>
          <a:ln/>
        </p:spPr>
      </p:sp>
      <p:sp>
        <p:nvSpPr>
          <p:cNvPr id="83" name="Shape 81"/>
          <p:cNvSpPr/>
          <p:nvPr/>
        </p:nvSpPr>
        <p:spPr>
          <a:xfrm>
            <a:off x="502920" y="6144065"/>
            <a:ext cx="11185855" cy="0"/>
          </a:xfrm>
          <a:prstGeom prst="line">
            <a:avLst/>
          </a:prstGeom>
          <a:noFill/>
          <a:ln w="9525">
            <a:solidFill>
              <a:srgbClr val="F1F5F9"/>
            </a:solidFill>
            <a:prstDash val="solid"/>
          </a:ln>
        </p:spPr>
      </p:sp>
      <p:sp>
        <p:nvSpPr>
          <p:cNvPr id="84" name="Text 82"/>
          <p:cNvSpPr/>
          <p:nvPr/>
        </p:nvSpPr>
        <p:spPr>
          <a:xfrm>
            <a:off x="594360" y="6144065"/>
            <a:ext cx="4343400" cy="302455"/>
          </a:xfrm>
          <a:prstGeom prst="rect">
            <a:avLst/>
          </a:prstGeom>
          <a:noFill/>
          <a:ln/>
        </p:spPr>
        <p:txBody>
          <a:bodyPr wrap="square" lIns="0" tIns="0" rIns="0" bIns="0" rtlCol="0" anchor="ctr"/>
          <a:lstStyle/>
          <a:p>
            <a:pPr algn="l" indent="0" marL="0">
              <a:buNone/>
            </a:pPr>
            <a:r>
              <a:rPr lang="en-US" sz="1100" b="1" dirty="0">
                <a:solidFill>
                  <a:srgbClr val="0F172A"/>
                </a:solidFill>
                <a:latin typeface="Calibri" pitchFamily="34" charset="0"/>
                <a:ea typeface="Calibri" pitchFamily="34" charset="-122"/>
                <a:cs typeface="Calibri" pitchFamily="34" charset="-120"/>
              </a:rPr>
              <a:t>Long-term nurturing &amp; accounts</a:t>
            </a:r>
            <a:endParaRPr lang="en-US" sz="1100" dirty="0"/>
          </a:p>
        </p:txBody>
      </p:sp>
      <p:sp>
        <p:nvSpPr>
          <p:cNvPr id="85" name="Text 83"/>
          <p:cNvSpPr/>
          <p:nvPr/>
        </p:nvSpPr>
        <p:spPr>
          <a:xfrm>
            <a:off x="5074920" y="6144065"/>
            <a:ext cx="2880360" cy="302455"/>
          </a:xfrm>
          <a:prstGeom prst="rect">
            <a:avLst/>
          </a:prstGeom>
          <a:noFill/>
          <a:ln/>
        </p:spPr>
        <p:txBody>
          <a:bodyPr wrap="square" lIns="0" tIns="0" rIns="0" bIns="0" rtlCol="0" anchor="ctr"/>
          <a:lstStyle/>
          <a:p>
            <a:pPr algn="l" indent="0" marL="0">
              <a:buNone/>
            </a:pPr>
            <a:r>
              <a:rPr lang="en-US" sz="1050" dirty="0">
                <a:solidFill>
                  <a:srgbClr val="64748B"/>
                </a:solidFill>
                <a:latin typeface="Calibri" pitchFamily="34" charset="0"/>
                <a:ea typeface="Calibri" pitchFamily="34" charset="-122"/>
                <a:cs typeface="Calibri" pitchFamily="34" charset="-120"/>
              </a:rPr>
              <a:t>Core strength</a:t>
            </a:r>
            <a:endParaRPr lang="en-US" sz="1050" dirty="0"/>
          </a:p>
        </p:txBody>
      </p:sp>
      <p:sp>
        <p:nvSpPr>
          <p:cNvPr id="86" name="Shape 84"/>
          <p:cNvSpPr/>
          <p:nvPr/>
        </p:nvSpPr>
        <p:spPr>
          <a:xfrm>
            <a:off x="8092440" y="6194357"/>
            <a:ext cx="1969618" cy="201871"/>
          </a:xfrm>
          <a:prstGeom prst="roundRect">
            <a:avLst>
              <a:gd name="adj" fmla="val 27178"/>
            </a:avLst>
          </a:prstGeom>
          <a:solidFill>
            <a:srgbClr val="F8FAFC"/>
          </a:solidFill>
          <a:ln w="12700">
            <a:solidFill>
              <a:srgbClr val="E2E8F0"/>
            </a:solidFill>
            <a:prstDash val="solid"/>
          </a:ln>
        </p:spPr>
      </p:sp>
      <p:sp>
        <p:nvSpPr>
          <p:cNvPr id="87" name="Text 85"/>
          <p:cNvSpPr/>
          <p:nvPr/>
        </p:nvSpPr>
        <p:spPr>
          <a:xfrm>
            <a:off x="8092440" y="6194357"/>
            <a:ext cx="1969618" cy="201871"/>
          </a:xfrm>
          <a:prstGeom prst="rect">
            <a:avLst/>
          </a:prstGeom>
          <a:noFill/>
          <a:ln/>
        </p:spPr>
        <p:txBody>
          <a:bodyPr wrap="square" lIns="0" tIns="0" rIns="0" bIns="0" rtlCol="0" anchor="ctr"/>
          <a:lstStyle/>
          <a:p>
            <a:pPr algn="ctr" indent="0" marL="0">
              <a:buNone/>
            </a:pPr>
            <a:r>
              <a:rPr lang="en-US" sz="1000" b="1" dirty="0">
                <a:solidFill>
                  <a:srgbClr val="475569"/>
                </a:solidFill>
                <a:latin typeface="Calibri" pitchFamily="34" charset="0"/>
                <a:ea typeface="Calibri" pitchFamily="34" charset="-122"/>
                <a:cs typeface="Calibri" pitchFamily="34" charset="-120"/>
              </a:rPr>
              <a:t>Designed to complement</a:t>
            </a:r>
            <a:endParaRPr lang="en-US" sz="1000" dirty="0"/>
          </a:p>
        </p:txBody>
      </p:sp>
      <p:sp>
        <p:nvSpPr>
          <p:cNvPr id="88" name="Text 86"/>
          <p:cNvSpPr/>
          <p:nvPr/>
        </p:nvSpPr>
        <p:spPr>
          <a:xfrm>
            <a:off x="502920" y="6455664"/>
            <a:ext cx="8503920" cy="384048"/>
          </a:xfrm>
          <a:prstGeom prst="rect">
            <a:avLst/>
          </a:prstGeom>
          <a:noFill/>
          <a:ln/>
        </p:spPr>
        <p:txBody>
          <a:bodyPr wrap="square" lIns="0" tIns="0" rIns="0" bIns="0" rtlCol="0" anchor="t"/>
          <a:lstStyle/>
          <a:p>
            <a:pPr algn="l" indent="0" marL="0">
              <a:lnSpc>
                <a:spcPct val="103000"/>
              </a:lnSpc>
              <a:buNone/>
            </a:pPr>
            <a:r>
              <a:rPr lang="en-US" sz="1000" b="1" i="1" dirty="0">
                <a:solidFill>
                  <a:srgbClr val="475569"/>
                </a:solidFill>
                <a:latin typeface="Calibri" pitchFamily="34" charset="0"/>
                <a:ea typeface="Calibri" pitchFamily="34" charset="-122"/>
                <a:cs typeface="Calibri" pitchFamily="34" charset="-120"/>
              </a:rPr>
              <a:t>Possible is not the same as practical. </a:t>
            </a:r>
            <a:pPr algn="l" indent="0" marL="0">
              <a:lnSpc>
                <a:spcPct val="103000"/>
              </a:lnSpc>
              <a:buNone/>
            </a:pPr>
            <a:r>
              <a:rPr lang="en-US" sz="1000" i="1" dirty="0">
                <a:solidFill>
                  <a:srgbClr val="64748B"/>
                </a:solidFill>
                <a:latin typeface="Calibri" pitchFamily="34" charset="0"/>
                <a:ea typeface="Calibri" pitchFamily="34" charset="-122"/>
                <a:cs typeface="Calibri" pitchFamily="34" charset="-120"/>
              </a:rPr>
              <a:t>Almost all of this can be built in a CRM with custom fields, configuration and team discipline, a setup project in itself. ExpoLead is built for the exhibition and works out of the box, with no configuration.</a:t>
            </a:r>
            <a:endParaRPr lang="en-US" sz="1000" dirty="0"/>
          </a:p>
        </p:txBody>
      </p:sp>
      <p:sp>
        <p:nvSpPr>
          <p:cNvPr id="89" name="Shape 87"/>
          <p:cNvSpPr/>
          <p:nvPr/>
        </p:nvSpPr>
        <p:spPr>
          <a:xfrm>
            <a:off x="9402775" y="6492240"/>
            <a:ext cx="219456" cy="219456"/>
          </a:xfrm>
          <a:prstGeom prst="roundRect">
            <a:avLst>
              <a:gd name="adj" fmla="val 20833"/>
            </a:avLst>
          </a:prstGeom>
          <a:solidFill>
            <a:srgbClr val="FFFBEB"/>
          </a:solidFill>
          <a:ln w="12700">
            <a:solidFill>
              <a:srgbClr val="FDE68A"/>
            </a:solidFill>
            <a:prstDash val="solid"/>
          </a:ln>
        </p:spPr>
      </p:sp>
      <p:sp>
        <p:nvSpPr>
          <p:cNvPr id="90" name="Text 88"/>
          <p:cNvSpPr/>
          <p:nvPr/>
        </p:nvSpPr>
        <p:spPr>
          <a:xfrm>
            <a:off x="9677095" y="6455664"/>
            <a:ext cx="2011680" cy="292608"/>
          </a:xfrm>
          <a:prstGeom prst="rect">
            <a:avLst/>
          </a:prstGeom>
          <a:noFill/>
          <a:ln/>
        </p:spPr>
        <p:txBody>
          <a:bodyPr wrap="square" lIns="0" tIns="0" rIns="0" bIns="0" rtlCol="0" anchor="ctr"/>
          <a:lstStyle/>
          <a:p>
            <a:pPr algn="l" indent="0" marL="0">
              <a:buNone/>
            </a:pPr>
            <a:r>
              <a:rPr lang="en-US" sz="950" b="1" dirty="0">
                <a:solidFill>
                  <a:srgbClr val="7C5B16"/>
                </a:solidFill>
                <a:latin typeface="Calibri" pitchFamily="34" charset="0"/>
                <a:ea typeface="Calibri" pitchFamily="34" charset="-122"/>
                <a:cs typeface="Calibri" pitchFamily="34" charset="-120"/>
              </a:rPr>
              <a:t>●  Product direction, not a current claim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WHY CONTEXT MATTERS</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The exhibition floor is not a quiet desk</a:t>
            </a:r>
            <a:endParaRPr lang="en-US" sz="2600" dirty="0"/>
          </a:p>
        </p:txBody>
      </p:sp>
      <p:sp>
        <p:nvSpPr>
          <p:cNvPr id="9" name="Shape 7"/>
          <p:cNvSpPr/>
          <p:nvPr/>
        </p:nvSpPr>
        <p:spPr>
          <a:xfrm>
            <a:off x="502920" y="2148840"/>
            <a:ext cx="5486400" cy="3977640"/>
          </a:xfrm>
          <a:prstGeom prst="roundRect">
            <a:avLst>
              <a:gd name="adj" fmla="val 2299"/>
            </a:avLst>
          </a:prstGeom>
          <a:solidFill>
            <a:srgbClr val="0F172A"/>
          </a:solidFill>
          <a:ln/>
        </p:spPr>
      </p:sp>
      <p:sp>
        <p:nvSpPr>
          <p:cNvPr id="10" name="Text 8"/>
          <p:cNvSpPr/>
          <p:nvPr/>
        </p:nvSpPr>
        <p:spPr>
          <a:xfrm>
            <a:off x="822960" y="2423160"/>
            <a:ext cx="4846320" cy="274320"/>
          </a:xfrm>
          <a:prstGeom prst="rect">
            <a:avLst/>
          </a:prstGeom>
          <a:noFill/>
          <a:ln/>
        </p:spPr>
        <p:txBody>
          <a:bodyPr wrap="square" lIns="0" tIns="0" rIns="0" bIns="0" rtlCol="0" anchor="ctr"/>
          <a:lstStyle/>
          <a:p>
            <a:pPr indent="0" marL="0">
              <a:buNone/>
            </a:pPr>
            <a:r>
              <a:rPr lang="en-US" sz="1100" b="1" spc="120" kern="0" dirty="0">
                <a:solidFill>
                  <a:srgbClr val="34D399"/>
                </a:solidFill>
                <a:latin typeface="Calibri" pitchFamily="34" charset="0"/>
                <a:ea typeface="Calibri" pitchFamily="34" charset="-122"/>
                <a:cs typeface="Calibri" pitchFamily="34" charset="-120"/>
              </a:rPr>
              <a:t>THE EXHIBITION REALITY</a:t>
            </a:r>
            <a:endParaRPr lang="en-US" sz="1100" dirty="0"/>
          </a:p>
        </p:txBody>
      </p:sp>
      <p:sp>
        <p:nvSpPr>
          <p:cNvPr id="11" name="Shape 9"/>
          <p:cNvSpPr/>
          <p:nvPr/>
        </p:nvSpPr>
        <p:spPr>
          <a:xfrm>
            <a:off x="822960" y="2880360"/>
            <a:ext cx="1629461" cy="365760"/>
          </a:xfrm>
          <a:prstGeom prst="roundRect">
            <a:avLst>
              <a:gd name="adj" fmla="val 50000"/>
            </a:avLst>
          </a:prstGeom>
          <a:solidFill>
            <a:srgbClr val="1E293B"/>
          </a:solidFill>
          <a:ln w="12700">
            <a:solidFill>
              <a:srgbClr val="334155"/>
            </a:solidFill>
            <a:prstDash val="solid"/>
          </a:ln>
        </p:spPr>
      </p:sp>
      <p:sp>
        <p:nvSpPr>
          <p:cNvPr id="12" name="Text 10"/>
          <p:cNvSpPr/>
          <p:nvPr/>
        </p:nvSpPr>
        <p:spPr>
          <a:xfrm>
            <a:off x="822960" y="2880360"/>
            <a:ext cx="1629461"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Where do I go next?</a:t>
            </a:r>
            <a:endParaRPr lang="en-US" sz="1100" dirty="0"/>
          </a:p>
        </p:txBody>
      </p:sp>
      <p:sp>
        <p:nvSpPr>
          <p:cNvPr id="13" name="Shape 11"/>
          <p:cNvSpPr/>
          <p:nvPr/>
        </p:nvSpPr>
        <p:spPr>
          <a:xfrm>
            <a:off x="2562149" y="2880360"/>
            <a:ext cx="1700784" cy="365760"/>
          </a:xfrm>
          <a:prstGeom prst="roundRect">
            <a:avLst>
              <a:gd name="adj" fmla="val 50000"/>
            </a:avLst>
          </a:prstGeom>
          <a:solidFill>
            <a:srgbClr val="1E293B"/>
          </a:solidFill>
          <a:ln w="12700">
            <a:solidFill>
              <a:srgbClr val="334155"/>
            </a:solidFill>
            <a:prstDash val="solid"/>
          </a:ln>
        </p:spPr>
      </p:sp>
      <p:sp>
        <p:nvSpPr>
          <p:cNvPr id="14" name="Text 12"/>
          <p:cNvSpPr/>
          <p:nvPr/>
        </p:nvSpPr>
        <p:spPr>
          <a:xfrm>
            <a:off x="2562149" y="2880360"/>
            <a:ext cx="170078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Which booth is this?</a:t>
            </a:r>
            <a:endParaRPr lang="en-US" sz="1100" dirty="0"/>
          </a:p>
        </p:txBody>
      </p:sp>
      <p:sp>
        <p:nvSpPr>
          <p:cNvPr id="15" name="Shape 13"/>
          <p:cNvSpPr/>
          <p:nvPr/>
        </p:nvSpPr>
        <p:spPr>
          <a:xfrm>
            <a:off x="822960" y="3355848"/>
            <a:ext cx="2342693" cy="365760"/>
          </a:xfrm>
          <a:prstGeom prst="roundRect">
            <a:avLst>
              <a:gd name="adj" fmla="val 50000"/>
            </a:avLst>
          </a:prstGeom>
          <a:solidFill>
            <a:srgbClr val="1E293B"/>
          </a:solidFill>
          <a:ln w="12700">
            <a:solidFill>
              <a:srgbClr val="334155"/>
            </a:solidFill>
            <a:prstDash val="solid"/>
          </a:ln>
        </p:spPr>
      </p:sp>
      <p:sp>
        <p:nvSpPr>
          <p:cNvPr id="16" name="Text 14"/>
          <p:cNvSpPr/>
          <p:nvPr/>
        </p:nvSpPr>
        <p:spPr>
          <a:xfrm>
            <a:off x="822960" y="3355848"/>
            <a:ext cx="2342693"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Has a colleague visited them?</a:t>
            </a:r>
            <a:endParaRPr lang="en-US" sz="1100" dirty="0"/>
          </a:p>
        </p:txBody>
      </p:sp>
      <p:sp>
        <p:nvSpPr>
          <p:cNvPr id="17" name="Shape 15"/>
          <p:cNvSpPr/>
          <p:nvPr/>
        </p:nvSpPr>
        <p:spPr>
          <a:xfrm>
            <a:off x="3275381" y="3355848"/>
            <a:ext cx="1629461" cy="365760"/>
          </a:xfrm>
          <a:prstGeom prst="roundRect">
            <a:avLst>
              <a:gd name="adj" fmla="val 50000"/>
            </a:avLst>
          </a:prstGeom>
          <a:solidFill>
            <a:srgbClr val="1E293B"/>
          </a:solidFill>
          <a:ln w="12700">
            <a:solidFill>
              <a:srgbClr val="334155"/>
            </a:solidFill>
            <a:prstDash val="solid"/>
          </a:ln>
        </p:spPr>
      </p:sp>
      <p:sp>
        <p:nvSpPr>
          <p:cNvPr id="18" name="Text 16"/>
          <p:cNvSpPr/>
          <p:nvPr/>
        </p:nvSpPr>
        <p:spPr>
          <a:xfrm>
            <a:off x="3275381" y="3355848"/>
            <a:ext cx="1629461"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Who did I speak to?</a:t>
            </a:r>
            <a:endParaRPr lang="en-US" sz="1100" dirty="0"/>
          </a:p>
        </p:txBody>
      </p:sp>
      <p:sp>
        <p:nvSpPr>
          <p:cNvPr id="19" name="Shape 17"/>
          <p:cNvSpPr/>
          <p:nvPr/>
        </p:nvSpPr>
        <p:spPr>
          <a:xfrm>
            <a:off x="822960" y="3831336"/>
            <a:ext cx="2200046" cy="365760"/>
          </a:xfrm>
          <a:prstGeom prst="roundRect">
            <a:avLst>
              <a:gd name="adj" fmla="val 50000"/>
            </a:avLst>
          </a:prstGeom>
          <a:solidFill>
            <a:srgbClr val="1E293B"/>
          </a:solidFill>
          <a:ln w="12700">
            <a:solidFill>
              <a:srgbClr val="334155"/>
            </a:solidFill>
            <a:prstDash val="solid"/>
          </a:ln>
        </p:spPr>
      </p:sp>
      <p:sp>
        <p:nvSpPr>
          <p:cNvPr id="20" name="Text 18"/>
          <p:cNvSpPr/>
          <p:nvPr/>
        </p:nvSpPr>
        <p:spPr>
          <a:xfrm>
            <a:off x="822960" y="3831336"/>
            <a:ext cx="2200046"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What product did they want?</a:t>
            </a:r>
            <a:endParaRPr lang="en-US" sz="1100" dirty="0"/>
          </a:p>
        </p:txBody>
      </p:sp>
      <p:sp>
        <p:nvSpPr>
          <p:cNvPr id="21" name="Shape 19"/>
          <p:cNvSpPr/>
          <p:nvPr/>
        </p:nvSpPr>
        <p:spPr>
          <a:xfrm>
            <a:off x="3132734" y="3831336"/>
            <a:ext cx="1914754" cy="365760"/>
          </a:xfrm>
          <a:prstGeom prst="roundRect">
            <a:avLst>
              <a:gd name="adj" fmla="val 50000"/>
            </a:avLst>
          </a:prstGeom>
          <a:solidFill>
            <a:srgbClr val="1E293B"/>
          </a:solidFill>
          <a:ln w="12700">
            <a:solidFill>
              <a:srgbClr val="334155"/>
            </a:solidFill>
            <a:prstDash val="solid"/>
          </a:ln>
        </p:spPr>
      </p:sp>
      <p:sp>
        <p:nvSpPr>
          <p:cNvPr id="22" name="Text 20"/>
          <p:cNvSpPr/>
          <p:nvPr/>
        </p:nvSpPr>
        <p:spPr>
          <a:xfrm>
            <a:off x="3132734" y="3831336"/>
            <a:ext cx="191475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Did I promise a sample?</a:t>
            </a:r>
            <a:endParaRPr lang="en-US" sz="1100" dirty="0"/>
          </a:p>
        </p:txBody>
      </p:sp>
      <p:sp>
        <p:nvSpPr>
          <p:cNvPr id="23" name="Shape 21"/>
          <p:cNvSpPr/>
          <p:nvPr/>
        </p:nvSpPr>
        <p:spPr>
          <a:xfrm>
            <a:off x="822960" y="4306824"/>
            <a:ext cx="1700784" cy="365760"/>
          </a:xfrm>
          <a:prstGeom prst="roundRect">
            <a:avLst>
              <a:gd name="adj" fmla="val 50000"/>
            </a:avLst>
          </a:prstGeom>
          <a:solidFill>
            <a:srgbClr val="1E293B"/>
          </a:solidFill>
          <a:ln w="12700">
            <a:solidFill>
              <a:srgbClr val="334155"/>
            </a:solidFill>
            <a:prstDash val="solid"/>
          </a:ln>
        </p:spPr>
      </p:sp>
      <p:sp>
        <p:nvSpPr>
          <p:cNvPr id="24" name="Text 22"/>
          <p:cNvSpPr/>
          <p:nvPr/>
        </p:nvSpPr>
        <p:spPr>
          <a:xfrm>
            <a:off x="822960" y="4306824"/>
            <a:ext cx="1700784"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Is this one serious?</a:t>
            </a:r>
            <a:endParaRPr lang="en-US" sz="1100" dirty="0"/>
          </a:p>
        </p:txBody>
      </p:sp>
      <p:sp>
        <p:nvSpPr>
          <p:cNvPr id="25" name="Shape 23"/>
          <p:cNvSpPr/>
          <p:nvPr/>
        </p:nvSpPr>
        <p:spPr>
          <a:xfrm>
            <a:off x="2633472" y="4306824"/>
            <a:ext cx="1344168" cy="365760"/>
          </a:xfrm>
          <a:prstGeom prst="roundRect">
            <a:avLst>
              <a:gd name="adj" fmla="val 50000"/>
            </a:avLst>
          </a:prstGeom>
          <a:solidFill>
            <a:srgbClr val="1E293B"/>
          </a:solidFill>
          <a:ln w="12700">
            <a:solidFill>
              <a:srgbClr val="334155"/>
            </a:solidFill>
            <a:prstDash val="solid"/>
          </a:ln>
        </p:spPr>
      </p:sp>
      <p:sp>
        <p:nvSpPr>
          <p:cNvPr id="26" name="Text 24"/>
          <p:cNvSpPr/>
          <p:nvPr/>
        </p:nvSpPr>
        <p:spPr>
          <a:xfrm>
            <a:off x="2633472" y="4306824"/>
            <a:ext cx="1344168" cy="365760"/>
          </a:xfrm>
          <a:prstGeom prst="rect">
            <a:avLst/>
          </a:prstGeom>
          <a:noFill/>
          <a:ln/>
        </p:spPr>
        <p:txBody>
          <a:bodyPr wrap="square" lIns="0" tIns="0" rIns="0" bIns="0" rtlCol="0" anchor="ctr"/>
          <a:lstStyle/>
          <a:p>
            <a:pPr algn="ctr" indent="0" marL="0">
              <a:buNone/>
            </a:pPr>
            <a:r>
              <a:rPr lang="en-US" sz="1100" b="1" dirty="0">
                <a:solidFill>
                  <a:srgbClr val="DBEAFE"/>
                </a:solidFill>
                <a:latin typeface="Calibri" pitchFamily="34" charset="0"/>
                <a:ea typeface="Calibri" pitchFamily="34" charset="-122"/>
                <a:cs typeface="Calibri" pitchFamily="34" charset="-120"/>
              </a:rPr>
              <a:t>Who follows up?</a:t>
            </a:r>
            <a:endParaRPr lang="en-US" sz="1100" dirty="0"/>
          </a:p>
        </p:txBody>
      </p:sp>
      <p:sp>
        <p:nvSpPr>
          <p:cNvPr id="27" name="Text 25"/>
          <p:cNvSpPr/>
          <p:nvPr/>
        </p:nvSpPr>
        <p:spPr>
          <a:xfrm>
            <a:off x="822960" y="5257800"/>
            <a:ext cx="4846320" cy="685800"/>
          </a:xfrm>
          <a:prstGeom prst="rect">
            <a:avLst/>
          </a:prstGeom>
          <a:noFill/>
          <a:ln/>
        </p:spPr>
        <p:txBody>
          <a:bodyPr wrap="square" lIns="0" tIns="0" rIns="0" bIns="0" rtlCol="0" anchor="ctr"/>
          <a:lstStyle/>
          <a:p>
            <a:pPr algn="l" indent="0" marL="0">
              <a:lnSpc>
                <a:spcPct val="115000"/>
              </a:lnSpc>
              <a:buNone/>
            </a:pPr>
            <a:r>
              <a:rPr lang="en-US" sz="1250" dirty="0">
                <a:solidFill>
                  <a:srgbClr val="94A3B8"/>
                </a:solidFill>
                <a:latin typeface="Calibri" pitchFamily="34" charset="0"/>
                <a:ea typeface="Calibri" pitchFamily="34" charset="-122"/>
                <a:cs typeface="Calibri" pitchFamily="34" charset="-120"/>
              </a:rPr>
              <a:t>Dozens, sometimes hundreds of conversations, moving fast. </a:t>
            </a:r>
            <a:pPr algn="l" indent="0" marL="0">
              <a:lnSpc>
                <a:spcPct val="115000"/>
              </a:lnSpc>
              <a:buNone/>
            </a:pPr>
            <a:r>
              <a:rPr lang="en-US" sz="1250" b="1" dirty="0">
                <a:solidFill>
                  <a:srgbClr val="34D399"/>
                </a:solidFill>
                <a:latin typeface="Calibri" pitchFamily="34" charset="0"/>
                <a:ea typeface="Calibri" pitchFamily="34" charset="-122"/>
                <a:cs typeface="Calibri" pitchFamily="34" charset="-120"/>
              </a:rPr>
              <a:t>ExpoLead is being designed around this environment.</a:t>
            </a:r>
            <a:endParaRPr lang="en-US" sz="1250" dirty="0"/>
          </a:p>
        </p:txBody>
      </p:sp>
      <p:sp>
        <p:nvSpPr>
          <p:cNvPr id="28" name="Text 26"/>
          <p:cNvSpPr/>
          <p:nvPr/>
        </p:nvSpPr>
        <p:spPr>
          <a:xfrm>
            <a:off x="6355080" y="2286000"/>
            <a:ext cx="5333695" cy="274320"/>
          </a:xfrm>
          <a:prstGeom prst="rect">
            <a:avLst/>
          </a:prstGeom>
          <a:noFill/>
          <a:ln/>
        </p:spPr>
        <p:txBody>
          <a:bodyPr wrap="square" lIns="0" tIns="0" rIns="0" bIns="0" rtlCol="0" anchor="ctr"/>
          <a:lstStyle/>
          <a:p>
            <a:pPr indent="0" marL="0">
              <a:buNone/>
            </a:pPr>
            <a:r>
              <a:rPr lang="en-US" sz="1100" b="1" spc="100" kern="0" dirty="0">
                <a:solidFill>
                  <a:srgbClr val="059669"/>
                </a:solidFill>
                <a:latin typeface="Calibri" pitchFamily="34" charset="0"/>
                <a:ea typeface="Calibri" pitchFamily="34" charset="-122"/>
                <a:cs typeface="Calibri" pitchFamily="34" charset="-120"/>
              </a:rPr>
              <a:t>THE REAL PROBLEM IS FRAGMENTED EXECUTION</a:t>
            </a:r>
            <a:endParaRPr lang="en-US" sz="1100" dirty="0"/>
          </a:p>
        </p:txBody>
      </p:sp>
      <p:sp>
        <p:nvSpPr>
          <p:cNvPr id="29" name="Shape 27"/>
          <p:cNvSpPr/>
          <p:nvPr/>
        </p:nvSpPr>
        <p:spPr>
          <a:xfrm>
            <a:off x="6355080" y="2743200"/>
            <a:ext cx="1177747" cy="365760"/>
          </a:xfrm>
          <a:prstGeom prst="roundRect">
            <a:avLst>
              <a:gd name="adj" fmla="val 17500"/>
            </a:avLst>
          </a:prstGeom>
          <a:solidFill>
            <a:srgbClr val="F8FAFC"/>
          </a:solidFill>
          <a:ln w="12700">
            <a:solidFill>
              <a:srgbClr val="E2E8F0"/>
            </a:solidFill>
            <a:prstDash val="solid"/>
          </a:ln>
        </p:spPr>
      </p:sp>
      <p:sp>
        <p:nvSpPr>
          <p:cNvPr id="30" name="Text 28"/>
          <p:cNvSpPr/>
          <p:nvPr/>
        </p:nvSpPr>
        <p:spPr>
          <a:xfrm>
            <a:off x="6355080" y="2743200"/>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Business cards</a:t>
            </a:r>
            <a:endParaRPr lang="en-US" sz="1000" dirty="0"/>
          </a:p>
        </p:txBody>
      </p:sp>
      <p:sp>
        <p:nvSpPr>
          <p:cNvPr id="31" name="Shape 29"/>
          <p:cNvSpPr/>
          <p:nvPr/>
        </p:nvSpPr>
        <p:spPr>
          <a:xfrm>
            <a:off x="7642555" y="2743200"/>
            <a:ext cx="1177747" cy="365760"/>
          </a:xfrm>
          <a:prstGeom prst="roundRect">
            <a:avLst>
              <a:gd name="adj" fmla="val 17500"/>
            </a:avLst>
          </a:prstGeom>
          <a:solidFill>
            <a:srgbClr val="F8FAFC"/>
          </a:solidFill>
          <a:ln w="12700">
            <a:solidFill>
              <a:srgbClr val="E2E8F0"/>
            </a:solidFill>
            <a:prstDash val="solid"/>
          </a:ln>
        </p:spPr>
      </p:sp>
      <p:sp>
        <p:nvSpPr>
          <p:cNvPr id="32" name="Text 30"/>
          <p:cNvSpPr/>
          <p:nvPr/>
        </p:nvSpPr>
        <p:spPr>
          <a:xfrm>
            <a:off x="7642555" y="2743200"/>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Phone contacts</a:t>
            </a:r>
            <a:endParaRPr lang="en-US" sz="1000" dirty="0"/>
          </a:p>
        </p:txBody>
      </p:sp>
      <p:sp>
        <p:nvSpPr>
          <p:cNvPr id="33" name="Shape 31"/>
          <p:cNvSpPr/>
          <p:nvPr/>
        </p:nvSpPr>
        <p:spPr>
          <a:xfrm>
            <a:off x="6355080" y="3218688"/>
            <a:ext cx="782726" cy="365760"/>
          </a:xfrm>
          <a:prstGeom prst="roundRect">
            <a:avLst>
              <a:gd name="adj" fmla="val 17500"/>
            </a:avLst>
          </a:prstGeom>
          <a:solidFill>
            <a:srgbClr val="F8FAFC"/>
          </a:solidFill>
          <a:ln w="12700">
            <a:solidFill>
              <a:srgbClr val="E2E8F0"/>
            </a:solidFill>
            <a:prstDash val="solid"/>
          </a:ln>
        </p:spPr>
      </p:sp>
      <p:sp>
        <p:nvSpPr>
          <p:cNvPr id="34" name="Text 32"/>
          <p:cNvSpPr/>
          <p:nvPr/>
        </p:nvSpPr>
        <p:spPr>
          <a:xfrm>
            <a:off x="6355080" y="3218688"/>
            <a:ext cx="782726"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WhatsApp</a:t>
            </a:r>
            <a:endParaRPr lang="en-US" sz="1000" dirty="0"/>
          </a:p>
        </p:txBody>
      </p:sp>
      <p:sp>
        <p:nvSpPr>
          <p:cNvPr id="35" name="Shape 33"/>
          <p:cNvSpPr/>
          <p:nvPr/>
        </p:nvSpPr>
        <p:spPr>
          <a:xfrm>
            <a:off x="7247534" y="3218688"/>
            <a:ext cx="1177747" cy="365760"/>
          </a:xfrm>
          <a:prstGeom prst="roundRect">
            <a:avLst>
              <a:gd name="adj" fmla="val 17500"/>
            </a:avLst>
          </a:prstGeom>
          <a:solidFill>
            <a:srgbClr val="F8FAFC"/>
          </a:solidFill>
          <a:ln w="12700">
            <a:solidFill>
              <a:srgbClr val="E2E8F0"/>
            </a:solidFill>
            <a:prstDash val="solid"/>
          </a:ln>
        </p:spPr>
      </p:sp>
      <p:sp>
        <p:nvSpPr>
          <p:cNvPr id="36" name="Text 34"/>
          <p:cNvSpPr/>
          <p:nvPr/>
        </p:nvSpPr>
        <p:spPr>
          <a:xfrm>
            <a:off x="7247534" y="3218688"/>
            <a:ext cx="1177747"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Notebook notes</a:t>
            </a:r>
            <a:endParaRPr lang="en-US" sz="1000" dirty="0"/>
          </a:p>
        </p:txBody>
      </p:sp>
      <p:sp>
        <p:nvSpPr>
          <p:cNvPr id="37" name="Shape 35"/>
          <p:cNvSpPr/>
          <p:nvPr/>
        </p:nvSpPr>
        <p:spPr>
          <a:xfrm>
            <a:off x="6355080" y="3694176"/>
            <a:ext cx="651053" cy="365760"/>
          </a:xfrm>
          <a:prstGeom prst="roundRect">
            <a:avLst>
              <a:gd name="adj" fmla="val 17500"/>
            </a:avLst>
          </a:prstGeom>
          <a:solidFill>
            <a:srgbClr val="F8FAFC"/>
          </a:solidFill>
          <a:ln w="12700">
            <a:solidFill>
              <a:srgbClr val="E2E8F0"/>
            </a:solidFill>
            <a:prstDash val="solid"/>
          </a:ln>
        </p:spPr>
      </p:sp>
      <p:sp>
        <p:nvSpPr>
          <p:cNvPr id="38" name="Text 36"/>
          <p:cNvSpPr/>
          <p:nvPr/>
        </p:nvSpPr>
        <p:spPr>
          <a:xfrm>
            <a:off x="6355080" y="3694176"/>
            <a:ext cx="651053"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Photos</a:t>
            </a:r>
            <a:endParaRPr lang="en-US" sz="1000" dirty="0"/>
          </a:p>
        </p:txBody>
      </p:sp>
      <p:sp>
        <p:nvSpPr>
          <p:cNvPr id="39" name="Shape 37"/>
          <p:cNvSpPr/>
          <p:nvPr/>
        </p:nvSpPr>
        <p:spPr>
          <a:xfrm>
            <a:off x="7115861" y="3694176"/>
            <a:ext cx="1046074" cy="365760"/>
          </a:xfrm>
          <a:prstGeom prst="roundRect">
            <a:avLst>
              <a:gd name="adj" fmla="val 17500"/>
            </a:avLst>
          </a:prstGeom>
          <a:solidFill>
            <a:srgbClr val="F8FAFC"/>
          </a:solidFill>
          <a:ln w="12700">
            <a:solidFill>
              <a:srgbClr val="E2E8F0"/>
            </a:solidFill>
            <a:prstDash val="solid"/>
          </a:ln>
        </p:spPr>
      </p:sp>
      <p:sp>
        <p:nvSpPr>
          <p:cNvPr id="40" name="Text 38"/>
          <p:cNvSpPr/>
          <p:nvPr/>
        </p:nvSpPr>
        <p:spPr>
          <a:xfrm>
            <a:off x="7115861" y="3694176"/>
            <a:ext cx="1046074"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Spreadsheets</a:t>
            </a:r>
            <a:endParaRPr lang="en-US" sz="1000" dirty="0"/>
          </a:p>
        </p:txBody>
      </p:sp>
      <p:sp>
        <p:nvSpPr>
          <p:cNvPr id="41" name="Shape 39"/>
          <p:cNvSpPr/>
          <p:nvPr/>
        </p:nvSpPr>
        <p:spPr>
          <a:xfrm>
            <a:off x="8271662" y="3694176"/>
            <a:ext cx="651053" cy="365760"/>
          </a:xfrm>
          <a:prstGeom prst="roundRect">
            <a:avLst>
              <a:gd name="adj" fmla="val 17500"/>
            </a:avLst>
          </a:prstGeom>
          <a:solidFill>
            <a:srgbClr val="F8FAFC"/>
          </a:solidFill>
          <a:ln w="12700">
            <a:solidFill>
              <a:srgbClr val="E2E8F0"/>
            </a:solidFill>
            <a:prstDash val="solid"/>
          </a:ln>
        </p:spPr>
      </p:sp>
      <p:sp>
        <p:nvSpPr>
          <p:cNvPr id="42" name="Text 40"/>
          <p:cNvSpPr/>
          <p:nvPr/>
        </p:nvSpPr>
        <p:spPr>
          <a:xfrm>
            <a:off x="8271662" y="3694176"/>
            <a:ext cx="651053"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Memory</a:t>
            </a:r>
            <a:endParaRPr lang="en-US" sz="1000" dirty="0"/>
          </a:p>
        </p:txBody>
      </p:sp>
      <p:sp>
        <p:nvSpPr>
          <p:cNvPr id="43" name="Shape 41"/>
          <p:cNvSpPr/>
          <p:nvPr/>
        </p:nvSpPr>
        <p:spPr>
          <a:xfrm>
            <a:off x="6355080" y="4169664"/>
            <a:ext cx="1770278" cy="365760"/>
          </a:xfrm>
          <a:prstGeom prst="roundRect">
            <a:avLst>
              <a:gd name="adj" fmla="val 17500"/>
            </a:avLst>
          </a:prstGeom>
          <a:solidFill>
            <a:srgbClr val="F8FAFC"/>
          </a:solidFill>
          <a:ln w="12700">
            <a:solidFill>
              <a:srgbClr val="E2E8F0"/>
            </a:solidFill>
            <a:prstDash val="solid"/>
          </a:ln>
        </p:spPr>
      </p:sp>
      <p:sp>
        <p:nvSpPr>
          <p:cNvPr id="44" name="Text 42"/>
          <p:cNvSpPr/>
          <p:nvPr/>
        </p:nvSpPr>
        <p:spPr>
          <a:xfrm>
            <a:off x="6355080" y="4169664"/>
            <a:ext cx="1770278" cy="36576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Unstructured follow-ups</a:t>
            </a:r>
            <a:endParaRPr lang="en-US" sz="1000" dirty="0"/>
          </a:p>
        </p:txBody>
      </p:sp>
      <p:sp>
        <p:nvSpPr>
          <p:cNvPr id="45" name="Text 43"/>
          <p:cNvSpPr/>
          <p:nvPr/>
        </p:nvSpPr>
        <p:spPr>
          <a:xfrm>
            <a:off x="9174175" y="3108960"/>
            <a:ext cx="457200" cy="640080"/>
          </a:xfrm>
          <a:prstGeom prst="rect">
            <a:avLst/>
          </a:prstGeom>
          <a:noFill/>
          <a:ln/>
        </p:spPr>
        <p:txBody>
          <a:bodyPr wrap="square" lIns="0" tIns="0" rIns="0" bIns="0" rtlCol="0" anchor="ctr"/>
          <a:lstStyle/>
          <a:p>
            <a:pPr algn="ctr" indent="0" marL="0">
              <a:buNone/>
            </a:pPr>
            <a:r>
              <a:rPr lang="en-US" sz="3400" b="1" dirty="0">
                <a:solidFill>
                  <a:srgbClr val="CBD5E1"/>
                </a:solidFill>
                <a:latin typeface="Calibri" pitchFamily="34" charset="0"/>
                <a:ea typeface="Calibri" pitchFamily="34" charset="-122"/>
                <a:cs typeface="Calibri" pitchFamily="34" charset="-120"/>
              </a:rPr>
              <a:t>›</a:t>
            </a:r>
            <a:endParaRPr lang="en-US" sz="3400" dirty="0"/>
          </a:p>
        </p:txBody>
      </p:sp>
      <p:sp>
        <p:nvSpPr>
          <p:cNvPr id="46" name="Shape 44"/>
          <p:cNvSpPr/>
          <p:nvPr/>
        </p:nvSpPr>
        <p:spPr>
          <a:xfrm>
            <a:off x="9631375" y="2880360"/>
            <a:ext cx="2057400" cy="1188720"/>
          </a:xfrm>
          <a:prstGeom prst="roundRect">
            <a:avLst>
              <a:gd name="adj" fmla="val 9231"/>
            </a:avLst>
          </a:prstGeom>
          <a:solidFill>
            <a:srgbClr val="059669"/>
          </a:solidFill>
          <a:ln/>
          <a:effectLst>
            <a:outerShdw sx="100000" sy="100000" kx="0" ky="0" algn="bl" rotWithShape="0" blurRad="127000" dist="38100" dir="5400000">
              <a:srgbClr val="10B981">
                <a:alpha val="35000"/>
              </a:srgbClr>
            </a:outerShdw>
          </a:effectLst>
        </p:spPr>
      </p:sp>
      <p:sp>
        <p:nvSpPr>
          <p:cNvPr id="47" name="Text 45"/>
          <p:cNvSpPr/>
          <p:nvPr/>
        </p:nvSpPr>
        <p:spPr>
          <a:xfrm>
            <a:off x="9631375" y="2880360"/>
            <a:ext cx="2057400" cy="118872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One exhibition</a:t>
            </a:r>
            <a:endParaRPr lang="en-US" sz="1400" dirty="0"/>
          </a:p>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workspace</a:t>
            </a:r>
            <a:endParaRPr lang="en-US" sz="1400" dirty="0"/>
          </a:p>
          <a:p>
            <a:pPr algn="ctr" indent="0" marL="0">
              <a:lnSpc>
                <a:spcPct val="100000"/>
              </a:lnSpc>
              <a:buNone/>
            </a:pPr>
            <a:r>
              <a:rPr lang="en-US" sz="1000" dirty="0">
                <a:solidFill>
                  <a:srgbClr val="D1FAE5"/>
                </a:solidFill>
                <a:latin typeface="Calibri" pitchFamily="34" charset="0"/>
                <a:ea typeface="Calibri" pitchFamily="34" charset="-122"/>
                <a:cs typeface="Calibri" pitchFamily="34" charset="-120"/>
              </a:rPr>
              <a:t>structured &amp; searchable</a:t>
            </a:r>
            <a:endParaRPr lang="en-US" sz="1400" dirty="0"/>
          </a:p>
        </p:txBody>
      </p:sp>
      <p:sp>
        <p:nvSpPr>
          <p:cNvPr id="48" name="Shape 46"/>
          <p:cNvSpPr/>
          <p:nvPr/>
        </p:nvSpPr>
        <p:spPr>
          <a:xfrm>
            <a:off x="6355080" y="4892040"/>
            <a:ext cx="5333695" cy="1234440"/>
          </a:xfrm>
          <a:prstGeom prst="roundRect">
            <a:avLst>
              <a:gd name="adj" fmla="val 7407"/>
            </a:avLst>
          </a:prstGeom>
          <a:solidFill>
            <a:srgbClr val="F8FAFC"/>
          </a:solidFill>
          <a:ln w="12700">
            <a:solidFill>
              <a:srgbClr val="E2E8F0"/>
            </a:solidFill>
            <a:prstDash val="solid"/>
          </a:ln>
        </p:spPr>
      </p:sp>
      <p:sp>
        <p:nvSpPr>
          <p:cNvPr id="49" name="Text 47"/>
          <p:cNvSpPr/>
          <p:nvPr/>
        </p:nvSpPr>
        <p:spPr>
          <a:xfrm>
            <a:off x="6629400" y="4892040"/>
            <a:ext cx="4785055" cy="1234440"/>
          </a:xfrm>
          <a:prstGeom prst="rect">
            <a:avLst/>
          </a:prstGeom>
          <a:noFill/>
          <a:ln/>
        </p:spPr>
        <p:txBody>
          <a:bodyPr wrap="square" lIns="0" tIns="0" rIns="0" bIns="0" rtlCol="0" anchor="ctr"/>
          <a:lstStyle/>
          <a:p>
            <a:pPr algn="l" indent="0" marL="0">
              <a:lnSpc>
                <a:spcPct val="120000"/>
              </a:lnSpc>
              <a:buNone/>
            </a:pPr>
            <a:r>
              <a:rPr lang="en-US" sz="1400" dirty="0">
                <a:solidFill>
                  <a:srgbClr val="475569"/>
                </a:solidFill>
                <a:latin typeface="Calibri" pitchFamily="34" charset="0"/>
                <a:ea typeface="Calibri" pitchFamily="34" charset="-122"/>
                <a:cs typeface="Calibri" pitchFamily="34" charset="-120"/>
              </a:rPr>
              <a:t>The real problem is not your CRM. </a:t>
            </a:r>
            <a:pPr algn="l" indent="0" marL="0">
              <a:lnSpc>
                <a:spcPct val="120000"/>
              </a:lnSpc>
              <a:buNone/>
            </a:pPr>
            <a:r>
              <a:rPr lang="en-US" sz="1400" b="1" dirty="0">
                <a:solidFill>
                  <a:srgbClr val="0F172A"/>
                </a:solidFill>
                <a:latin typeface="Calibri" pitchFamily="34" charset="0"/>
                <a:ea typeface="Calibri" pitchFamily="34" charset="-122"/>
                <a:cs typeface="Calibri" pitchFamily="34" charset="-120"/>
              </a:rPr>
              <a:t>It is fragmented exhibition execution,</a:t>
            </a:r>
            <a:pPr algn="l" indent="0" marL="0">
              <a:lnSpc>
                <a:spcPct val="120000"/>
              </a:lnSpc>
              <a:buNone/>
            </a:pPr>
            <a:r>
              <a:rPr lang="en-US" sz="1400" dirty="0">
                <a:solidFill>
                  <a:srgbClr val="475569"/>
                </a:solidFill>
                <a:latin typeface="Calibri" pitchFamily="34" charset="0"/>
                <a:ea typeface="Calibri" pitchFamily="34" charset="-122"/>
                <a:cs typeface="Calibri" pitchFamily="34" charset="-120"/>
              </a:rPr>
              <a:t> brought into one place.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11480"/>
            <a:ext cx="100584" cy="100584"/>
          </a:xfrm>
          <a:prstGeom prst="roundRect">
            <a:avLst>
              <a:gd name="adj" fmla="val 18182"/>
            </a:avLst>
          </a:prstGeom>
          <a:solidFill>
            <a:srgbClr val="FFFFFF"/>
          </a:solidFill>
          <a:ln w="16510">
            <a:solidFill>
              <a:srgbClr val="0F172A"/>
            </a:solidFill>
            <a:prstDash val="solid"/>
          </a:ln>
        </p:spPr>
      </p:sp>
      <p:sp>
        <p:nvSpPr>
          <p:cNvPr id="3" name="Shape 1"/>
          <p:cNvSpPr/>
          <p:nvPr/>
        </p:nvSpPr>
        <p:spPr>
          <a:xfrm>
            <a:off x="644652" y="411480"/>
            <a:ext cx="100584" cy="100584"/>
          </a:xfrm>
          <a:prstGeom prst="roundRect">
            <a:avLst>
              <a:gd name="adj" fmla="val 18182"/>
            </a:avLst>
          </a:prstGeom>
          <a:solidFill>
            <a:srgbClr val="FFFFFF"/>
          </a:solidFill>
          <a:ln w="16510">
            <a:solidFill>
              <a:srgbClr val="0F172A"/>
            </a:solidFill>
            <a:prstDash val="solid"/>
          </a:ln>
        </p:spPr>
      </p:sp>
      <p:sp>
        <p:nvSpPr>
          <p:cNvPr id="4" name="Shape 2"/>
          <p:cNvSpPr/>
          <p:nvPr/>
        </p:nvSpPr>
        <p:spPr>
          <a:xfrm>
            <a:off x="502920" y="553212"/>
            <a:ext cx="100584" cy="100584"/>
          </a:xfrm>
          <a:prstGeom prst="roundRect">
            <a:avLst>
              <a:gd name="adj" fmla="val 18182"/>
            </a:avLst>
          </a:prstGeom>
          <a:solidFill>
            <a:srgbClr val="FFFFFF"/>
          </a:solidFill>
          <a:ln w="16510">
            <a:solidFill>
              <a:srgbClr val="0F172A"/>
            </a:solidFill>
            <a:prstDash val="solid"/>
          </a:ln>
        </p:spPr>
      </p:sp>
      <p:sp>
        <p:nvSpPr>
          <p:cNvPr id="5" name="Shape 3"/>
          <p:cNvSpPr/>
          <p:nvPr/>
        </p:nvSpPr>
        <p:spPr>
          <a:xfrm>
            <a:off x="644652" y="55321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365760"/>
            <a:ext cx="2011680" cy="329184"/>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051560"/>
            <a:ext cx="8229600" cy="274320"/>
          </a:xfrm>
          <a:prstGeom prst="rect">
            <a:avLst/>
          </a:prstGeom>
          <a:noFill/>
          <a:ln/>
        </p:spPr>
        <p:txBody>
          <a:bodyPr wrap="square" lIns="0" tIns="0" rIns="0" bIns="0" rtlCol="0" anchor="ctr"/>
          <a:lstStyle/>
          <a:p>
            <a:pPr algn="l" indent="0" marL="0">
              <a:buNone/>
            </a:pPr>
            <a:r>
              <a:rPr lang="en-US" sz="1100" b="1" spc="220" kern="0" dirty="0">
                <a:solidFill>
                  <a:srgbClr val="059669"/>
                </a:solidFill>
                <a:latin typeface="Calibri" pitchFamily="34" charset="0"/>
                <a:ea typeface="Calibri" pitchFamily="34" charset="-122"/>
                <a:cs typeface="Calibri" pitchFamily="34" charset="-120"/>
              </a:rPr>
              <a:t>THE LONG-TERM VALUE</a:t>
            </a:r>
            <a:endParaRPr lang="en-US" sz="1100" dirty="0"/>
          </a:p>
        </p:txBody>
      </p:sp>
      <p:sp>
        <p:nvSpPr>
          <p:cNvPr id="8" name="Text 6"/>
          <p:cNvSpPr/>
          <p:nvPr/>
        </p:nvSpPr>
        <p:spPr>
          <a:xfrm>
            <a:off x="502920" y="1325880"/>
            <a:ext cx="10972800" cy="502920"/>
          </a:xfrm>
          <a:prstGeom prst="rect">
            <a:avLst/>
          </a:prstGeom>
          <a:noFill/>
          <a:ln/>
        </p:spPr>
        <p:txBody>
          <a:bodyPr wrap="square" lIns="0" tIns="0" rIns="0" bIns="0" rtlCol="0" anchor="t"/>
          <a:lstStyle/>
          <a:p>
            <a:pPr algn="l" indent="0" marL="0">
              <a:buNone/>
            </a:pPr>
            <a:r>
              <a:rPr lang="en-US" sz="2600" b="1" dirty="0">
                <a:solidFill>
                  <a:srgbClr val="0F172A"/>
                </a:solidFill>
                <a:latin typeface="Calibri" pitchFamily="34" charset="0"/>
                <a:ea typeface="Calibri" pitchFamily="34" charset="-122"/>
                <a:cs typeface="Calibri" pitchFamily="34" charset="-120"/>
              </a:rPr>
              <a:t>Not a business-card scanner. </a:t>
            </a:r>
            <a:pPr algn="l" indent="0" marL="0">
              <a:buNone/>
            </a:pPr>
            <a:r>
              <a:rPr lang="en-US" sz="2600" b="1" dirty="0">
                <a:solidFill>
                  <a:srgbClr val="059669"/>
                </a:solidFill>
                <a:latin typeface="Calibri" pitchFamily="34" charset="0"/>
                <a:ea typeface="Calibri" pitchFamily="34" charset="-122"/>
                <a:cs typeface="Calibri" pitchFamily="34" charset="-120"/>
              </a:rPr>
              <a:t>An Exhibition Intelligence Workspace.</a:t>
            </a:r>
            <a:endParaRPr lang="en-US" sz="2600" dirty="0"/>
          </a:p>
        </p:txBody>
      </p:sp>
      <p:sp>
        <p:nvSpPr>
          <p:cNvPr id="9" name="Text 7"/>
          <p:cNvSpPr/>
          <p:nvPr/>
        </p:nvSpPr>
        <p:spPr>
          <a:xfrm>
            <a:off x="502920" y="1920240"/>
            <a:ext cx="10515600" cy="457200"/>
          </a:xfrm>
          <a:prstGeom prst="rect">
            <a:avLst/>
          </a:prstGeom>
          <a:noFill/>
          <a:ln/>
        </p:spPr>
        <p:txBody>
          <a:bodyPr wrap="square" lIns="0" tIns="0" rIns="0" bIns="0" rtlCol="0" anchor="t"/>
          <a:lstStyle/>
          <a:p>
            <a:pPr algn="l" indent="0" marL="0">
              <a:buNone/>
            </a:pPr>
            <a:r>
              <a:rPr lang="en-US" sz="1300" dirty="0">
                <a:solidFill>
                  <a:srgbClr val="64748B"/>
                </a:solidFill>
                <a:latin typeface="Calibri" pitchFamily="34" charset="0"/>
                <a:ea typeface="Calibri" pitchFamily="34" charset="-122"/>
                <a:cs typeface="Calibri" pitchFamily="34" charset="-120"/>
              </a:rPr>
              <a:t>The value is turning exhibition activity into structured commercial intelligence, and helping management understand the performance of the show itself.</a:t>
            </a:r>
            <a:endParaRPr lang="en-US" sz="1300" dirty="0"/>
          </a:p>
        </p:txBody>
      </p:sp>
      <p:sp>
        <p:nvSpPr>
          <p:cNvPr id="10" name="Shape 8"/>
          <p:cNvSpPr/>
          <p:nvPr/>
        </p:nvSpPr>
        <p:spPr>
          <a:xfrm>
            <a:off x="502920" y="2606040"/>
            <a:ext cx="2625014" cy="3291840"/>
          </a:xfrm>
          <a:prstGeom prst="roundRect">
            <a:avLst>
              <a:gd name="adj" fmla="val 3135"/>
            </a:avLst>
          </a:prstGeom>
          <a:solidFill>
            <a:srgbClr val="F8FAFC"/>
          </a:solidFill>
          <a:ln w="15240">
            <a:solidFill>
              <a:srgbClr val="E2E8F0"/>
            </a:solidFill>
            <a:prstDash val="solid"/>
          </a:ln>
        </p:spPr>
      </p:sp>
      <p:sp>
        <p:nvSpPr>
          <p:cNvPr id="11" name="Shape 9"/>
          <p:cNvSpPr/>
          <p:nvPr/>
        </p:nvSpPr>
        <p:spPr>
          <a:xfrm>
            <a:off x="758952" y="2898648"/>
            <a:ext cx="128016" cy="128016"/>
          </a:xfrm>
          <a:prstGeom prst="roundRect">
            <a:avLst>
              <a:gd name="adj" fmla="val 50000"/>
            </a:avLst>
          </a:prstGeom>
          <a:solidFill>
            <a:srgbClr val="10B981"/>
          </a:solidFill>
          <a:ln/>
        </p:spPr>
      </p:sp>
      <p:sp>
        <p:nvSpPr>
          <p:cNvPr id="12" name="Text 10"/>
          <p:cNvSpPr/>
          <p:nvPr/>
        </p:nvSpPr>
        <p:spPr>
          <a:xfrm>
            <a:off x="960120"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BEFORE</a:t>
            </a:r>
            <a:endParaRPr lang="en-US" sz="1300" dirty="0"/>
          </a:p>
        </p:txBody>
      </p:sp>
      <p:sp>
        <p:nvSpPr>
          <p:cNvPr id="13" name="Text 11"/>
          <p:cNvSpPr/>
          <p:nvPr/>
        </p:nvSpPr>
        <p:spPr>
          <a:xfrm>
            <a:off x="758952"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are our objectives?</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are our targets?</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companies and booths matter?</a:t>
            </a:r>
            <a:endParaRPr lang="en-US" sz="1100" dirty="0"/>
          </a:p>
        </p:txBody>
      </p:sp>
      <p:sp>
        <p:nvSpPr>
          <p:cNvPr id="14" name="Shape 12"/>
          <p:cNvSpPr/>
          <p:nvPr/>
        </p:nvSpPr>
        <p:spPr>
          <a:xfrm>
            <a:off x="3356534" y="2606040"/>
            <a:ext cx="2625014" cy="3291840"/>
          </a:xfrm>
          <a:prstGeom prst="roundRect">
            <a:avLst>
              <a:gd name="adj" fmla="val 3135"/>
            </a:avLst>
          </a:prstGeom>
          <a:solidFill>
            <a:srgbClr val="F8FAFC"/>
          </a:solidFill>
          <a:ln w="15240">
            <a:solidFill>
              <a:srgbClr val="E2E8F0"/>
            </a:solidFill>
            <a:prstDash val="solid"/>
          </a:ln>
        </p:spPr>
      </p:sp>
      <p:sp>
        <p:nvSpPr>
          <p:cNvPr id="15" name="Shape 13"/>
          <p:cNvSpPr/>
          <p:nvPr/>
        </p:nvSpPr>
        <p:spPr>
          <a:xfrm>
            <a:off x="3612566" y="2898648"/>
            <a:ext cx="128016" cy="128016"/>
          </a:xfrm>
          <a:prstGeom prst="roundRect">
            <a:avLst>
              <a:gd name="adj" fmla="val 50000"/>
            </a:avLst>
          </a:prstGeom>
          <a:solidFill>
            <a:srgbClr val="10B981"/>
          </a:solidFill>
          <a:ln/>
        </p:spPr>
      </p:sp>
      <p:sp>
        <p:nvSpPr>
          <p:cNvPr id="16" name="Text 14"/>
          <p:cNvSpPr/>
          <p:nvPr/>
        </p:nvSpPr>
        <p:spPr>
          <a:xfrm>
            <a:off x="3813734"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DURING</a:t>
            </a:r>
            <a:endParaRPr lang="en-US" sz="1300" dirty="0"/>
          </a:p>
        </p:txBody>
      </p:sp>
      <p:sp>
        <p:nvSpPr>
          <p:cNvPr id="17" name="Text 15"/>
          <p:cNvSpPr/>
          <p:nvPr/>
        </p:nvSpPr>
        <p:spPr>
          <a:xfrm>
            <a:off x="3612566"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has the team met?</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opportunities are emerging?</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is high priority?</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commitments were made?</a:t>
            </a:r>
            <a:endParaRPr lang="en-US" sz="1100" dirty="0"/>
          </a:p>
        </p:txBody>
      </p:sp>
      <p:sp>
        <p:nvSpPr>
          <p:cNvPr id="18" name="Shape 16"/>
          <p:cNvSpPr/>
          <p:nvPr/>
        </p:nvSpPr>
        <p:spPr>
          <a:xfrm>
            <a:off x="6210148" y="2606040"/>
            <a:ext cx="2625014" cy="3291840"/>
          </a:xfrm>
          <a:prstGeom prst="roundRect">
            <a:avLst>
              <a:gd name="adj" fmla="val 3135"/>
            </a:avLst>
          </a:prstGeom>
          <a:solidFill>
            <a:srgbClr val="F8FAFC"/>
          </a:solidFill>
          <a:ln w="15240">
            <a:solidFill>
              <a:srgbClr val="E2E8F0"/>
            </a:solidFill>
            <a:prstDash val="solid"/>
          </a:ln>
        </p:spPr>
      </p:sp>
      <p:sp>
        <p:nvSpPr>
          <p:cNvPr id="19" name="Shape 17"/>
          <p:cNvSpPr/>
          <p:nvPr/>
        </p:nvSpPr>
        <p:spPr>
          <a:xfrm>
            <a:off x="6466180" y="2898648"/>
            <a:ext cx="128016" cy="128016"/>
          </a:xfrm>
          <a:prstGeom prst="roundRect">
            <a:avLst>
              <a:gd name="adj" fmla="val 50000"/>
            </a:avLst>
          </a:prstGeom>
          <a:solidFill>
            <a:srgbClr val="10B981"/>
          </a:solidFill>
          <a:ln/>
        </p:spPr>
      </p:sp>
      <p:sp>
        <p:nvSpPr>
          <p:cNvPr id="20" name="Text 18"/>
          <p:cNvSpPr/>
          <p:nvPr/>
        </p:nvSpPr>
        <p:spPr>
          <a:xfrm>
            <a:off x="6667348"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AFTER</a:t>
            </a:r>
            <a:endParaRPr lang="en-US" sz="1300" dirty="0"/>
          </a:p>
        </p:txBody>
      </p:sp>
      <p:sp>
        <p:nvSpPr>
          <p:cNvPr id="21" name="Text 19"/>
          <p:cNvSpPr/>
          <p:nvPr/>
        </p:nvSpPr>
        <p:spPr>
          <a:xfrm>
            <a:off x="6466180" y="329184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What came out of the show?</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opportunities need action?</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Who owns each follow-up?</a:t>
            </a:r>
            <a:endParaRPr lang="en-US" sz="1100" dirty="0"/>
          </a:p>
          <a:p>
            <a:pPr algn="l" marL="139700" indent="-1397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Which products drew interest?</a:t>
            </a:r>
            <a:endParaRPr lang="en-US" sz="1100" dirty="0"/>
          </a:p>
        </p:txBody>
      </p:sp>
      <p:sp>
        <p:nvSpPr>
          <p:cNvPr id="22" name="Shape 20"/>
          <p:cNvSpPr/>
          <p:nvPr/>
        </p:nvSpPr>
        <p:spPr>
          <a:xfrm>
            <a:off x="9063761" y="2606040"/>
            <a:ext cx="2625014" cy="3291840"/>
          </a:xfrm>
          <a:prstGeom prst="roundRect">
            <a:avLst>
              <a:gd name="adj" fmla="val 3135"/>
            </a:avLst>
          </a:prstGeom>
          <a:solidFill>
            <a:srgbClr val="FFFBEB"/>
          </a:solidFill>
          <a:ln w="15240">
            <a:solidFill>
              <a:srgbClr val="FDE68A"/>
            </a:solidFill>
            <a:prstDash val="solid"/>
          </a:ln>
        </p:spPr>
      </p:sp>
      <p:sp>
        <p:nvSpPr>
          <p:cNvPr id="23" name="Shape 21"/>
          <p:cNvSpPr/>
          <p:nvPr/>
        </p:nvSpPr>
        <p:spPr>
          <a:xfrm>
            <a:off x="9319793" y="2898648"/>
            <a:ext cx="128016" cy="128016"/>
          </a:xfrm>
          <a:prstGeom prst="roundRect">
            <a:avLst>
              <a:gd name="adj" fmla="val 50000"/>
            </a:avLst>
          </a:prstGeom>
          <a:solidFill>
            <a:srgbClr val="F59E0B"/>
          </a:solidFill>
          <a:ln/>
        </p:spPr>
      </p:sp>
      <p:sp>
        <p:nvSpPr>
          <p:cNvPr id="24" name="Text 22"/>
          <p:cNvSpPr/>
          <p:nvPr/>
        </p:nvSpPr>
        <p:spPr>
          <a:xfrm>
            <a:off x="9520961" y="2807208"/>
            <a:ext cx="1984934" cy="274320"/>
          </a:xfrm>
          <a:prstGeom prst="rect">
            <a:avLst/>
          </a:prstGeom>
          <a:noFill/>
          <a:ln/>
        </p:spPr>
        <p:txBody>
          <a:bodyPr wrap="square" lIns="0" tIns="0" rIns="0" bIns="0" rtlCol="0" anchor="ctr"/>
          <a:lstStyle/>
          <a:p>
            <a:pPr algn="l" indent="0" marL="0">
              <a:buNone/>
            </a:pPr>
            <a:r>
              <a:rPr lang="en-US" sz="1300" b="1" spc="60" kern="0" dirty="0">
                <a:solidFill>
                  <a:srgbClr val="0F172A"/>
                </a:solidFill>
                <a:latin typeface="Calibri" pitchFamily="34" charset="0"/>
                <a:ea typeface="Calibri" pitchFamily="34" charset="-122"/>
                <a:cs typeface="Calibri" pitchFamily="34" charset="-120"/>
              </a:rPr>
              <a:t>OVER TIME</a:t>
            </a:r>
            <a:endParaRPr lang="en-US" sz="1300" dirty="0"/>
          </a:p>
        </p:txBody>
      </p:sp>
      <p:sp>
        <p:nvSpPr>
          <p:cNvPr id="25" name="Shape 23"/>
          <p:cNvSpPr/>
          <p:nvPr/>
        </p:nvSpPr>
        <p:spPr>
          <a:xfrm>
            <a:off x="9319793" y="3172968"/>
            <a:ext cx="1051560" cy="237744"/>
          </a:xfrm>
          <a:prstGeom prst="roundRect">
            <a:avLst>
              <a:gd name="adj" fmla="val 30769"/>
            </a:avLst>
          </a:prstGeom>
          <a:solidFill>
            <a:srgbClr val="FFFFFF"/>
          </a:solidFill>
          <a:ln w="12700">
            <a:solidFill>
              <a:srgbClr val="FDE68A"/>
            </a:solidFill>
            <a:prstDash val="solid"/>
          </a:ln>
        </p:spPr>
      </p:sp>
      <p:sp>
        <p:nvSpPr>
          <p:cNvPr id="26" name="Text 24"/>
          <p:cNvSpPr/>
          <p:nvPr/>
        </p:nvSpPr>
        <p:spPr>
          <a:xfrm>
            <a:off x="9319793" y="3172968"/>
            <a:ext cx="1051560" cy="237744"/>
          </a:xfrm>
          <a:prstGeom prst="rect">
            <a:avLst/>
          </a:prstGeom>
          <a:noFill/>
          <a:ln/>
        </p:spPr>
        <p:txBody>
          <a:bodyPr wrap="square" lIns="0" tIns="0" rIns="0" bIns="0" rtlCol="0" anchor="ctr"/>
          <a:lstStyle/>
          <a:p>
            <a:pPr algn="ctr" indent="0" marL="0">
              <a:buNone/>
            </a:pPr>
            <a:r>
              <a:rPr lang="en-US" sz="800" b="1" dirty="0">
                <a:solidFill>
                  <a:srgbClr val="7C5B16"/>
                </a:solidFill>
                <a:latin typeface="Calibri" pitchFamily="34" charset="0"/>
                <a:ea typeface="Calibri" pitchFamily="34" charset="-122"/>
                <a:cs typeface="Calibri" pitchFamily="34" charset="-120"/>
              </a:rPr>
              <a:t>● DIRECTION</a:t>
            </a:r>
            <a:endParaRPr lang="en-US" sz="800" dirty="0"/>
          </a:p>
        </p:txBody>
      </p:sp>
      <p:sp>
        <p:nvSpPr>
          <p:cNvPr id="27" name="Text 25"/>
          <p:cNvSpPr/>
          <p:nvPr/>
        </p:nvSpPr>
        <p:spPr>
          <a:xfrm>
            <a:off x="9319793" y="3566160"/>
            <a:ext cx="2167814" cy="2286000"/>
          </a:xfrm>
          <a:prstGeom prst="rect">
            <a:avLst/>
          </a:prstGeom>
          <a:noFill/>
          <a:ln/>
        </p:spPr>
        <p:txBody>
          <a:bodyPr wrap="square" lIns="0" tIns="0" rIns="0" bIns="0" rtlCol="0" anchor="t"/>
          <a:lstStyle/>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created real opportunities?</a:t>
            </a:r>
            <a:endParaRPr lang="en-US" sz="1100" dirty="0"/>
          </a:p>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led to samples, quotes or orders?</a:t>
            </a:r>
            <a:endParaRPr lang="en-US" sz="1100" dirty="0"/>
          </a:p>
          <a:p>
            <a:pPr algn="l" marL="139700" indent="-139700">
              <a:spcAft>
                <a:spcPts val="700"/>
              </a:spcAft>
              <a:buSzPct val="100000"/>
              <a:buChar char="•"/>
            </a:pPr>
            <a:r>
              <a:rPr lang="en-US" sz="1100" dirty="0">
                <a:solidFill>
                  <a:srgbClr val="92600C"/>
                </a:solidFill>
                <a:latin typeface="Calibri" pitchFamily="34" charset="0"/>
                <a:ea typeface="Calibri" pitchFamily="34" charset="-122"/>
                <a:cs typeface="Calibri" pitchFamily="34" charset="-120"/>
              </a:rPr>
              <a:t>Which shows deserve future investment?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02920" y="457200"/>
            <a:ext cx="100584" cy="100584"/>
          </a:xfrm>
          <a:prstGeom prst="roundRect">
            <a:avLst>
              <a:gd name="adj" fmla="val 18182"/>
            </a:avLst>
          </a:prstGeom>
          <a:solidFill>
            <a:srgbClr val="0F172A"/>
          </a:solidFill>
          <a:ln w="16510">
            <a:solidFill>
              <a:srgbClr val="FFFFFF"/>
            </a:solidFill>
            <a:prstDash val="solid"/>
          </a:ln>
        </p:spPr>
      </p:sp>
      <p:sp>
        <p:nvSpPr>
          <p:cNvPr id="3" name="Shape 1"/>
          <p:cNvSpPr/>
          <p:nvPr/>
        </p:nvSpPr>
        <p:spPr>
          <a:xfrm>
            <a:off x="644652" y="457200"/>
            <a:ext cx="100584" cy="100584"/>
          </a:xfrm>
          <a:prstGeom prst="roundRect">
            <a:avLst>
              <a:gd name="adj" fmla="val 18182"/>
            </a:avLst>
          </a:prstGeom>
          <a:solidFill>
            <a:srgbClr val="0F172A"/>
          </a:solidFill>
          <a:ln w="16510">
            <a:solidFill>
              <a:srgbClr val="FFFFFF"/>
            </a:solidFill>
            <a:prstDash val="solid"/>
          </a:ln>
        </p:spPr>
      </p:sp>
      <p:sp>
        <p:nvSpPr>
          <p:cNvPr id="4" name="Shape 2"/>
          <p:cNvSpPr/>
          <p:nvPr/>
        </p:nvSpPr>
        <p:spPr>
          <a:xfrm>
            <a:off x="502920" y="598932"/>
            <a:ext cx="100584" cy="100584"/>
          </a:xfrm>
          <a:prstGeom prst="roundRect">
            <a:avLst>
              <a:gd name="adj" fmla="val 18182"/>
            </a:avLst>
          </a:prstGeom>
          <a:solidFill>
            <a:srgbClr val="0F172A"/>
          </a:solidFill>
          <a:ln w="16510">
            <a:solidFill>
              <a:srgbClr val="FFFFFF"/>
            </a:solidFill>
            <a:prstDash val="solid"/>
          </a:ln>
        </p:spPr>
      </p:sp>
      <p:sp>
        <p:nvSpPr>
          <p:cNvPr id="5" name="Shape 3"/>
          <p:cNvSpPr/>
          <p:nvPr/>
        </p:nvSpPr>
        <p:spPr>
          <a:xfrm>
            <a:off x="644652" y="598932"/>
            <a:ext cx="100584" cy="100584"/>
          </a:xfrm>
          <a:prstGeom prst="roundRect">
            <a:avLst>
              <a:gd name="adj" fmla="val 18182"/>
            </a:avLst>
          </a:prstGeom>
          <a:solidFill>
            <a:srgbClr val="10B981"/>
          </a:solidFill>
          <a:ln w="16510">
            <a:solidFill>
              <a:srgbClr val="10B981"/>
            </a:solidFill>
            <a:prstDash val="solid"/>
          </a:ln>
        </p:spPr>
      </p:sp>
      <p:sp>
        <p:nvSpPr>
          <p:cNvPr id="6" name="Text 4"/>
          <p:cNvSpPr/>
          <p:nvPr/>
        </p:nvSpPr>
        <p:spPr>
          <a:xfrm>
            <a:off x="886968" y="411480"/>
            <a:ext cx="20116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Expo</a:t>
            </a:r>
            <a:pPr algn="l" indent="0" marL="0">
              <a:buNone/>
            </a:pPr>
            <a:r>
              <a:rPr lang="en-US" sz="1500" b="1" dirty="0">
                <a:solidFill>
                  <a:srgbClr val="10B981"/>
                </a:solidFill>
                <a:latin typeface="Calibri" pitchFamily="34" charset="0"/>
                <a:ea typeface="Calibri" pitchFamily="34" charset="-122"/>
                <a:cs typeface="Calibri" pitchFamily="34" charset="-120"/>
              </a:rPr>
              <a:t>Lead</a:t>
            </a:r>
            <a:pPr algn="l" indent="0" marL="0">
              <a:buNone/>
            </a:pPr>
            <a:r>
              <a:rPr lang="en-US" sz="1500" dirty="0">
                <a:solidFill>
                  <a:srgbClr val="94A3B8"/>
                </a:solidFill>
                <a:latin typeface="Calibri" pitchFamily="34" charset="0"/>
                <a:ea typeface="Calibri" pitchFamily="34" charset="-122"/>
                <a:cs typeface="Calibri" pitchFamily="34" charset="-120"/>
              </a:rPr>
              <a:t> OS</a:t>
            </a:r>
            <a:endParaRPr lang="en-US" sz="1500" dirty="0"/>
          </a:p>
        </p:txBody>
      </p:sp>
      <p:sp>
        <p:nvSpPr>
          <p:cNvPr id="7" name="Text 5"/>
          <p:cNvSpPr/>
          <p:nvPr/>
        </p:nvSpPr>
        <p:spPr>
          <a:xfrm>
            <a:off x="502920" y="1737360"/>
            <a:ext cx="10972800" cy="1463040"/>
          </a:xfrm>
          <a:prstGeom prst="rect">
            <a:avLst/>
          </a:prstGeom>
          <a:noFill/>
          <a:ln/>
        </p:spPr>
        <p:txBody>
          <a:bodyPr wrap="square" lIns="0" tIns="0" rIns="0" bIns="0" rtlCol="0" anchor="t"/>
          <a:lstStyle/>
          <a:p>
            <a:pPr algn="l" indent="0" marL="0">
              <a:lnSpc>
                <a:spcPct val="103000"/>
              </a:lnSpc>
              <a:buNone/>
            </a:pPr>
            <a:r>
              <a:rPr lang="en-US" sz="3600" b="1" dirty="0">
                <a:solidFill>
                  <a:srgbClr val="FFFFFF"/>
                </a:solidFill>
                <a:latin typeface="Calibri" pitchFamily="34" charset="0"/>
                <a:ea typeface="Calibri" pitchFamily="34" charset="-122"/>
                <a:cs typeface="Calibri" pitchFamily="34" charset="-120"/>
              </a:rPr>
              <a:t>ExpoLead doesn’t replace your CRM.</a:t>
            </a:r>
            <a:endParaRPr lang="en-US" sz="3600" dirty="0"/>
          </a:p>
          <a:p>
            <a:pPr algn="l" indent="0" marL="0">
              <a:lnSpc>
                <a:spcPct val="103000"/>
              </a:lnSpc>
              <a:buNone/>
            </a:pPr>
            <a:r>
              <a:rPr lang="en-US" sz="3600" b="1" dirty="0">
                <a:solidFill>
                  <a:srgbClr val="34D399"/>
                </a:solidFill>
                <a:latin typeface="Calibri" pitchFamily="34" charset="0"/>
                <a:ea typeface="Calibri" pitchFamily="34" charset="-122"/>
                <a:cs typeface="Calibri" pitchFamily="34" charset="-120"/>
              </a:rPr>
              <a:t>It owns the exhibition layer.</a:t>
            </a:r>
            <a:endParaRPr lang="en-US" sz="3600" dirty="0"/>
          </a:p>
        </p:txBody>
      </p:sp>
      <p:sp>
        <p:nvSpPr>
          <p:cNvPr id="8" name="Text 6"/>
          <p:cNvSpPr/>
          <p:nvPr/>
        </p:nvSpPr>
        <p:spPr>
          <a:xfrm>
            <a:off x="502920" y="3200400"/>
            <a:ext cx="7772400" cy="548640"/>
          </a:xfrm>
          <a:prstGeom prst="rect">
            <a:avLst/>
          </a:prstGeom>
          <a:noFill/>
          <a:ln/>
        </p:spPr>
        <p:txBody>
          <a:bodyPr wrap="square" lIns="0" tIns="0" rIns="0" bIns="0" rtlCol="0" anchor="t"/>
          <a:lstStyle/>
          <a:p>
            <a:pPr algn="l" indent="0" marL="0">
              <a:lnSpc>
                <a:spcPct val="115000"/>
              </a:lnSpc>
              <a:buNone/>
            </a:pPr>
            <a:r>
              <a:rPr lang="en-US" sz="1500" dirty="0">
                <a:solidFill>
                  <a:srgbClr val="CBD5E1"/>
                </a:solidFill>
                <a:latin typeface="Calibri" pitchFamily="34" charset="0"/>
                <a:ea typeface="Calibri" pitchFamily="34" charset="-122"/>
                <a:cs typeface="Calibri" pitchFamily="34" charset="-120"/>
              </a:rPr>
              <a:t>Before, during and immediately after the show. Your CRM keeps the relationship, the pipeline and the revenue.</a:t>
            </a:r>
            <a:endParaRPr lang="en-US" sz="1500" dirty="0"/>
          </a:p>
        </p:txBody>
      </p:sp>
      <p:sp>
        <p:nvSpPr>
          <p:cNvPr id="9" name="Shape 7"/>
          <p:cNvSpPr/>
          <p:nvPr/>
        </p:nvSpPr>
        <p:spPr>
          <a:xfrm>
            <a:off x="502920" y="4023360"/>
            <a:ext cx="11185855" cy="1828800"/>
          </a:xfrm>
          <a:prstGeom prst="roundRect">
            <a:avLst>
              <a:gd name="adj" fmla="val 6000"/>
            </a:avLst>
          </a:prstGeom>
          <a:solidFill>
            <a:srgbClr val="12203A"/>
          </a:solidFill>
          <a:ln w="12700">
            <a:solidFill>
              <a:srgbClr val="334155"/>
            </a:solidFill>
            <a:prstDash val="solid"/>
          </a:ln>
        </p:spPr>
      </p:sp>
      <p:sp>
        <p:nvSpPr>
          <p:cNvPr id="10" name="Text 8"/>
          <p:cNvSpPr/>
          <p:nvPr/>
        </p:nvSpPr>
        <p:spPr>
          <a:xfrm>
            <a:off x="822960" y="4206240"/>
            <a:ext cx="5486400"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alibri" pitchFamily="34" charset="0"/>
                <a:ea typeface="Calibri" pitchFamily="34" charset="-122"/>
                <a:cs typeface="Calibri" pitchFamily="34" charset="-120"/>
              </a:rPr>
              <a:t>ASK YOUR TEAM</a:t>
            </a:r>
            <a:endParaRPr lang="en-US" sz="1100" dirty="0"/>
          </a:p>
        </p:txBody>
      </p:sp>
      <p:sp>
        <p:nvSpPr>
          <p:cNvPr id="11" name="Text 9"/>
          <p:cNvSpPr/>
          <p:nvPr/>
        </p:nvSpPr>
        <p:spPr>
          <a:xfrm>
            <a:off x="822960" y="4572000"/>
            <a:ext cx="10545775" cy="1188720"/>
          </a:xfrm>
          <a:prstGeom prst="rect">
            <a:avLst/>
          </a:prstGeom>
          <a:noFill/>
          <a:ln/>
        </p:spPr>
        <p:txBody>
          <a:bodyPr wrap="square" lIns="0" tIns="0" rIns="0" bIns="0" rtlCol="0" anchor="t"/>
          <a:lstStyle/>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Back from a show with 50 to 100 conversations, how do you manage everything from that specific exhibition?</a:t>
            </a:r>
            <a:endParaRPr lang="en-US" sz="1350" dirty="0"/>
          </a:p>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How do you separate serious opportunities from casual conversations?</a:t>
            </a:r>
            <a:endParaRPr lang="en-US" sz="1350" dirty="0"/>
          </a:p>
          <a:p>
            <a:pPr algn="l" marL="203200" indent="-203200">
              <a:spcAft>
                <a:spcPts val="900"/>
              </a:spcAft>
              <a:buSzPct val="100000"/>
              <a:buChar char="?"/>
            </a:pPr>
            <a:r>
              <a:rPr lang="en-US" sz="1350" dirty="0">
                <a:solidFill>
                  <a:srgbClr val="CBD5E1"/>
                </a:solidFill>
                <a:latin typeface="Calibri" pitchFamily="34" charset="0"/>
                <a:ea typeface="Calibri" pitchFamily="34" charset="-122"/>
                <a:cs typeface="Calibri" pitchFamily="34" charset="-120"/>
              </a:rPr>
              <a:t>Six months on, can you trace a deal back to the exhibition it started at?</a:t>
            </a:r>
            <a:endParaRPr lang="en-US" sz="1350" dirty="0"/>
          </a:p>
        </p:txBody>
      </p:sp>
      <p:sp>
        <p:nvSpPr>
          <p:cNvPr id="12" name="Text 10"/>
          <p:cNvSpPr/>
          <p:nvPr/>
        </p:nvSpPr>
        <p:spPr>
          <a:xfrm>
            <a:off x="502920" y="6126480"/>
            <a:ext cx="10972800" cy="274320"/>
          </a:xfrm>
          <a:prstGeom prst="rect">
            <a:avLst/>
          </a:prstGeom>
          <a:noFill/>
          <a:ln/>
        </p:spPr>
        <p:txBody>
          <a:bodyPr wrap="square" lIns="0" tIns="0" rIns="0" bIns="0" rtlCol="0" anchor="ctr"/>
          <a:lstStyle/>
          <a:p>
            <a:pPr algn="l" indent="0" marL="0">
              <a:buNone/>
            </a:pPr>
            <a:r>
              <a:rPr lang="en-US" sz="1050" b="1" spc="120" kern="0" dirty="0">
                <a:solidFill>
                  <a:srgbClr val="64748B"/>
                </a:solidFill>
                <a:latin typeface="Calibri" pitchFamily="34" charset="0"/>
                <a:ea typeface="Calibri" pitchFamily="34" charset="-122"/>
                <a:cs typeface="Calibri" pitchFamily="34" charset="-120"/>
              </a:rPr>
              <a:t>WORKS ALONGSIDE  ·  SALESFORCE  ·  HUBSPOT  ·  ZOHO  ·  BIGIN  ·  PIPEDRIVE  ·  ODOO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2026-08-07T14:22:46Z</dcterms:created>
  <dcterms:modified xsi:type="dcterms:W3CDTF">2026-08-07T14:22:46Z</dcterms:modified>
</cp:coreProperties>
</file>